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596069"/>
                </a:solidFill>
                <a:latin typeface="Arial"/>
              </a:defRPr>
            </a:pPr>
            <a:r>
              <a:rPr sz="1000" b="0" i="0" u="none" strike="noStrike">
                <a:solidFill>
                  <a:srgbClr val="596069"/>
                </a:solidFill>
                <a:latin typeface="Arial"/>
              </a:rPr>
              <a:t>Outcome trend  ·  goals on track (%)</a:t>
            </a:r>
          </a:p>
        </c:rich>
      </c:tx>
      <c:layout/>
      <c:overlay val="0"/>
    </c:title>
    <c:autoTitleDeleted val="0"/>
    <c:plotArea>
      <c:layout/>
      <c:lineChart>
        <c:varyColors val="0"/>
        <c:ser>
          <c:idx val="0"/>
          <c:order val="0"/>
          <c:tx>
            <c:strRef>
              <c:f>Sheet1!$B$1</c:f>
              <c:strCache>
                <c:ptCount val="1"/>
                <c:pt idx="0">
                  <c:v>Goals on track</c:v>
                </c:pt>
              </c:strCache>
            </c:strRef>
          </c:tx>
          <c:spPr>
            <a:solidFill>
              <a:srgbClr val="DC661F"/>
            </a:solidFill>
            <a:ln w="38100" cap="flat">
              <a:solidFill>
                <a:srgbClr val="DC66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C661F"/>
              </a:solidFill>
              <a:ln w="9525" cap="flat">
                <a:solidFill>
                  <a:srgbClr val="DC661F"/>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79</c:v>
                </c:pt>
                <c:pt idx="1">
                  <c:v>81</c:v>
                </c:pt>
                <c:pt idx="2">
                  <c:v>80</c:v>
                </c:pt>
                <c:pt idx="3">
                  <c:v>84</c:v>
                </c:pt>
                <c:pt idx="4">
                  <c:v>86</c:v>
                </c:pt>
                <c:pt idx="5">
                  <c:v>88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9AA1A9"/>
                </a:solidFill>
                <a:latin typeface="Arial"/>
              </a:defRPr>
            </a:pPr>
            <a:endParaRPr lang="en-US"/>
          </a:p>
        </c:txPr>
        <c:crossAx val="2094734552"/>
        <c:crosses val="autoZero"/>
        <c:auto val="1"/>
        <c:lblAlgn val="ctr"/>
        <c:noMultiLvlLbl val="1"/>
      </c:catAx>
      <c:valAx>
        <c:axId val="2094734552"/>
        <c:scaling>
          <c:orientation val="minMax"/>
          <c:max val="95"/>
          <c:min val="70"/>
        </c:scaling>
        <c:delete val="0"/>
        <c:axPos val="l"/>
        <c:majorGridlines>
          <c:spPr>
            <a:ln w="12700" cap="flat">
              <a:solidFill>
                <a:srgbClr val="E6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A1A9"/>
                </a:solidFill>
                <a:latin typeface="Arial"/>
              </a:defRPr>
            </a:pPr>
            <a:endParaRPr lang="en-US"/>
          </a:p>
        </c:txPr>
        <c:crossAx val="2094734554"/>
        <c:crosses val="autoZero"/>
        <c:crossBetween val="between"/>
        <c:majorUnit val="5"/>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596069"/>
                </a:solidFill>
                <a:latin typeface="Arial"/>
              </a:defRPr>
            </a:pPr>
            <a:r>
              <a:rPr sz="1000" b="0" i="0" u="none" strike="noStrike">
                <a:solidFill>
                  <a:srgbClr val="596069"/>
                </a:solidFill>
                <a:latin typeface="Arial"/>
              </a:rPr>
              <a:t>Goals progressed per quarter (%)</a:t>
            </a:r>
          </a:p>
        </c:rich>
      </c:tx>
      <c:layout/>
      <c:overlay val="0"/>
    </c:title>
    <c:autoTitleDeleted val="0"/>
    <c:plotArea>
      <c:layout/>
      <c:barChart>
        <c:barDir val="col"/>
        <c:grouping val="clustered"/>
        <c:varyColors val="0"/>
        <c:ser>
          <c:idx val="0"/>
          <c:order val="0"/>
          <c:tx>
            <c:strRef>
              <c:f>Sheet1!$B$1</c:f>
              <c:strCache>
                <c:ptCount val="1"/>
                <c:pt idx="0">
                  <c:v>Goals progressed</c:v>
                </c:pt>
              </c:strCache>
            </c:strRef>
          </c:tx>
          <c:spPr>
            <a:solidFill>
              <a:srgbClr val="DC661F"/>
            </a:solidFill>
            <a:effectLst/>
          </c:spPr>
          <c:invertIfNegative val="0"/>
          <c:dLbls>
            <c:numFmt formatCode="#,##0" sourceLinked="0"/>
            <c:txPr>
              <a:bodyPr/>
              <a:lstStyle/>
              <a:p>
                <a:pPr>
                  <a:defRPr b="0" i="0" strike="noStrike" sz="900" u="none">
                    <a:solidFill>
                      <a:srgbClr val="596069"/>
                    </a:solidFill>
                    <a:latin typeface="Arial"/>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64</c:v>
                </c:pt>
                <c:pt idx="1">
                  <c:v>71</c:v>
                </c:pt>
                <c:pt idx="2">
                  <c:v>78</c:v>
                </c:pt>
                <c:pt idx="3">
                  <c:v>85</c:v>
                </c:pt>
              </c:numCache>
            </c:numRef>
          </c:val>
        </c:ser>
        <c:dLbls>
          <c:numFmt formatCode="#,##0" sourceLinked="0"/>
          <c:txPr>
            <a:bodyPr/>
            <a:lstStyle/>
            <a:p>
              <a:pPr>
                <a:defRPr b="0" i="0" strike="noStrike" sz="900" u="none">
                  <a:solidFill>
                    <a:srgbClr val="596069"/>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9AA1A9"/>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calmly. This is not a technology pitch — it is a conversation about care. Frame the whole session around one question we will return to on every slide: how do we give our support workers more time to care? CareOS is the answer we want to explore together — an operating system for care that serves TLC's mission, not the other way around.
Transition: None — hold on the title as people settle, then a single gentle fade into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room in TLC's own story before a single feature. TLC was founded in 2016 and now supports people through 1,100 staff across eight countries — but Dr Zaki has been consistent that the measure of success is lives changed, not scale. His four pillars — quality, people and culture, growth, and diversification — are the lens we will hold CareOS against. If it doesn't strengthen these, it doesn't belong.
Transition: Gentle fade. Let the quote breathe for a beat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reality the board already lives with — no exaggeration needed. These four pressures are structural to the sector, documented in the NDIS Review's final report. The point is not that TLC is failing at any of them; it is that the effort required to stay excellent keeps climbing. That climb is what CareOS is designed to absorb.
Transition: Fade. Cards can appear together — avoid one-by-one animation, it reads as a sales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and financial crux. Deliberately we do not invent a precise percentage — the sector lacks a clean, agreed figure and the board will respect that we didn't manufacture one. What is well documented is the direction: administrative load has grown and it competes directly with face-to-face time. Frame it in Dr Zaki's own terms — this is a dignity cost before it is a dollar cost.
Transition: Cut to dark for weight. A slow fade suits the shift in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from problem to people. This slide signals that CareOS was designed from the worker's chair, not the boardroom. Dr Zaki has publicly argued that care workers should be seen as skilled professionals rather than labour — this is that belief, operationalised. Everything after this slide should be read as answering these four wishes.
Transition: Fade. Warm, conversational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heart. The word 'operating system' is deliberate: not a bolt-on tool that someone has to feed, but the layer everything else runs on. Make the single-source-of-truth point concretely — when a worker records a shift once, it becomes the progress note, the claim line and the compliance evidence at the same time. Nobody re-keys anything. That is the structural difference from every 'we do your admin' product.
Transition: Morph or gentle fade. If presenting live, build the hub first, then the six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tour with the participant, deliberately — CareOS is person-first by construction. The demo profiles Zayd and Idris, two non-speaking children, precisely because the hardest test of a care system is whether it carries a person who cannot self-advocate. Their preferences and goals travel to every worker automatically. That is dignity built into the data model.
Transition: Gentle fade. Let the profile mockup land before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the frontline. The worker's whole interaction is: arrive prepared, be present, speak the note. No end-of-day typing marathon. The voice note becomes a structured progress note automatically — which is where AI quietly does its job without ever touching the care itself. Emphasise: the worker's hands and eyes stay on the person, not the screen.
Transition: Gentle fade. Consider miming the 'hold to record' gesture —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Coordinators are where good intentions meet reality. Their day is often reactive — chasing gaps, fixing rosters, re-keying changes. CareOS shifts them from reactive to proactive: matching is outcome-aware (who fits this participant, not just who's free), and a single change flows through to pay and claims. The red alert is the point — the system surfaces the gap while there's still time to solve it well.
Transition: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directly to Dr Zaki here. His stated measure of success is lives changed, not revenue — so the executive view leads with outcomes, then quality and workforce, with growth as the outcome of doing those well. The number that matters is the goals-on-track trend, not a vanity metric. This is governance-grade visibility: the board can answer the safeguarding question with evidence, at any time.
Transition: Fade. Let the chart draw attention — pause on the trend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trust is a retention and reputation asset, and it's fragile. The default in the sector is a family that finds out how the day went at pickup, if at all. CareOS makes the family a permissioned participant in the circle — wins first, consent-gated, in plain language. Note the 'arrived' message ties back to real-time reassurance. This is dignity extended to families, not just participants.
Transition: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handover moment — the deck has built the why; now the product proves it. Turn the laptop (or hand over an iPad), and invite him to tap 'A Day in the Life' in the bottom corner. He drives; you narrate. Do the journeys in order — parent, worker, then his own view — roughly two minutes each; when one completes, the card offers the next. Every stop shows a small card explaining why that screen matters, so you never have to remember a script. Expand only where he leans in. After the third journey, take the screen back and resume with the capability slides.
Transition: None — physically switch to the browser or device, then return to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time-saver, so slow down here. The 'write once, use everywhere' principle is what removes the double and triple entry that eats worker time. Be precise about the AI boundary: it drafts from the worker's own words, the worker reviews and confirms — the human is always in the loop and always accountable. The three green chips show the same record becoming three outputs at once.
Transition: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is where the sector loses sleep and money. Reframe it: instead of a periodic scramble, evidence accrues automatically because it's a by-product of the care already being recorded. The readiness score is live. Again, hold the AI line — it reminds and surfaces, it never certifies. A registered provider's accountability is never delegated to software, and the board should hear us say that plainly.
Transition: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management is a genuine registration risk — miss the 24-hour window and the consequences are severe. The insight is that the clock starts at first awareness by any worker, so the safest design makes capture and awareness the same moment. Everything downstream — classification, the drafted notification, the audit trail — is assembled from records that already exist. Stress that a human always reviews and submits; the system removes the scramble, not the judgement.
Transition: Fade. This is a serious slide — steady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measured and humble — medication is clinically sensitive and we are not claiming CareOS makes clinical decisions. What it does is reduce cognitive load: surface what's due, make recording effortless, and ensure a miss escalates rather than disappears. The value is fewer errors of omission and a clean, defensible record. Say explicitly: no clinical judgement is automated.
Transition: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Rostering is where continuity of care is won or lost. A participant who sees a familiar, well-matched worker has a better day — and non-speaking participants especially rely on workers who know them. So the match score weights continuity and skills, not just availability. And crucially, the coordinator decides; the system proposes. One change flowing through to pay, claims and the family view is the 'operating system' promise made concrete again.
Transition: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and the one to deliver most slowly. In this sector, AI anxiety is real and legitimate. State the boundary as a principle, not a feature: CareOS never makes a care decision. It only removes the repetitive work around care. Every item on this list is paperwork, not judgement. This directly echoes Dr Zaki's own public view that digital tools should free people to spend more time face-to-face, not less. Invisible AI, human heroes.
Transition: Cut to dark to mark the section. Hold the top line in silence for a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Elevate from operations to strategy. This is where CareOS repays the board specifically — it turns the exhaust of daily care into organisational intelligence that maps directly onto Dr Zaki's growth and diversification pillars. Be careful with the 22% figure: present it as an illustrative pattern of the kind CareOS surfaces, not a published statistic. The strategic message: grow where the evidence says you create the most impact.
Transition: Fade. Let the chart and the insight card carry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to the growth pillar directly. TLC is already a global operation, so scalability isn't hypothetical — it's a live requirement. The key architectural promise: new sites, regions and languages join the same single source of truth rather than spawning new silos. That means growth compounds capability instead of fragmenting it. Keep the figures attributed to the public source.
Transition: Fade. Confident, forward-looking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board, architecture is really a question about risk and longevity. Keep it conceptual — three layers, one principle: complexity is hidden so people never manage the technology. Reassure on the fundamentals directors care about: single source of truth, role-based access, encryption, audit logging, offline capability and cloud sync. Note it's designed to a registered provider's security expectations. Don't oversell technical specifics we'd need to substantiate.
Transition: Fade. This can be brisk — it's a reassurance slide, not a highlight.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De-risk the decision. Boards approve change they can control, so emphasise the staged, evidence-gated path: one pilot site proves time saved and worker experience before any wider commitment. We measure honestly — including whether it actually returns time to care. Nothing scales until the pilot earns it. This respects the intelligence of an experienced board and mirrors how TLC has grown deliberately.
Transition: Fade. Steady, businesslike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 the horizon before the close. The strategic idea is compounding: unlike a tool that delivers the same value every year, a single connected record grows richer with use — for the person, the workforce and the organisation. This is the antidote to knowledge walking out the door when a worker leaves. Tie it back to TLC's mission: better care, sustained across time and growth.
Transition: Slow fade. Begin lowering pace toward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landing. Deliver the two lines slowly and let silence do the work after 'more time to care.' Then bring it home to Dr Zaki personally: this is his own philosophy — technology in service of humanity, dignity preserved in every decision — expressed as an operating system. The ask is not to buy software. It is to give TLC's people more time to do what only they can do.
Transition: Hold. Full stop before advancing to the final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warmth and brevity. Thank the board, restate that CareOS exists to serve TLC's mission of person-centred care, and open the floor. Have the live demo ready at careos-demo.netlify.app if there's appetite to see it in motion after the discussion.
Transition: None — rest on this slide through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G">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2"/>
        </a:solidFill>
      </p:bgPr>
    </p:bg>
    <p:spTree>
      <p:nvGrpSpPr>
        <p:cNvPr id="1" name=""/>
        <p:cNvGrpSpPr/>
        <p:nvPr/>
      </p:nvGrpSpPr>
      <p:grpSpPr>
        <a:xfrm>
          <a:off x="0" y="0"/>
          <a:ext cx="0" cy="0"/>
          <a:chOff x="0" y="0"/>
          <a:chExt cx="0" cy="0"/>
        </a:xfrm>
      </p:grpSpPr>
      <p:sp>
        <p:nvSpPr>
          <p:cNvPr id="2" name="Shape 0"/>
          <p:cNvSpPr/>
          <p:nvPr/>
        </p:nvSpPr>
        <p:spPr>
          <a:xfrm>
            <a:off x="640080" y="2084832"/>
            <a:ext cx="146304" cy="146304"/>
          </a:xfrm>
          <a:prstGeom prst="ellipse">
            <a:avLst/>
          </a:prstGeom>
          <a:solidFill>
            <a:srgbClr val="DC661F"/>
          </a:solidFill>
          <a:ln/>
        </p:spPr>
      </p:sp>
      <p:sp>
        <p:nvSpPr>
          <p:cNvPr id="3" name="Text 1"/>
          <p:cNvSpPr/>
          <p:nvPr/>
        </p:nvSpPr>
        <p:spPr>
          <a:xfrm>
            <a:off x="914400" y="1993392"/>
            <a:ext cx="9144000" cy="320040"/>
          </a:xfrm>
          <a:prstGeom prst="rect">
            <a:avLst/>
          </a:prstGeom>
          <a:noFill/>
          <a:ln/>
        </p:spPr>
        <p:txBody>
          <a:bodyPr wrap="square" lIns="0" tIns="0" rIns="0" bIns="0" rtlCol="0" anchor="ctr"/>
          <a:lstStyle/>
          <a:p>
            <a:pPr indent="0" marL="0">
              <a:buNone/>
            </a:pPr>
            <a:r>
              <a:rPr lang="en-US" sz="1250" b="1" spc="300" kern="0" dirty="0">
                <a:solidFill>
                  <a:srgbClr val="AAB0B7"/>
                </a:solidFill>
                <a:latin typeface="Arial" pitchFamily="34" charset="0"/>
                <a:ea typeface="Arial" pitchFamily="34" charset="-122"/>
                <a:cs typeface="Arial" pitchFamily="34" charset="-120"/>
              </a:rPr>
              <a:t>A VISION FOR THE FUTURE OF DISABILITY SUPPORT</a:t>
            </a:r>
            <a:endParaRPr lang="en-US" sz="1250" dirty="0"/>
          </a:p>
        </p:txBody>
      </p:sp>
      <p:sp>
        <p:nvSpPr>
          <p:cNvPr id="4" name="Text 2"/>
          <p:cNvSpPr/>
          <p:nvPr/>
        </p:nvSpPr>
        <p:spPr>
          <a:xfrm>
            <a:off x="640080" y="2514600"/>
            <a:ext cx="10058400" cy="1371600"/>
          </a:xfrm>
          <a:prstGeom prst="rect">
            <a:avLst/>
          </a:prstGeom>
          <a:noFill/>
          <a:ln/>
        </p:spPr>
        <p:txBody>
          <a:bodyPr wrap="square" lIns="0" tIns="0" rIns="0" bIns="0" rtlCol="0" anchor="ctr"/>
          <a:lstStyle/>
          <a:p>
            <a:pPr indent="0" marL="0">
              <a:buNone/>
            </a:pPr>
            <a:r>
              <a:rPr lang="en-US" sz="9600" b="1" dirty="0">
                <a:solidFill>
                  <a:srgbClr val="FFFFFF"/>
                </a:solidFill>
                <a:latin typeface="Arial" pitchFamily="34" charset="0"/>
                <a:ea typeface="Arial" pitchFamily="34" charset="-122"/>
                <a:cs typeface="Arial" pitchFamily="34" charset="-120"/>
              </a:rPr>
              <a:t>CareOS</a:t>
            </a:r>
            <a:endParaRPr lang="en-US" sz="9600" dirty="0"/>
          </a:p>
        </p:txBody>
      </p:sp>
      <p:sp>
        <p:nvSpPr>
          <p:cNvPr id="5" name="Text 3"/>
          <p:cNvSpPr/>
          <p:nvPr/>
        </p:nvSpPr>
        <p:spPr>
          <a:xfrm>
            <a:off x="640080" y="3977640"/>
            <a:ext cx="10058400" cy="640080"/>
          </a:xfrm>
          <a:prstGeom prst="rect">
            <a:avLst/>
          </a:prstGeom>
          <a:noFill/>
          <a:ln/>
        </p:spPr>
        <p:txBody>
          <a:bodyPr wrap="square" lIns="0" tIns="0" rIns="0" bIns="0" rtlCol="0" anchor="ctr"/>
          <a:lstStyle/>
          <a:p>
            <a:pPr indent="0" marL="0">
              <a:buNone/>
            </a:pPr>
            <a:r>
              <a:rPr lang="en-US" sz="2600" dirty="0">
                <a:solidFill>
                  <a:srgbClr val="D7DBE0"/>
                </a:solidFill>
                <a:latin typeface="Arial" pitchFamily="34" charset="0"/>
                <a:ea typeface="Arial" pitchFamily="34" charset="-122"/>
                <a:cs typeface="Arial" pitchFamily="34" charset="-120"/>
              </a:rPr>
              <a:t>Empowering care through intelligent operations.</a:t>
            </a:r>
            <a:endParaRPr lang="en-US" sz="2600" dirty="0"/>
          </a:p>
        </p:txBody>
      </p:sp>
      <p:sp>
        <p:nvSpPr>
          <p:cNvPr id="6" name="Shape 4"/>
          <p:cNvSpPr/>
          <p:nvPr/>
        </p:nvSpPr>
        <p:spPr>
          <a:xfrm>
            <a:off x="640080" y="5074920"/>
            <a:ext cx="3840480" cy="0"/>
          </a:xfrm>
          <a:prstGeom prst="line">
            <a:avLst/>
          </a:prstGeom>
          <a:noFill/>
          <a:ln w="12700">
            <a:solidFill>
              <a:srgbClr val="3A3F46"/>
            </a:solidFill>
            <a:prstDash val="solid"/>
          </a:ln>
        </p:spPr>
      </p:sp>
      <p:sp>
        <p:nvSpPr>
          <p:cNvPr id="7" name="Text 5"/>
          <p:cNvSpPr/>
          <p:nvPr/>
        </p:nvSpPr>
        <p:spPr>
          <a:xfrm>
            <a:off x="640080" y="5257800"/>
            <a:ext cx="10058400" cy="320040"/>
          </a:xfrm>
          <a:prstGeom prst="rect">
            <a:avLst/>
          </a:prstGeom>
          <a:noFill/>
          <a:ln/>
        </p:spPr>
        <p:txBody>
          <a:bodyPr wrap="square" lIns="0" tIns="0" rIns="0" bIns="0" rtlCol="0" anchor="ctr"/>
          <a:lstStyle/>
          <a:p>
            <a:pPr indent="0" marL="0">
              <a:buNone/>
            </a:pPr>
            <a:r>
              <a:rPr lang="en-US" sz="1400" dirty="0">
                <a:solidFill>
                  <a:srgbClr val="8A9098"/>
                </a:solidFill>
                <a:latin typeface="Arial" pitchFamily="34" charset="0"/>
                <a:ea typeface="Arial" pitchFamily="34" charset="-122"/>
                <a:cs typeface="Arial" pitchFamily="34" charset="-120"/>
              </a:rPr>
              <a:t>Prepared for  </a:t>
            </a:r>
            <a:pPr indent="0" marL="0">
              <a:buNone/>
            </a:pPr>
            <a:r>
              <a:rPr lang="en-US" sz="1400" b="1" dirty="0">
                <a:solidFill>
                  <a:srgbClr val="FFFFFF"/>
                </a:solidFill>
                <a:latin typeface="Arial" pitchFamily="34" charset="0"/>
                <a:ea typeface="Arial" pitchFamily="34" charset="-122"/>
                <a:cs typeface="Arial" pitchFamily="34" charset="-120"/>
              </a:rPr>
              <a:t>Dr Yasser Zaki</a:t>
            </a:r>
            <a:pPr indent="0" marL="0">
              <a:buNone/>
            </a:pPr>
            <a:r>
              <a:rPr lang="en-US" sz="1400" dirty="0">
                <a:solidFill>
                  <a:srgbClr val="8A9098"/>
                </a:solidFill>
                <a:latin typeface="Arial" pitchFamily="34" charset="0"/>
                <a:ea typeface="Arial" pitchFamily="34" charset="-122"/>
                <a:cs typeface="Arial" pitchFamily="34" charset="-120"/>
              </a:rPr>
              <a:t>  ·  Founder &amp; CEO, Tender Loving Care Group</a:t>
            </a:r>
            <a:endParaRPr lang="en-US" sz="1400" dirty="0"/>
          </a:p>
        </p:txBody>
      </p:sp>
      <p:sp>
        <p:nvSpPr>
          <p:cNvPr id="8" name="Text 6"/>
          <p:cNvSpPr/>
          <p:nvPr/>
        </p:nvSpPr>
        <p:spPr>
          <a:xfrm>
            <a:off x="640080" y="5669280"/>
            <a:ext cx="10058400" cy="274320"/>
          </a:xfrm>
          <a:prstGeom prst="rect">
            <a:avLst/>
          </a:prstGeom>
          <a:noFill/>
          <a:ln/>
        </p:spPr>
        <p:txBody>
          <a:bodyPr wrap="square" lIns="0" tIns="0" rIns="0" bIns="0" rtlCol="0" anchor="ctr"/>
          <a:lstStyle/>
          <a:p>
            <a:pPr indent="0" marL="0">
              <a:buNone/>
            </a:pPr>
            <a:r>
              <a:rPr lang="en-US" sz="1150" dirty="0">
                <a:solidFill>
                  <a:srgbClr val="9AA1A9"/>
                </a:solidFill>
                <a:latin typeface="Arial" pitchFamily="34" charset="0"/>
                <a:ea typeface="Arial" pitchFamily="34" charset="-122"/>
                <a:cs typeface="Arial" pitchFamily="34" charset="-120"/>
              </a:rPr>
              <a:t>Board briefing  ·  Confidential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02   </a:t>
            </a:r>
            <a:pPr algn="l" indent="0" marL="0">
              <a:buNone/>
            </a:pPr>
            <a:r>
              <a:rPr lang="en-US" sz="1150" b="1" spc="200" kern="0" dirty="0">
                <a:solidFill>
                  <a:srgbClr val="596069"/>
                </a:solidFill>
                <a:latin typeface="Arial" pitchFamily="34" charset="0"/>
                <a:ea typeface="Arial" pitchFamily="34" charset="-122"/>
                <a:cs typeface="Arial" pitchFamily="34" charset="-120"/>
              </a:rPr>
              <a:t>WHERE WE BEGIN</a:t>
            </a:r>
            <a:endParaRPr lang="en-US" sz="1150" dirty="0"/>
          </a:p>
        </p:txBody>
      </p:sp>
      <p:sp>
        <p:nvSpPr>
          <p:cNvPr id="4" name="Text 2"/>
          <p:cNvSpPr/>
          <p:nvPr/>
        </p:nvSpPr>
        <p:spPr>
          <a:xfrm>
            <a:off x="640080" y="932688"/>
            <a:ext cx="10972800" cy="91440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Care is a human act.</a:t>
            </a:r>
            <a:endParaRPr lang="en-US" sz="3600" dirty="0"/>
          </a:p>
        </p:txBody>
      </p:sp>
      <p:sp>
        <p:nvSpPr>
          <p:cNvPr id="5" name="Text 3"/>
          <p:cNvSpPr/>
          <p:nvPr/>
        </p:nvSpPr>
        <p:spPr>
          <a:xfrm>
            <a:off x="640080" y="1810512"/>
            <a:ext cx="10424160" cy="502920"/>
          </a:xfrm>
          <a:prstGeom prst="rect">
            <a:avLst/>
          </a:prstGeom>
          <a:noFill/>
          <a:ln/>
        </p:spPr>
        <p:txBody>
          <a:bodyPr wrap="square" lIns="0" tIns="0" rIns="0" bIns="0" rtlCol="0" anchor="ctr"/>
          <a:lstStyle/>
          <a:p>
            <a:pPr algn="l" indent="0" marL="0">
              <a:lnSpc>
                <a:spcPct val="105000"/>
              </a:lnSpc>
              <a:buNone/>
            </a:pPr>
            <a:r>
              <a:rPr lang="en-US" sz="1550" dirty="0">
                <a:solidFill>
                  <a:srgbClr val="596069"/>
                </a:solidFill>
                <a:latin typeface="Arial" pitchFamily="34" charset="0"/>
                <a:ea typeface="Arial" pitchFamily="34" charset="-122"/>
                <a:cs typeface="Arial" pitchFamily="34" charset="-120"/>
              </a:rPr>
              <a:t>Everything TLC has built since 2016 starts from the dignity of the person in front of you.</a:t>
            </a:r>
            <a:endParaRPr lang="en-US" sz="1550" dirty="0"/>
          </a:p>
        </p:txBody>
      </p:sp>
      <p:sp>
        <p:nvSpPr>
          <p:cNvPr id="6" name="Text 4"/>
          <p:cNvSpPr/>
          <p:nvPr/>
        </p:nvSpPr>
        <p:spPr>
          <a:xfrm>
            <a:off x="640080" y="2697480"/>
            <a:ext cx="5943600" cy="1554480"/>
          </a:xfrm>
          <a:prstGeom prst="rect">
            <a:avLst/>
          </a:prstGeom>
          <a:noFill/>
          <a:ln/>
        </p:spPr>
        <p:txBody>
          <a:bodyPr wrap="square" lIns="0" tIns="0" rIns="0" bIns="0" rtlCol="0" anchor="ctr"/>
          <a:lstStyle/>
          <a:p>
            <a:pPr indent="0" marL="0">
              <a:lnSpc>
                <a:spcPct val="115000"/>
              </a:lnSpc>
              <a:buNone/>
            </a:pPr>
            <a:r>
              <a:rPr lang="en-US" sz="2200" i="1" dirty="0">
                <a:solidFill>
                  <a:srgbClr val="23272E"/>
                </a:solidFill>
                <a:latin typeface="Arial" pitchFamily="34" charset="0"/>
                <a:ea typeface="Arial" pitchFamily="34" charset="-122"/>
                <a:cs typeface="Arial" pitchFamily="34" charset="-120"/>
              </a:rPr>
              <a:t>“Leadership is not about authority — it’s about humanity.</a:t>
            </a:r>
            <a:endParaRPr lang="en-US" sz="2200" dirty="0"/>
          </a:p>
          <a:p>
            <a:pPr indent="0" marL="0">
              <a:lnSpc>
                <a:spcPct val="115000"/>
              </a:lnSpc>
              <a:buNone/>
            </a:pPr>
            <a:r>
              <a:rPr lang="en-US" sz="2200" i="1" dirty="0">
                <a:solidFill>
                  <a:srgbClr val="23272E"/>
                </a:solidFill>
                <a:latin typeface="Arial" pitchFamily="34" charset="0"/>
                <a:ea typeface="Arial" pitchFamily="34" charset="-122"/>
                <a:cs typeface="Arial" pitchFamily="34" charset="-120"/>
              </a:rPr>
              <a:t>If a decision doesn’t preserve dignity, it’s not the right one.”</a:t>
            </a:r>
            <a:endParaRPr lang="en-US" sz="2200" dirty="0"/>
          </a:p>
        </p:txBody>
      </p:sp>
      <p:sp>
        <p:nvSpPr>
          <p:cNvPr id="7" name="Text 5"/>
          <p:cNvSpPr/>
          <p:nvPr/>
        </p:nvSpPr>
        <p:spPr>
          <a:xfrm>
            <a:off x="640080" y="4343400"/>
            <a:ext cx="5943600" cy="320040"/>
          </a:xfrm>
          <a:prstGeom prst="rect">
            <a:avLst/>
          </a:prstGeom>
          <a:noFill/>
          <a:ln/>
        </p:spPr>
        <p:txBody>
          <a:bodyPr wrap="square" lIns="0" tIns="0" rIns="0" bIns="0" rtlCol="0" anchor="ctr"/>
          <a:lstStyle/>
          <a:p>
            <a:pPr indent="0" marL="0">
              <a:buNone/>
            </a:pPr>
            <a:r>
              <a:rPr lang="en-US" sz="1300" b="1" dirty="0">
                <a:solidFill>
                  <a:srgbClr val="DC661F"/>
                </a:solidFill>
                <a:latin typeface="Arial" pitchFamily="34" charset="0"/>
                <a:ea typeface="Arial" pitchFamily="34" charset="-122"/>
                <a:cs typeface="Arial" pitchFamily="34" charset="-120"/>
              </a:rPr>
              <a:t>Dr Yasser Zaki  ·  Founder &amp; CEO, Tender Loving Care</a:t>
            </a:r>
            <a:endParaRPr lang="en-US" sz="1300" dirty="0"/>
          </a:p>
        </p:txBody>
      </p:sp>
      <p:sp>
        <p:nvSpPr>
          <p:cNvPr id="8" name="Text 6"/>
          <p:cNvSpPr/>
          <p:nvPr/>
        </p:nvSpPr>
        <p:spPr>
          <a:xfrm>
            <a:off x="640080" y="4800600"/>
            <a:ext cx="5760720" cy="914400"/>
          </a:xfrm>
          <a:prstGeom prst="rect">
            <a:avLst/>
          </a:prstGeom>
          <a:noFill/>
          <a:ln/>
        </p:spPr>
        <p:txBody>
          <a:bodyPr wrap="square" lIns="0" tIns="0" rIns="0" bIns="0" rtlCol="0" anchor="ctr"/>
          <a:lstStyle/>
          <a:p>
            <a:pPr indent="0" marL="0">
              <a:lnSpc>
                <a:spcPct val="115000"/>
              </a:lnSpc>
              <a:buNone/>
            </a:pPr>
            <a:r>
              <a:rPr lang="en-US" sz="1400" dirty="0">
                <a:solidFill>
                  <a:srgbClr val="596069"/>
                </a:solidFill>
                <a:latin typeface="Arial" pitchFamily="34" charset="0"/>
                <a:ea typeface="Arial" pitchFamily="34" charset="-122"/>
                <a:cs typeface="Arial" pitchFamily="34" charset="-120"/>
              </a:rPr>
              <a:t>This briefing takes that principle as its brief. Any system TLC adopts must protect that moment of human care — never dilute it.</a:t>
            </a:r>
            <a:endParaRPr lang="en-US" sz="1400" dirty="0"/>
          </a:p>
        </p:txBody>
      </p:sp>
      <p:sp>
        <p:nvSpPr>
          <p:cNvPr id="9" name="Shape 7"/>
          <p:cNvSpPr/>
          <p:nvPr/>
        </p:nvSpPr>
        <p:spPr>
          <a:xfrm>
            <a:off x="7178040" y="2514600"/>
            <a:ext cx="4343400" cy="3337560"/>
          </a:xfrm>
          <a:prstGeom prst="roundRect">
            <a:avLst>
              <a:gd name="adj" fmla="val 2740"/>
            </a:avLst>
          </a:prstGeom>
          <a:solidFill>
            <a:srgbClr val="F5F6F8"/>
          </a:solidFill>
          <a:ln/>
        </p:spPr>
      </p:sp>
      <p:sp>
        <p:nvSpPr>
          <p:cNvPr id="10" name="Text 8"/>
          <p:cNvSpPr/>
          <p:nvPr/>
        </p:nvSpPr>
        <p:spPr>
          <a:xfrm>
            <a:off x="7543800" y="2788920"/>
            <a:ext cx="3611880" cy="274320"/>
          </a:xfrm>
          <a:prstGeom prst="rect">
            <a:avLst/>
          </a:prstGeom>
          <a:noFill/>
          <a:ln/>
        </p:spPr>
        <p:txBody>
          <a:bodyPr wrap="square" lIns="0" tIns="0" rIns="0" bIns="0" rtlCol="0" anchor="ctr"/>
          <a:lstStyle/>
          <a:p>
            <a:pPr indent="0" marL="0">
              <a:buNone/>
            </a:pPr>
            <a:r>
              <a:rPr lang="en-US" sz="1100" b="1" spc="150" kern="0" dirty="0">
                <a:solidFill>
                  <a:srgbClr val="596069"/>
                </a:solidFill>
                <a:latin typeface="Arial" pitchFamily="34" charset="0"/>
                <a:ea typeface="Arial" pitchFamily="34" charset="-122"/>
                <a:cs typeface="Arial" pitchFamily="34" charset="-120"/>
              </a:rPr>
              <a:t>TLC’S FOUR STRATEGIC PILLARS</a:t>
            </a:r>
            <a:endParaRPr lang="en-US" sz="1100" dirty="0"/>
          </a:p>
        </p:txBody>
      </p:sp>
      <p:sp>
        <p:nvSpPr>
          <p:cNvPr id="11" name="Shape 9"/>
          <p:cNvSpPr/>
          <p:nvPr/>
        </p:nvSpPr>
        <p:spPr>
          <a:xfrm>
            <a:off x="7543800" y="3200400"/>
            <a:ext cx="438912" cy="438912"/>
          </a:xfrm>
          <a:prstGeom prst="ellipse">
            <a:avLst/>
          </a:prstGeom>
          <a:solidFill>
            <a:srgbClr val="FBEDE1"/>
          </a:solidFill>
          <a:ln/>
        </p:spPr>
      </p:sp>
      <p:pic>
        <p:nvPicPr>
          <p:cNvPr id="12" name="Image 0" descr="preencoded.png">    </p:cNvPr>
          <p:cNvPicPr>
            <a:picLocks noChangeAspect="1"/>
          </p:cNvPicPr>
          <p:nvPr/>
        </p:nvPicPr>
        <p:blipFill>
          <a:blip r:embed="rId1"/>
          <a:stretch>
            <a:fillRect/>
          </a:stretch>
        </p:blipFill>
        <p:spPr>
          <a:xfrm>
            <a:off x="7657917" y="3314517"/>
            <a:ext cx="210678" cy="210678"/>
          </a:xfrm>
          <a:prstGeom prst="rect">
            <a:avLst/>
          </a:prstGeom>
        </p:spPr>
      </p:pic>
      <p:sp>
        <p:nvSpPr>
          <p:cNvPr id="13" name="Text 10"/>
          <p:cNvSpPr/>
          <p:nvPr/>
        </p:nvSpPr>
        <p:spPr>
          <a:xfrm>
            <a:off x="8110728" y="3200400"/>
            <a:ext cx="3063240" cy="438912"/>
          </a:xfrm>
          <a:prstGeom prst="rect">
            <a:avLst/>
          </a:prstGeom>
          <a:noFill/>
          <a:ln/>
        </p:spPr>
        <p:txBody>
          <a:bodyPr wrap="square" lIns="0" tIns="0" rIns="0" bIns="0" rtlCol="0" anchor="ctr"/>
          <a:lstStyle/>
          <a:p>
            <a:pPr indent="0" marL="0">
              <a:buNone/>
            </a:pPr>
            <a:r>
              <a:rPr lang="en-US" sz="1600" b="1" dirty="0">
                <a:solidFill>
                  <a:srgbClr val="23272E"/>
                </a:solidFill>
                <a:latin typeface="Arial" pitchFamily="34" charset="0"/>
                <a:ea typeface="Arial" pitchFamily="34" charset="-122"/>
                <a:cs typeface="Arial" pitchFamily="34" charset="-120"/>
              </a:rPr>
              <a:t>Quality</a:t>
            </a:r>
            <a:endParaRPr lang="en-US" sz="1600" dirty="0"/>
          </a:p>
        </p:txBody>
      </p:sp>
      <p:sp>
        <p:nvSpPr>
          <p:cNvPr id="14" name="Shape 11"/>
          <p:cNvSpPr/>
          <p:nvPr/>
        </p:nvSpPr>
        <p:spPr>
          <a:xfrm>
            <a:off x="7543800" y="3776472"/>
            <a:ext cx="438912" cy="438912"/>
          </a:xfrm>
          <a:prstGeom prst="ellipse">
            <a:avLst/>
          </a:prstGeom>
          <a:solidFill>
            <a:srgbClr val="FBEDE1"/>
          </a:solidFill>
          <a:ln/>
        </p:spPr>
      </p:sp>
      <p:pic>
        <p:nvPicPr>
          <p:cNvPr id="15" name="Image 1" descr="preencoded.png">    </p:cNvPr>
          <p:cNvPicPr>
            <a:picLocks noChangeAspect="1"/>
          </p:cNvPicPr>
          <p:nvPr/>
        </p:nvPicPr>
        <p:blipFill>
          <a:blip r:embed="rId2"/>
          <a:stretch>
            <a:fillRect/>
          </a:stretch>
        </p:blipFill>
        <p:spPr>
          <a:xfrm>
            <a:off x="7657917" y="3890589"/>
            <a:ext cx="210678" cy="210678"/>
          </a:xfrm>
          <a:prstGeom prst="rect">
            <a:avLst/>
          </a:prstGeom>
        </p:spPr>
      </p:pic>
      <p:sp>
        <p:nvSpPr>
          <p:cNvPr id="16" name="Text 12"/>
          <p:cNvSpPr/>
          <p:nvPr/>
        </p:nvSpPr>
        <p:spPr>
          <a:xfrm>
            <a:off x="8110728" y="3776472"/>
            <a:ext cx="3063240" cy="438912"/>
          </a:xfrm>
          <a:prstGeom prst="rect">
            <a:avLst/>
          </a:prstGeom>
          <a:noFill/>
          <a:ln/>
        </p:spPr>
        <p:txBody>
          <a:bodyPr wrap="square" lIns="0" tIns="0" rIns="0" bIns="0" rtlCol="0" anchor="ctr"/>
          <a:lstStyle/>
          <a:p>
            <a:pPr indent="0" marL="0">
              <a:buNone/>
            </a:pPr>
            <a:r>
              <a:rPr lang="en-US" sz="1600" b="1" dirty="0">
                <a:solidFill>
                  <a:srgbClr val="23272E"/>
                </a:solidFill>
                <a:latin typeface="Arial" pitchFamily="34" charset="0"/>
                <a:ea typeface="Arial" pitchFamily="34" charset="-122"/>
                <a:cs typeface="Arial" pitchFamily="34" charset="-120"/>
              </a:rPr>
              <a:t>People &amp; culture</a:t>
            </a:r>
            <a:endParaRPr lang="en-US" sz="1600" dirty="0"/>
          </a:p>
        </p:txBody>
      </p:sp>
      <p:sp>
        <p:nvSpPr>
          <p:cNvPr id="17" name="Shape 13"/>
          <p:cNvSpPr/>
          <p:nvPr/>
        </p:nvSpPr>
        <p:spPr>
          <a:xfrm>
            <a:off x="7543800" y="4352544"/>
            <a:ext cx="438912" cy="438912"/>
          </a:xfrm>
          <a:prstGeom prst="ellipse">
            <a:avLst/>
          </a:prstGeom>
          <a:solidFill>
            <a:srgbClr val="FBEDE1"/>
          </a:solidFill>
          <a:ln/>
        </p:spPr>
      </p:sp>
      <p:pic>
        <p:nvPicPr>
          <p:cNvPr id="18" name="Image 2" descr="preencoded.png">    </p:cNvPr>
          <p:cNvPicPr>
            <a:picLocks noChangeAspect="1"/>
          </p:cNvPicPr>
          <p:nvPr/>
        </p:nvPicPr>
        <p:blipFill>
          <a:blip r:embed="rId3"/>
          <a:stretch>
            <a:fillRect/>
          </a:stretch>
        </p:blipFill>
        <p:spPr>
          <a:xfrm>
            <a:off x="7657917" y="4466661"/>
            <a:ext cx="210678" cy="210678"/>
          </a:xfrm>
          <a:prstGeom prst="rect">
            <a:avLst/>
          </a:prstGeom>
        </p:spPr>
      </p:pic>
      <p:sp>
        <p:nvSpPr>
          <p:cNvPr id="19" name="Text 14"/>
          <p:cNvSpPr/>
          <p:nvPr/>
        </p:nvSpPr>
        <p:spPr>
          <a:xfrm>
            <a:off x="8110728" y="4352544"/>
            <a:ext cx="3063240" cy="438912"/>
          </a:xfrm>
          <a:prstGeom prst="rect">
            <a:avLst/>
          </a:prstGeom>
          <a:noFill/>
          <a:ln/>
        </p:spPr>
        <p:txBody>
          <a:bodyPr wrap="square" lIns="0" tIns="0" rIns="0" bIns="0" rtlCol="0" anchor="ctr"/>
          <a:lstStyle/>
          <a:p>
            <a:pPr indent="0" marL="0">
              <a:buNone/>
            </a:pPr>
            <a:r>
              <a:rPr lang="en-US" sz="1600" b="1" dirty="0">
                <a:solidFill>
                  <a:srgbClr val="23272E"/>
                </a:solidFill>
                <a:latin typeface="Arial" pitchFamily="34" charset="0"/>
                <a:ea typeface="Arial" pitchFamily="34" charset="-122"/>
                <a:cs typeface="Arial" pitchFamily="34" charset="-120"/>
              </a:rPr>
              <a:t>Growth</a:t>
            </a:r>
            <a:endParaRPr lang="en-US" sz="1600" dirty="0"/>
          </a:p>
        </p:txBody>
      </p:sp>
      <p:sp>
        <p:nvSpPr>
          <p:cNvPr id="20" name="Shape 15"/>
          <p:cNvSpPr/>
          <p:nvPr/>
        </p:nvSpPr>
        <p:spPr>
          <a:xfrm>
            <a:off x="7543800" y="4928616"/>
            <a:ext cx="438912" cy="438912"/>
          </a:xfrm>
          <a:prstGeom prst="ellipse">
            <a:avLst/>
          </a:prstGeom>
          <a:solidFill>
            <a:srgbClr val="FBEDE1"/>
          </a:solidFill>
          <a:ln/>
        </p:spPr>
      </p:sp>
      <p:pic>
        <p:nvPicPr>
          <p:cNvPr id="21" name="Image 3" descr="preencoded.png">    </p:cNvPr>
          <p:cNvPicPr>
            <a:picLocks noChangeAspect="1"/>
          </p:cNvPicPr>
          <p:nvPr/>
        </p:nvPicPr>
        <p:blipFill>
          <a:blip r:embed="rId4"/>
          <a:stretch>
            <a:fillRect/>
          </a:stretch>
        </p:blipFill>
        <p:spPr>
          <a:xfrm>
            <a:off x="7657917" y="5042733"/>
            <a:ext cx="210678" cy="210678"/>
          </a:xfrm>
          <a:prstGeom prst="rect">
            <a:avLst/>
          </a:prstGeom>
        </p:spPr>
      </p:pic>
      <p:sp>
        <p:nvSpPr>
          <p:cNvPr id="22" name="Text 16"/>
          <p:cNvSpPr/>
          <p:nvPr/>
        </p:nvSpPr>
        <p:spPr>
          <a:xfrm>
            <a:off x="8110728" y="4928616"/>
            <a:ext cx="3063240" cy="438912"/>
          </a:xfrm>
          <a:prstGeom prst="rect">
            <a:avLst/>
          </a:prstGeom>
          <a:noFill/>
          <a:ln/>
        </p:spPr>
        <p:txBody>
          <a:bodyPr wrap="square" lIns="0" tIns="0" rIns="0" bIns="0" rtlCol="0" anchor="ctr"/>
          <a:lstStyle/>
          <a:p>
            <a:pPr indent="0" marL="0">
              <a:buNone/>
            </a:pPr>
            <a:r>
              <a:rPr lang="en-US" sz="1600" b="1" dirty="0">
                <a:solidFill>
                  <a:srgbClr val="23272E"/>
                </a:solidFill>
                <a:latin typeface="Arial" pitchFamily="34" charset="0"/>
                <a:ea typeface="Arial" pitchFamily="34" charset="-122"/>
                <a:cs typeface="Arial" pitchFamily="34" charset="-120"/>
              </a:rPr>
              <a:t>Diversification</a:t>
            </a:r>
            <a:endParaRPr lang="en-US" sz="1600" dirty="0"/>
          </a:p>
        </p:txBody>
      </p:sp>
      <p:sp>
        <p:nvSpPr>
          <p:cNvPr id="23" name="Text 17"/>
          <p:cNvSpPr/>
          <p:nvPr/>
        </p:nvSpPr>
        <p:spPr>
          <a:xfrm>
            <a:off x="7543800" y="5596128"/>
            <a:ext cx="3611880" cy="256032"/>
          </a:xfrm>
          <a:prstGeom prst="rect">
            <a:avLst/>
          </a:prstGeom>
          <a:noFill/>
          <a:ln/>
        </p:spPr>
        <p:txBody>
          <a:bodyPr wrap="square" lIns="0" tIns="0" rIns="0" bIns="0" rtlCol="0" anchor="ctr"/>
          <a:lstStyle/>
          <a:p>
            <a:pPr indent="0" marL="0">
              <a:buNone/>
            </a:pPr>
            <a:r>
              <a:rPr lang="en-US" sz="950" dirty="0">
                <a:solidFill>
                  <a:srgbClr val="9AA1A9"/>
                </a:solidFill>
                <a:latin typeface="Arial" pitchFamily="34" charset="0"/>
                <a:ea typeface="Arial" pitchFamily="34" charset="-122"/>
                <a:cs typeface="Arial" pitchFamily="34" charset="-120"/>
              </a:rPr>
              <a:t>Source: The CEO Magazine (2024).</a:t>
            </a:r>
            <a:endParaRPr lang="en-US" sz="950" dirty="0"/>
          </a:p>
        </p:txBody>
      </p:sp>
      <p:sp>
        <p:nvSpPr>
          <p:cNvPr id="24" name="Text 18"/>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25" name="Text 19"/>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02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03   </a:t>
            </a:r>
            <a:pPr algn="l" indent="0" marL="0">
              <a:buNone/>
            </a:pPr>
            <a:r>
              <a:rPr lang="en-US" sz="1150" b="1" spc="200" kern="0" dirty="0">
                <a:solidFill>
                  <a:srgbClr val="596069"/>
                </a:solidFill>
                <a:latin typeface="Arial" pitchFamily="34" charset="0"/>
                <a:ea typeface="Arial" pitchFamily="34" charset="-122"/>
                <a:cs typeface="Arial" pitchFamily="34" charset="-120"/>
              </a:rPr>
              <a:t>THE OPERATIONAL REALITY</a:t>
            </a:r>
            <a:endParaRPr lang="en-US" sz="1150" dirty="0"/>
          </a:p>
        </p:txBody>
      </p:sp>
      <p:sp>
        <p:nvSpPr>
          <p:cNvPr id="4" name="Text 2"/>
          <p:cNvSpPr/>
          <p:nvPr/>
        </p:nvSpPr>
        <p:spPr>
          <a:xfrm>
            <a:off x="640080" y="932688"/>
            <a:ext cx="10972800" cy="91440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The work around the work is growing.</a:t>
            </a:r>
            <a:endParaRPr lang="en-US" sz="3600" dirty="0"/>
          </a:p>
        </p:txBody>
      </p:sp>
      <p:sp>
        <p:nvSpPr>
          <p:cNvPr id="5" name="Text 3"/>
          <p:cNvSpPr/>
          <p:nvPr/>
        </p:nvSpPr>
        <p:spPr>
          <a:xfrm>
            <a:off x="640080" y="1810512"/>
            <a:ext cx="10424160" cy="502920"/>
          </a:xfrm>
          <a:prstGeom prst="rect">
            <a:avLst/>
          </a:prstGeom>
          <a:noFill/>
          <a:ln/>
        </p:spPr>
        <p:txBody>
          <a:bodyPr wrap="square" lIns="0" tIns="0" rIns="0" bIns="0" rtlCol="0" anchor="ctr"/>
          <a:lstStyle/>
          <a:p>
            <a:pPr algn="l" indent="0" marL="0">
              <a:lnSpc>
                <a:spcPct val="105000"/>
              </a:lnSpc>
              <a:buNone/>
            </a:pPr>
            <a:r>
              <a:rPr lang="en-US" sz="1550" dirty="0">
                <a:solidFill>
                  <a:srgbClr val="596069"/>
                </a:solidFill>
                <a:latin typeface="Arial" pitchFamily="34" charset="0"/>
                <a:ea typeface="Arial" pitchFamily="34" charset="-122"/>
                <a:cs typeface="Arial" pitchFamily="34" charset="-120"/>
              </a:rPr>
              <a:t>Providers are asked to do more, evidence more and report faster — with the same hours in a day.</a:t>
            </a:r>
            <a:endParaRPr lang="en-US" sz="1550" dirty="0"/>
          </a:p>
        </p:txBody>
      </p:sp>
      <p:sp>
        <p:nvSpPr>
          <p:cNvPr id="6" name="Shape 4"/>
          <p:cNvSpPr/>
          <p:nvPr/>
        </p:nvSpPr>
        <p:spPr>
          <a:xfrm>
            <a:off x="640080" y="2743200"/>
            <a:ext cx="2551176" cy="2926080"/>
          </a:xfrm>
          <a:prstGeom prst="roundRect">
            <a:avLst>
              <a:gd name="adj" fmla="val 3226"/>
            </a:avLst>
          </a:prstGeom>
          <a:solidFill>
            <a:srgbClr val="FFFFFF"/>
          </a:solidFill>
          <a:ln w="12700">
            <a:solidFill>
              <a:srgbClr val="E6E9ED"/>
            </a:solidFill>
            <a:prstDash val="solid"/>
          </a:ln>
        </p:spPr>
      </p:sp>
      <p:sp>
        <p:nvSpPr>
          <p:cNvPr id="7" name="Shape 5"/>
          <p:cNvSpPr/>
          <p:nvPr/>
        </p:nvSpPr>
        <p:spPr>
          <a:xfrm>
            <a:off x="960120" y="3063240"/>
            <a:ext cx="566928" cy="566928"/>
          </a:xfrm>
          <a:prstGeom prst="ellipse">
            <a:avLst/>
          </a:prstGeom>
          <a:solidFill>
            <a:srgbClr val="FBEDE1"/>
          </a:solidFill>
          <a:ln/>
        </p:spPr>
      </p:sp>
      <p:pic>
        <p:nvPicPr>
          <p:cNvPr id="8" name="Image 0" descr="preencoded.png">    </p:cNvPr>
          <p:cNvPicPr>
            <a:picLocks noChangeAspect="1"/>
          </p:cNvPicPr>
          <p:nvPr/>
        </p:nvPicPr>
        <p:blipFill>
          <a:blip r:embed="rId1"/>
          <a:stretch>
            <a:fillRect/>
          </a:stretch>
        </p:blipFill>
        <p:spPr>
          <a:xfrm>
            <a:off x="1107521" y="3210641"/>
            <a:ext cx="272125" cy="272125"/>
          </a:xfrm>
          <a:prstGeom prst="rect">
            <a:avLst/>
          </a:prstGeom>
        </p:spPr>
      </p:pic>
      <p:sp>
        <p:nvSpPr>
          <p:cNvPr id="9" name="Text 6"/>
          <p:cNvSpPr/>
          <p:nvPr/>
        </p:nvSpPr>
        <p:spPr>
          <a:xfrm>
            <a:off x="960120" y="3794760"/>
            <a:ext cx="1911096" cy="640080"/>
          </a:xfrm>
          <a:prstGeom prst="rect">
            <a:avLst/>
          </a:prstGeom>
          <a:noFill/>
          <a:ln/>
        </p:spPr>
        <p:txBody>
          <a:bodyPr wrap="square" lIns="0" tIns="0" rIns="0" bIns="0" rtlCol="0" anchor="t"/>
          <a:lstStyle/>
          <a:p>
            <a:pPr indent="0" marL="0">
              <a:buNone/>
            </a:pPr>
            <a:r>
              <a:rPr lang="en-US" sz="1650" b="1" dirty="0">
                <a:solidFill>
                  <a:srgbClr val="23272E"/>
                </a:solidFill>
                <a:latin typeface="Arial" pitchFamily="34" charset="0"/>
                <a:ea typeface="Arial" pitchFamily="34" charset="-122"/>
                <a:cs typeface="Arial" pitchFamily="34" charset="-120"/>
              </a:rPr>
              <a:t>Fragmented systems</a:t>
            </a:r>
            <a:endParaRPr lang="en-US" sz="1650" dirty="0"/>
          </a:p>
        </p:txBody>
      </p:sp>
      <p:sp>
        <p:nvSpPr>
          <p:cNvPr id="10" name="Text 7"/>
          <p:cNvSpPr/>
          <p:nvPr/>
        </p:nvSpPr>
        <p:spPr>
          <a:xfrm>
            <a:off x="960120" y="4370832"/>
            <a:ext cx="1911096" cy="1143000"/>
          </a:xfrm>
          <a:prstGeom prst="rect">
            <a:avLst/>
          </a:prstGeom>
          <a:noFill/>
          <a:ln/>
        </p:spPr>
        <p:txBody>
          <a:bodyPr wrap="square" lIns="0" tIns="0" rIns="0" bIns="0" rtlCol="0" anchor="ctr"/>
          <a:lstStyle/>
          <a:p>
            <a:pPr indent="0" marL="0">
              <a:lnSpc>
                <a:spcPct val="112000"/>
              </a:lnSpc>
              <a:buNone/>
            </a:pPr>
            <a:r>
              <a:rPr lang="en-US" sz="1250" dirty="0">
                <a:solidFill>
                  <a:srgbClr val="596069"/>
                </a:solidFill>
                <a:latin typeface="Arial" pitchFamily="34" charset="0"/>
                <a:ea typeface="Arial" pitchFamily="34" charset="-122"/>
                <a:cs typeface="Arial" pitchFamily="34" charset="-120"/>
              </a:rPr>
              <a:t>Rosters, notes, claims and compliance live in separate tools that don’t talk to each other.</a:t>
            </a:r>
            <a:endParaRPr lang="en-US" sz="1250" dirty="0"/>
          </a:p>
        </p:txBody>
      </p:sp>
      <p:sp>
        <p:nvSpPr>
          <p:cNvPr id="11" name="Shape 8"/>
          <p:cNvSpPr/>
          <p:nvPr/>
        </p:nvSpPr>
        <p:spPr>
          <a:xfrm>
            <a:off x="3410712" y="2743200"/>
            <a:ext cx="2551176" cy="2926080"/>
          </a:xfrm>
          <a:prstGeom prst="roundRect">
            <a:avLst>
              <a:gd name="adj" fmla="val 3226"/>
            </a:avLst>
          </a:prstGeom>
          <a:solidFill>
            <a:srgbClr val="FFFFFF"/>
          </a:solidFill>
          <a:ln w="12700">
            <a:solidFill>
              <a:srgbClr val="E6E9ED"/>
            </a:solidFill>
            <a:prstDash val="solid"/>
          </a:ln>
        </p:spPr>
      </p:sp>
      <p:sp>
        <p:nvSpPr>
          <p:cNvPr id="12" name="Shape 9"/>
          <p:cNvSpPr/>
          <p:nvPr/>
        </p:nvSpPr>
        <p:spPr>
          <a:xfrm>
            <a:off x="3730752" y="3063240"/>
            <a:ext cx="566928" cy="566928"/>
          </a:xfrm>
          <a:prstGeom prst="ellipse">
            <a:avLst/>
          </a:prstGeom>
          <a:solidFill>
            <a:srgbClr val="FBEDE1"/>
          </a:solidFill>
          <a:ln/>
        </p:spPr>
      </p:sp>
      <p:pic>
        <p:nvPicPr>
          <p:cNvPr id="13" name="Image 1" descr="preencoded.png">    </p:cNvPr>
          <p:cNvPicPr>
            <a:picLocks noChangeAspect="1"/>
          </p:cNvPicPr>
          <p:nvPr/>
        </p:nvPicPr>
        <p:blipFill>
          <a:blip r:embed="rId2"/>
          <a:stretch>
            <a:fillRect/>
          </a:stretch>
        </p:blipFill>
        <p:spPr>
          <a:xfrm>
            <a:off x="3878153" y="3210641"/>
            <a:ext cx="272125" cy="272125"/>
          </a:xfrm>
          <a:prstGeom prst="rect">
            <a:avLst/>
          </a:prstGeom>
        </p:spPr>
      </p:pic>
      <p:sp>
        <p:nvSpPr>
          <p:cNvPr id="14" name="Text 10"/>
          <p:cNvSpPr/>
          <p:nvPr/>
        </p:nvSpPr>
        <p:spPr>
          <a:xfrm>
            <a:off x="3730752" y="3794760"/>
            <a:ext cx="1911096" cy="640080"/>
          </a:xfrm>
          <a:prstGeom prst="rect">
            <a:avLst/>
          </a:prstGeom>
          <a:noFill/>
          <a:ln/>
        </p:spPr>
        <p:txBody>
          <a:bodyPr wrap="square" lIns="0" tIns="0" rIns="0" bIns="0" rtlCol="0" anchor="t"/>
          <a:lstStyle/>
          <a:p>
            <a:pPr indent="0" marL="0">
              <a:buNone/>
            </a:pPr>
            <a:r>
              <a:rPr lang="en-US" sz="1650" b="1" dirty="0">
                <a:solidFill>
                  <a:srgbClr val="23272E"/>
                </a:solidFill>
                <a:latin typeface="Arial" pitchFamily="34" charset="0"/>
                <a:ea typeface="Arial" pitchFamily="34" charset="-122"/>
                <a:cs typeface="Arial" pitchFamily="34" charset="-120"/>
              </a:rPr>
              <a:t>Rising documentation</a:t>
            </a:r>
            <a:endParaRPr lang="en-US" sz="1650" dirty="0"/>
          </a:p>
        </p:txBody>
      </p:sp>
      <p:sp>
        <p:nvSpPr>
          <p:cNvPr id="15" name="Text 11"/>
          <p:cNvSpPr/>
          <p:nvPr/>
        </p:nvSpPr>
        <p:spPr>
          <a:xfrm>
            <a:off x="3730752" y="4370832"/>
            <a:ext cx="1911096" cy="1143000"/>
          </a:xfrm>
          <a:prstGeom prst="rect">
            <a:avLst/>
          </a:prstGeom>
          <a:noFill/>
          <a:ln/>
        </p:spPr>
        <p:txBody>
          <a:bodyPr wrap="square" lIns="0" tIns="0" rIns="0" bIns="0" rtlCol="0" anchor="ctr"/>
          <a:lstStyle/>
          <a:p>
            <a:pPr indent="0" marL="0">
              <a:lnSpc>
                <a:spcPct val="112000"/>
              </a:lnSpc>
              <a:buNone/>
            </a:pPr>
            <a:r>
              <a:rPr lang="en-US" sz="1250" dirty="0">
                <a:solidFill>
                  <a:srgbClr val="596069"/>
                </a:solidFill>
                <a:latin typeface="Arial" pitchFamily="34" charset="0"/>
                <a:ea typeface="Arial" pitchFamily="34" charset="-122"/>
                <a:cs typeface="Arial" pitchFamily="34" charset="-120"/>
              </a:rPr>
              <a:t>Every support hour now carries more recording, evidencing and reporting than it did five years ago.</a:t>
            </a:r>
            <a:endParaRPr lang="en-US" sz="1250" dirty="0"/>
          </a:p>
        </p:txBody>
      </p:sp>
      <p:sp>
        <p:nvSpPr>
          <p:cNvPr id="16" name="Shape 12"/>
          <p:cNvSpPr/>
          <p:nvPr/>
        </p:nvSpPr>
        <p:spPr>
          <a:xfrm>
            <a:off x="6181344" y="2743200"/>
            <a:ext cx="2551176" cy="2926080"/>
          </a:xfrm>
          <a:prstGeom prst="roundRect">
            <a:avLst>
              <a:gd name="adj" fmla="val 3226"/>
            </a:avLst>
          </a:prstGeom>
          <a:solidFill>
            <a:srgbClr val="FFFFFF"/>
          </a:solidFill>
          <a:ln w="12700">
            <a:solidFill>
              <a:srgbClr val="E6E9ED"/>
            </a:solidFill>
            <a:prstDash val="solid"/>
          </a:ln>
        </p:spPr>
      </p:sp>
      <p:sp>
        <p:nvSpPr>
          <p:cNvPr id="17" name="Shape 13"/>
          <p:cNvSpPr/>
          <p:nvPr/>
        </p:nvSpPr>
        <p:spPr>
          <a:xfrm>
            <a:off x="6501384" y="3063240"/>
            <a:ext cx="566928" cy="566928"/>
          </a:xfrm>
          <a:prstGeom prst="ellipse">
            <a:avLst/>
          </a:prstGeom>
          <a:solidFill>
            <a:srgbClr val="FBEDE1"/>
          </a:solidFill>
          <a:ln/>
        </p:spPr>
      </p:sp>
      <p:pic>
        <p:nvPicPr>
          <p:cNvPr id="18" name="Image 2" descr="preencoded.png">    </p:cNvPr>
          <p:cNvPicPr>
            <a:picLocks noChangeAspect="1"/>
          </p:cNvPicPr>
          <p:nvPr/>
        </p:nvPicPr>
        <p:blipFill>
          <a:blip r:embed="rId3"/>
          <a:stretch>
            <a:fillRect/>
          </a:stretch>
        </p:blipFill>
        <p:spPr>
          <a:xfrm>
            <a:off x="6648785" y="3210641"/>
            <a:ext cx="272125" cy="272125"/>
          </a:xfrm>
          <a:prstGeom prst="rect">
            <a:avLst/>
          </a:prstGeom>
        </p:spPr>
      </p:pic>
      <p:sp>
        <p:nvSpPr>
          <p:cNvPr id="19" name="Text 14"/>
          <p:cNvSpPr/>
          <p:nvPr/>
        </p:nvSpPr>
        <p:spPr>
          <a:xfrm>
            <a:off x="6501384" y="3794760"/>
            <a:ext cx="1911096" cy="640080"/>
          </a:xfrm>
          <a:prstGeom prst="rect">
            <a:avLst/>
          </a:prstGeom>
          <a:noFill/>
          <a:ln/>
        </p:spPr>
        <p:txBody>
          <a:bodyPr wrap="square" lIns="0" tIns="0" rIns="0" bIns="0" rtlCol="0" anchor="t"/>
          <a:lstStyle/>
          <a:p>
            <a:pPr indent="0" marL="0">
              <a:buNone/>
            </a:pPr>
            <a:r>
              <a:rPr lang="en-US" sz="1650" b="1" dirty="0">
                <a:solidFill>
                  <a:srgbClr val="23272E"/>
                </a:solidFill>
                <a:latin typeface="Arial" pitchFamily="34" charset="0"/>
                <a:ea typeface="Arial" pitchFamily="34" charset="-122"/>
                <a:cs typeface="Arial" pitchFamily="34" charset="-120"/>
              </a:rPr>
              <a:t>Tightening compliance</a:t>
            </a:r>
            <a:endParaRPr lang="en-US" sz="1650" dirty="0"/>
          </a:p>
        </p:txBody>
      </p:sp>
      <p:sp>
        <p:nvSpPr>
          <p:cNvPr id="20" name="Text 15"/>
          <p:cNvSpPr/>
          <p:nvPr/>
        </p:nvSpPr>
        <p:spPr>
          <a:xfrm>
            <a:off x="6501384" y="4370832"/>
            <a:ext cx="1911096" cy="1143000"/>
          </a:xfrm>
          <a:prstGeom prst="rect">
            <a:avLst/>
          </a:prstGeom>
          <a:noFill/>
          <a:ln/>
        </p:spPr>
        <p:txBody>
          <a:bodyPr wrap="square" lIns="0" tIns="0" rIns="0" bIns="0" rtlCol="0" anchor="ctr"/>
          <a:lstStyle/>
          <a:p>
            <a:pPr indent="0" marL="0">
              <a:lnSpc>
                <a:spcPct val="112000"/>
              </a:lnSpc>
              <a:buNone/>
            </a:pPr>
            <a:r>
              <a:rPr lang="en-US" sz="1250" dirty="0">
                <a:solidFill>
                  <a:srgbClr val="596069"/>
                </a:solidFill>
                <a:latin typeface="Arial" pitchFamily="34" charset="0"/>
                <a:ea typeface="Arial" pitchFamily="34" charset="-122"/>
                <a:cs typeface="Arial" pitchFamily="34" charset="-120"/>
              </a:rPr>
              <a:t>Quality and Safeguards obligations grow, with less tolerance for gaps or delay.</a:t>
            </a:r>
            <a:endParaRPr lang="en-US" sz="1250" dirty="0"/>
          </a:p>
        </p:txBody>
      </p:sp>
      <p:sp>
        <p:nvSpPr>
          <p:cNvPr id="21" name="Shape 16"/>
          <p:cNvSpPr/>
          <p:nvPr/>
        </p:nvSpPr>
        <p:spPr>
          <a:xfrm>
            <a:off x="8951976" y="2743200"/>
            <a:ext cx="2551176" cy="2926080"/>
          </a:xfrm>
          <a:prstGeom prst="roundRect">
            <a:avLst>
              <a:gd name="adj" fmla="val 3226"/>
            </a:avLst>
          </a:prstGeom>
          <a:solidFill>
            <a:srgbClr val="FFFFFF"/>
          </a:solidFill>
          <a:ln w="12700">
            <a:solidFill>
              <a:srgbClr val="E6E9ED"/>
            </a:solidFill>
            <a:prstDash val="solid"/>
          </a:ln>
        </p:spPr>
      </p:sp>
      <p:sp>
        <p:nvSpPr>
          <p:cNvPr id="22" name="Shape 17"/>
          <p:cNvSpPr/>
          <p:nvPr/>
        </p:nvSpPr>
        <p:spPr>
          <a:xfrm>
            <a:off x="9272016" y="3063240"/>
            <a:ext cx="566928" cy="566928"/>
          </a:xfrm>
          <a:prstGeom prst="ellipse">
            <a:avLst/>
          </a:prstGeom>
          <a:solidFill>
            <a:srgbClr val="FBEDE1"/>
          </a:solidFill>
          <a:ln/>
        </p:spPr>
      </p:sp>
      <p:pic>
        <p:nvPicPr>
          <p:cNvPr id="23" name="Image 3" descr="preencoded.png">    </p:cNvPr>
          <p:cNvPicPr>
            <a:picLocks noChangeAspect="1"/>
          </p:cNvPicPr>
          <p:nvPr/>
        </p:nvPicPr>
        <p:blipFill>
          <a:blip r:embed="rId4"/>
          <a:stretch>
            <a:fillRect/>
          </a:stretch>
        </p:blipFill>
        <p:spPr>
          <a:xfrm>
            <a:off x="9419417" y="3210641"/>
            <a:ext cx="272125" cy="272125"/>
          </a:xfrm>
          <a:prstGeom prst="rect">
            <a:avLst/>
          </a:prstGeom>
        </p:spPr>
      </p:pic>
      <p:sp>
        <p:nvSpPr>
          <p:cNvPr id="24" name="Text 18"/>
          <p:cNvSpPr/>
          <p:nvPr/>
        </p:nvSpPr>
        <p:spPr>
          <a:xfrm>
            <a:off x="9272016" y="3794760"/>
            <a:ext cx="1911096" cy="640080"/>
          </a:xfrm>
          <a:prstGeom prst="rect">
            <a:avLst/>
          </a:prstGeom>
          <a:noFill/>
          <a:ln/>
        </p:spPr>
        <p:txBody>
          <a:bodyPr wrap="square" lIns="0" tIns="0" rIns="0" bIns="0" rtlCol="0" anchor="t"/>
          <a:lstStyle/>
          <a:p>
            <a:pPr indent="0" marL="0">
              <a:buNone/>
            </a:pPr>
            <a:r>
              <a:rPr lang="en-US" sz="1650" b="1" dirty="0">
                <a:solidFill>
                  <a:srgbClr val="23272E"/>
                </a:solidFill>
                <a:latin typeface="Arial" pitchFamily="34" charset="0"/>
                <a:ea typeface="Arial" pitchFamily="34" charset="-122"/>
                <a:cs typeface="Arial" pitchFamily="34" charset="-120"/>
              </a:rPr>
              <a:t>Workforce pressure</a:t>
            </a:r>
            <a:endParaRPr lang="en-US" sz="1650" dirty="0"/>
          </a:p>
        </p:txBody>
      </p:sp>
      <p:sp>
        <p:nvSpPr>
          <p:cNvPr id="25" name="Text 19"/>
          <p:cNvSpPr/>
          <p:nvPr/>
        </p:nvSpPr>
        <p:spPr>
          <a:xfrm>
            <a:off x="9272016" y="4370832"/>
            <a:ext cx="1911096" cy="1143000"/>
          </a:xfrm>
          <a:prstGeom prst="rect">
            <a:avLst/>
          </a:prstGeom>
          <a:noFill/>
          <a:ln/>
        </p:spPr>
        <p:txBody>
          <a:bodyPr wrap="square" lIns="0" tIns="0" rIns="0" bIns="0" rtlCol="0" anchor="ctr"/>
          <a:lstStyle/>
          <a:p>
            <a:pPr indent="0" marL="0">
              <a:lnSpc>
                <a:spcPct val="112000"/>
              </a:lnSpc>
              <a:buNone/>
            </a:pPr>
            <a:r>
              <a:rPr lang="en-US" sz="1250" dirty="0">
                <a:solidFill>
                  <a:srgbClr val="596069"/>
                </a:solidFill>
                <a:latin typeface="Arial" pitchFamily="34" charset="0"/>
                <a:ea typeface="Arial" pitchFamily="34" charset="-122"/>
                <a:cs typeface="Arial" pitchFamily="34" charset="-120"/>
              </a:rPr>
              <a:t>Skilled workers are stretched, and time lost to admin is time lost to people.</a:t>
            </a:r>
            <a:endParaRPr lang="en-US" sz="1250" dirty="0"/>
          </a:p>
        </p:txBody>
      </p:sp>
      <p:sp>
        <p:nvSpPr>
          <p:cNvPr id="26" name="Text 20"/>
          <p:cNvSpPr/>
          <p:nvPr/>
        </p:nvSpPr>
        <p:spPr>
          <a:xfrm>
            <a:off x="640080" y="5870448"/>
            <a:ext cx="10881360" cy="274320"/>
          </a:xfrm>
          <a:prstGeom prst="rect">
            <a:avLst/>
          </a:prstGeom>
          <a:noFill/>
          <a:ln/>
        </p:spPr>
        <p:txBody>
          <a:bodyPr wrap="square" lIns="0" tIns="0" rIns="0" bIns="0" rtlCol="0" anchor="ctr"/>
          <a:lstStyle/>
          <a:p>
            <a:pPr indent="0" marL="0">
              <a:buNone/>
            </a:pPr>
            <a:r>
              <a:rPr lang="en-US" sz="950" dirty="0">
                <a:solidFill>
                  <a:srgbClr val="9AA1A9"/>
                </a:solidFill>
                <a:latin typeface="Arial" pitchFamily="34" charset="0"/>
                <a:ea typeface="Arial" pitchFamily="34" charset="-122"/>
                <a:cs typeface="Arial" pitchFamily="34" charset="-120"/>
              </a:rPr>
              <a:t>Sources: NDIS Review, “Working Together to Deliver the NDIS” (2023); NDIS Quality and Safeguards Commission.</a:t>
            </a:r>
            <a:endParaRPr lang="en-US" sz="950" dirty="0"/>
          </a:p>
        </p:txBody>
      </p:sp>
      <p:sp>
        <p:nvSpPr>
          <p:cNvPr id="27" name="Text 21"/>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28" name="Text 22"/>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03 / 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2"/>
        </a:solidFill>
      </p:bgPr>
    </p:bg>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04   </a:t>
            </a:r>
            <a:pPr algn="l" indent="0" marL="0">
              <a:buNone/>
            </a:pPr>
            <a:r>
              <a:rPr lang="en-US" sz="1150" b="1" spc="200" kern="0" dirty="0">
                <a:solidFill>
                  <a:srgbClr val="AAB0B7"/>
                </a:solidFill>
                <a:latin typeface="Arial" pitchFamily="34" charset="0"/>
                <a:ea typeface="Arial" pitchFamily="34" charset="-122"/>
                <a:cs typeface="Arial" pitchFamily="34" charset="-120"/>
              </a:rPr>
              <a:t>THE HIDDEN COST</a:t>
            </a:r>
            <a:endParaRPr lang="en-US" sz="1150" dirty="0"/>
          </a:p>
        </p:txBody>
      </p:sp>
      <p:sp>
        <p:nvSpPr>
          <p:cNvPr id="4" name="Text 2"/>
          <p:cNvSpPr/>
          <p:nvPr/>
        </p:nvSpPr>
        <p:spPr>
          <a:xfrm>
            <a:off x="640080" y="2148840"/>
            <a:ext cx="10789920" cy="1737360"/>
          </a:xfrm>
          <a:prstGeom prst="rect">
            <a:avLst/>
          </a:prstGeom>
          <a:noFill/>
          <a:ln/>
        </p:spPr>
        <p:txBody>
          <a:bodyPr wrap="square" lIns="0" tIns="0" rIns="0" bIns="0" rtlCol="0" anchor="ctr"/>
          <a:lstStyle/>
          <a:p>
            <a:pPr indent="0" marL="0">
              <a:lnSpc>
                <a:spcPct val="112000"/>
              </a:lnSpc>
              <a:buNone/>
            </a:pPr>
            <a:r>
              <a:rPr lang="en-US" sz="3600" b="1" dirty="0">
                <a:solidFill>
                  <a:srgbClr val="FFFFFF"/>
                </a:solidFill>
                <a:latin typeface="Arial" pitchFamily="34" charset="0"/>
                <a:ea typeface="Arial" pitchFamily="34" charset="-122"/>
                <a:cs typeface="Arial" pitchFamily="34" charset="-120"/>
              </a:rPr>
              <a:t>Every hour spent on paperwork</a:t>
            </a:r>
            <a:endParaRPr lang="en-US" sz="3600" dirty="0"/>
          </a:p>
          <a:p>
            <a:pPr indent="0" marL="0">
              <a:lnSpc>
                <a:spcPct val="112000"/>
              </a:lnSpc>
              <a:buNone/>
            </a:pPr>
            <a:r>
              <a:rPr lang="en-US" sz="3600" b="1" dirty="0">
                <a:solidFill>
                  <a:srgbClr val="FFFFFF"/>
                </a:solidFill>
                <a:latin typeface="Arial" pitchFamily="34" charset="0"/>
                <a:ea typeface="Arial" pitchFamily="34" charset="-122"/>
                <a:cs typeface="Arial" pitchFamily="34" charset="-120"/>
              </a:rPr>
              <a:t>is an hour </a:t>
            </a:r>
            <a:endParaRPr lang="en-US" sz="3600" dirty="0"/>
          </a:p>
          <a:p>
            <a:pPr indent="0" marL="0">
              <a:lnSpc>
                <a:spcPct val="112000"/>
              </a:lnSpc>
              <a:buNone/>
            </a:pPr>
            <a:r>
              <a:rPr lang="en-US" sz="3600" b="1" dirty="0">
                <a:solidFill>
                  <a:srgbClr val="DC661F"/>
                </a:solidFill>
                <a:latin typeface="Arial" pitchFamily="34" charset="0"/>
                <a:ea typeface="Arial" pitchFamily="34" charset="-122"/>
                <a:cs typeface="Arial" pitchFamily="34" charset="-120"/>
              </a:rPr>
              <a:t>not spent with a person.</a:t>
            </a:r>
            <a:endParaRPr lang="en-US" sz="3600" dirty="0"/>
          </a:p>
        </p:txBody>
      </p:sp>
      <p:sp>
        <p:nvSpPr>
          <p:cNvPr id="5" name="Text 3"/>
          <p:cNvSpPr/>
          <p:nvPr/>
        </p:nvSpPr>
        <p:spPr>
          <a:xfrm>
            <a:off x="640080" y="4160520"/>
            <a:ext cx="8778240" cy="1280160"/>
          </a:xfrm>
          <a:prstGeom prst="rect">
            <a:avLst/>
          </a:prstGeom>
          <a:noFill/>
          <a:ln/>
        </p:spPr>
        <p:txBody>
          <a:bodyPr wrap="square" lIns="0" tIns="0" rIns="0" bIns="0" rtlCol="0" anchor="ctr"/>
          <a:lstStyle/>
          <a:p>
            <a:pPr indent="0" marL="0">
              <a:lnSpc>
                <a:spcPct val="125000"/>
              </a:lnSpc>
              <a:buNone/>
            </a:pPr>
            <a:r>
              <a:rPr lang="en-US" sz="1550" dirty="0">
                <a:solidFill>
                  <a:srgbClr val="C2C7CD"/>
                </a:solidFill>
                <a:latin typeface="Arial" pitchFamily="34" charset="0"/>
                <a:ea typeface="Arial" pitchFamily="34" charset="-122"/>
                <a:cs typeface="Arial" pitchFamily="34" charset="-120"/>
              </a:rPr>
              <a:t>Documentation, incident reporting, rostering corrections, claims and timesheets draw hours away from participants each week. The cost rarely appears on a balance sheet — it shows up as less presence, thinner relationships and tired people.</a:t>
            </a:r>
            <a:endParaRPr lang="en-US" sz="1550" dirty="0"/>
          </a:p>
        </p:txBody>
      </p:sp>
      <p:sp>
        <p:nvSpPr>
          <p:cNvPr id="6" name="Text 4"/>
          <p:cNvSpPr/>
          <p:nvPr/>
        </p:nvSpPr>
        <p:spPr>
          <a:xfrm>
            <a:off x="640080" y="5806440"/>
            <a:ext cx="10058400" cy="274320"/>
          </a:xfrm>
          <a:prstGeom prst="rect">
            <a:avLst/>
          </a:prstGeom>
          <a:noFill/>
          <a:ln/>
        </p:spPr>
        <p:txBody>
          <a:bodyPr wrap="square" lIns="0" tIns="0" rIns="0" bIns="0" rtlCol="0" anchor="ctr"/>
          <a:lstStyle/>
          <a:p>
            <a:pPr indent="0" marL="0">
              <a:buNone/>
            </a:pPr>
            <a:r>
              <a:rPr lang="en-US" sz="950" dirty="0">
                <a:solidFill>
                  <a:srgbClr val="6B7178"/>
                </a:solidFill>
                <a:latin typeface="Arial" pitchFamily="34" charset="0"/>
                <a:ea typeface="Arial" pitchFamily="34" charset="-122"/>
                <a:cs typeface="Arial" pitchFamily="34" charset="-120"/>
              </a:rPr>
              <a:t>Source: NDIS Review (2023); UNSW, “Pricing disability services for quality support and decent jobs.”</a:t>
            </a:r>
            <a:endParaRPr lang="en-US" sz="950" dirty="0"/>
          </a:p>
        </p:txBody>
      </p:sp>
      <p:sp>
        <p:nvSpPr>
          <p:cNvPr id="7" name="Text 5"/>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C7CCD2"/>
                </a:solidFill>
                <a:latin typeface="Arial" pitchFamily="34" charset="0"/>
                <a:ea typeface="Arial" pitchFamily="34" charset="-122"/>
                <a:cs typeface="Arial" pitchFamily="34" charset="-120"/>
              </a:rPr>
              <a:t>CareOS</a:t>
            </a:r>
            <a:pPr algn="l" indent="0" marL="0">
              <a:buNone/>
            </a:pPr>
            <a:r>
              <a:rPr lang="en-US" sz="900" dirty="0">
                <a:solidFill>
                  <a:srgbClr val="6B7178"/>
                </a:solidFill>
                <a:latin typeface="Arial" pitchFamily="34" charset="0"/>
                <a:ea typeface="Arial" pitchFamily="34" charset="-122"/>
                <a:cs typeface="Arial" pitchFamily="34" charset="-120"/>
              </a:rPr>
              <a:t>   ·   Prepared for Tender Loving Care Group</a:t>
            </a:r>
            <a:endParaRPr lang="en-US" sz="900" dirty="0"/>
          </a:p>
        </p:txBody>
      </p:sp>
      <p:sp>
        <p:nvSpPr>
          <p:cNvPr id="8" name="Text 6"/>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6B7178"/>
                </a:solidFill>
                <a:latin typeface="Arial" pitchFamily="34" charset="0"/>
                <a:ea typeface="Arial" pitchFamily="34" charset="-122"/>
                <a:cs typeface="Arial" pitchFamily="34" charset="-120"/>
              </a:rPr>
              <a:t>04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05   </a:t>
            </a:r>
            <a:pPr algn="l" indent="0" marL="0">
              <a:buNone/>
            </a:pPr>
            <a:r>
              <a:rPr lang="en-US" sz="1150" b="1" spc="200" kern="0" dirty="0">
                <a:solidFill>
                  <a:srgbClr val="596069"/>
                </a:solidFill>
                <a:latin typeface="Arial" pitchFamily="34" charset="0"/>
                <a:ea typeface="Arial" pitchFamily="34" charset="-122"/>
                <a:cs typeface="Arial" pitchFamily="34" charset="-120"/>
              </a:rPr>
              <a:t>LISTENING TO THE FRONTLINE</a:t>
            </a:r>
            <a:endParaRPr lang="en-US" sz="1150" dirty="0"/>
          </a:p>
        </p:txBody>
      </p:sp>
      <p:sp>
        <p:nvSpPr>
          <p:cNvPr id="4" name="Text 2"/>
          <p:cNvSpPr/>
          <p:nvPr/>
        </p:nvSpPr>
        <p:spPr>
          <a:xfrm>
            <a:off x="640080" y="932688"/>
            <a:ext cx="10972800" cy="91440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Support workers don’t want less work. They want less friction.</a:t>
            </a:r>
            <a:endParaRPr lang="en-US" sz="3600" dirty="0"/>
          </a:p>
        </p:txBody>
      </p:sp>
      <p:sp>
        <p:nvSpPr>
          <p:cNvPr id="5" name="Text 3"/>
          <p:cNvSpPr/>
          <p:nvPr/>
        </p:nvSpPr>
        <p:spPr>
          <a:xfrm>
            <a:off x="640080" y="1810512"/>
            <a:ext cx="10424160" cy="502920"/>
          </a:xfrm>
          <a:prstGeom prst="rect">
            <a:avLst/>
          </a:prstGeom>
          <a:noFill/>
          <a:ln/>
        </p:spPr>
        <p:txBody>
          <a:bodyPr wrap="square" lIns="0" tIns="0" rIns="0" bIns="0" rtlCol="0" anchor="ctr"/>
          <a:lstStyle/>
          <a:p>
            <a:pPr algn="l" indent="0" marL="0">
              <a:lnSpc>
                <a:spcPct val="105000"/>
              </a:lnSpc>
              <a:buNone/>
            </a:pPr>
            <a:r>
              <a:rPr lang="en-US" sz="1550" dirty="0">
                <a:solidFill>
                  <a:srgbClr val="596069"/>
                </a:solidFill>
                <a:latin typeface="Arial" pitchFamily="34" charset="0"/>
                <a:ea typeface="Arial" pitchFamily="34" charset="-122"/>
                <a:cs typeface="Arial" pitchFamily="34" charset="-120"/>
              </a:rPr>
              <a:t>Asked what would help most, the answer is rarely “more technology.” It is “more time, and less in my way.”</a:t>
            </a:r>
            <a:endParaRPr lang="en-US" sz="1550" dirty="0"/>
          </a:p>
        </p:txBody>
      </p:sp>
      <p:sp>
        <p:nvSpPr>
          <p:cNvPr id="6" name="Shape 4"/>
          <p:cNvSpPr/>
          <p:nvPr/>
        </p:nvSpPr>
        <p:spPr>
          <a:xfrm>
            <a:off x="640080" y="2834640"/>
            <a:ext cx="603504" cy="603504"/>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96991" y="2991551"/>
            <a:ext cx="289682" cy="289682"/>
          </a:xfrm>
          <a:prstGeom prst="rect">
            <a:avLst/>
          </a:prstGeom>
        </p:spPr>
      </p:pic>
      <p:sp>
        <p:nvSpPr>
          <p:cNvPr id="8" name="Text 5"/>
          <p:cNvSpPr/>
          <p:nvPr/>
        </p:nvSpPr>
        <p:spPr>
          <a:xfrm>
            <a:off x="1463040" y="2788920"/>
            <a:ext cx="4434840" cy="411480"/>
          </a:xfrm>
          <a:prstGeom prst="rect">
            <a:avLst/>
          </a:prstGeom>
          <a:noFill/>
          <a:ln/>
        </p:spPr>
        <p:txBody>
          <a:bodyPr wrap="square" lIns="0" tIns="0" rIns="0" bIns="0" rtlCol="0" anchor="ctr"/>
          <a:lstStyle/>
          <a:p>
            <a:pPr indent="0" marL="0">
              <a:buNone/>
            </a:pPr>
            <a:r>
              <a:rPr lang="en-US" sz="1700" b="1" dirty="0">
                <a:solidFill>
                  <a:srgbClr val="23272E"/>
                </a:solidFill>
                <a:latin typeface="Arial" pitchFamily="34" charset="0"/>
                <a:ea typeface="Arial" pitchFamily="34" charset="-122"/>
                <a:cs typeface="Arial" pitchFamily="34" charset="-120"/>
              </a:rPr>
              <a:t>To be present</a:t>
            </a:r>
            <a:endParaRPr lang="en-US" sz="1700" dirty="0"/>
          </a:p>
        </p:txBody>
      </p:sp>
      <p:sp>
        <p:nvSpPr>
          <p:cNvPr id="9" name="Text 6"/>
          <p:cNvSpPr/>
          <p:nvPr/>
        </p:nvSpPr>
        <p:spPr>
          <a:xfrm>
            <a:off x="1463040" y="3246120"/>
            <a:ext cx="4434840" cy="822960"/>
          </a:xfrm>
          <a:prstGeom prst="rect">
            <a:avLst/>
          </a:prstGeom>
          <a:noFill/>
          <a:ln/>
        </p:spPr>
        <p:txBody>
          <a:bodyPr wrap="square" lIns="0" tIns="0" rIns="0" bIns="0" rtlCol="0" anchor="ctr"/>
          <a:lstStyle/>
          <a:p>
            <a:pPr indent="0" marL="0">
              <a:lnSpc>
                <a:spcPct val="112000"/>
              </a:lnSpc>
              <a:buNone/>
            </a:pPr>
            <a:r>
              <a:rPr lang="en-US" sz="1300" dirty="0">
                <a:solidFill>
                  <a:srgbClr val="596069"/>
                </a:solidFill>
                <a:latin typeface="Arial" pitchFamily="34" charset="0"/>
                <a:ea typeface="Arial" pitchFamily="34" charset="-122"/>
                <a:cs typeface="Arial" pitchFamily="34" charset="-120"/>
              </a:rPr>
              <a:t>To give participants their full attention, not divide it with a clipboard.</a:t>
            </a:r>
            <a:endParaRPr lang="en-US" sz="1300" dirty="0"/>
          </a:p>
        </p:txBody>
      </p:sp>
      <p:sp>
        <p:nvSpPr>
          <p:cNvPr id="10" name="Shape 7"/>
          <p:cNvSpPr/>
          <p:nvPr/>
        </p:nvSpPr>
        <p:spPr>
          <a:xfrm>
            <a:off x="6263640" y="2834640"/>
            <a:ext cx="603504" cy="603504"/>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6420551" y="2991551"/>
            <a:ext cx="289682" cy="289682"/>
          </a:xfrm>
          <a:prstGeom prst="rect">
            <a:avLst/>
          </a:prstGeom>
        </p:spPr>
      </p:pic>
      <p:sp>
        <p:nvSpPr>
          <p:cNvPr id="12" name="Text 8"/>
          <p:cNvSpPr/>
          <p:nvPr/>
        </p:nvSpPr>
        <p:spPr>
          <a:xfrm>
            <a:off x="7086600" y="2788920"/>
            <a:ext cx="4434840" cy="411480"/>
          </a:xfrm>
          <a:prstGeom prst="rect">
            <a:avLst/>
          </a:prstGeom>
          <a:noFill/>
          <a:ln/>
        </p:spPr>
        <p:txBody>
          <a:bodyPr wrap="square" lIns="0" tIns="0" rIns="0" bIns="0" rtlCol="0" anchor="ctr"/>
          <a:lstStyle/>
          <a:p>
            <a:pPr indent="0" marL="0">
              <a:buNone/>
            </a:pPr>
            <a:r>
              <a:rPr lang="en-US" sz="1700" b="1" dirty="0">
                <a:solidFill>
                  <a:srgbClr val="23272E"/>
                </a:solidFill>
                <a:latin typeface="Arial" pitchFamily="34" charset="0"/>
                <a:ea typeface="Arial" pitchFamily="34" charset="-122"/>
                <a:cs typeface="Arial" pitchFamily="34" charset="-120"/>
              </a:rPr>
              <a:t>To record naturally</a:t>
            </a:r>
            <a:endParaRPr lang="en-US" sz="1700" dirty="0"/>
          </a:p>
        </p:txBody>
      </p:sp>
      <p:sp>
        <p:nvSpPr>
          <p:cNvPr id="13" name="Text 9"/>
          <p:cNvSpPr/>
          <p:nvPr/>
        </p:nvSpPr>
        <p:spPr>
          <a:xfrm>
            <a:off x="7086600" y="3246120"/>
            <a:ext cx="4434840" cy="822960"/>
          </a:xfrm>
          <a:prstGeom prst="rect">
            <a:avLst/>
          </a:prstGeom>
          <a:noFill/>
          <a:ln/>
        </p:spPr>
        <p:txBody>
          <a:bodyPr wrap="square" lIns="0" tIns="0" rIns="0" bIns="0" rtlCol="0" anchor="ctr"/>
          <a:lstStyle/>
          <a:p>
            <a:pPr indent="0" marL="0">
              <a:lnSpc>
                <a:spcPct val="112000"/>
              </a:lnSpc>
              <a:buNone/>
            </a:pPr>
            <a:r>
              <a:rPr lang="en-US" sz="1300" dirty="0">
                <a:solidFill>
                  <a:srgbClr val="596069"/>
                </a:solidFill>
                <a:latin typeface="Arial" pitchFamily="34" charset="0"/>
                <a:ea typeface="Arial" pitchFamily="34" charset="-122"/>
                <a:cs typeface="Arial" pitchFamily="34" charset="-120"/>
              </a:rPr>
              <a:t>To capture what happened by speaking, in the moment — not by typing it up hours later.</a:t>
            </a:r>
            <a:endParaRPr lang="en-US" sz="1300" dirty="0"/>
          </a:p>
        </p:txBody>
      </p:sp>
      <p:sp>
        <p:nvSpPr>
          <p:cNvPr id="14" name="Shape 10"/>
          <p:cNvSpPr/>
          <p:nvPr/>
        </p:nvSpPr>
        <p:spPr>
          <a:xfrm>
            <a:off x="640080" y="4389120"/>
            <a:ext cx="603504" cy="603504"/>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96991" y="4546031"/>
            <a:ext cx="289682" cy="289682"/>
          </a:xfrm>
          <a:prstGeom prst="rect">
            <a:avLst/>
          </a:prstGeom>
        </p:spPr>
      </p:pic>
      <p:sp>
        <p:nvSpPr>
          <p:cNvPr id="16" name="Text 11"/>
          <p:cNvSpPr/>
          <p:nvPr/>
        </p:nvSpPr>
        <p:spPr>
          <a:xfrm>
            <a:off x="1463040" y="4343400"/>
            <a:ext cx="4434840" cy="411480"/>
          </a:xfrm>
          <a:prstGeom prst="rect">
            <a:avLst/>
          </a:prstGeom>
          <a:noFill/>
          <a:ln/>
        </p:spPr>
        <p:txBody>
          <a:bodyPr wrap="square" lIns="0" tIns="0" rIns="0" bIns="0" rtlCol="0" anchor="ctr"/>
          <a:lstStyle/>
          <a:p>
            <a:pPr indent="0" marL="0">
              <a:buNone/>
            </a:pPr>
            <a:r>
              <a:rPr lang="en-US" sz="1700" b="1" dirty="0">
                <a:solidFill>
                  <a:srgbClr val="23272E"/>
                </a:solidFill>
                <a:latin typeface="Arial" pitchFamily="34" charset="0"/>
                <a:ea typeface="Arial" pitchFamily="34" charset="-122"/>
                <a:cs typeface="Arial" pitchFamily="34" charset="-120"/>
              </a:rPr>
              <a:t>To be trusted as professionals</a:t>
            </a:r>
            <a:endParaRPr lang="en-US" sz="1700" dirty="0"/>
          </a:p>
        </p:txBody>
      </p:sp>
      <p:sp>
        <p:nvSpPr>
          <p:cNvPr id="17" name="Text 12"/>
          <p:cNvSpPr/>
          <p:nvPr/>
        </p:nvSpPr>
        <p:spPr>
          <a:xfrm>
            <a:off x="1463040" y="4800600"/>
            <a:ext cx="4434840" cy="822960"/>
          </a:xfrm>
          <a:prstGeom prst="rect">
            <a:avLst/>
          </a:prstGeom>
          <a:noFill/>
          <a:ln/>
        </p:spPr>
        <p:txBody>
          <a:bodyPr wrap="square" lIns="0" tIns="0" rIns="0" bIns="0" rtlCol="0" anchor="ctr"/>
          <a:lstStyle/>
          <a:p>
            <a:pPr indent="0" marL="0">
              <a:lnSpc>
                <a:spcPct val="112000"/>
              </a:lnSpc>
              <a:buNone/>
            </a:pPr>
            <a:r>
              <a:rPr lang="en-US" sz="1300" dirty="0">
                <a:solidFill>
                  <a:srgbClr val="596069"/>
                </a:solidFill>
                <a:latin typeface="Arial" pitchFamily="34" charset="0"/>
                <a:ea typeface="Arial" pitchFamily="34" charset="-122"/>
                <a:cs typeface="Arial" pitchFamily="34" charset="-120"/>
              </a:rPr>
              <a:t>To be treated as skilled practitioners, not as a source of labour to be scheduled.</a:t>
            </a:r>
            <a:endParaRPr lang="en-US" sz="1300" dirty="0"/>
          </a:p>
        </p:txBody>
      </p:sp>
      <p:sp>
        <p:nvSpPr>
          <p:cNvPr id="18" name="Shape 13"/>
          <p:cNvSpPr/>
          <p:nvPr/>
        </p:nvSpPr>
        <p:spPr>
          <a:xfrm>
            <a:off x="6263640" y="4389120"/>
            <a:ext cx="603504" cy="603504"/>
          </a:xfrm>
          <a:prstGeom prst="ellipse">
            <a:avLst/>
          </a:prstGeom>
          <a:solidFill>
            <a:srgbClr val="FBEDE1"/>
          </a:solidFill>
          <a:ln/>
        </p:spPr>
      </p:sp>
      <p:pic>
        <p:nvPicPr>
          <p:cNvPr id="19" name="Image 3" descr="preencoded.png">    </p:cNvPr>
          <p:cNvPicPr>
            <a:picLocks noChangeAspect="1"/>
          </p:cNvPicPr>
          <p:nvPr/>
        </p:nvPicPr>
        <p:blipFill>
          <a:blip r:embed="rId4"/>
          <a:stretch>
            <a:fillRect/>
          </a:stretch>
        </p:blipFill>
        <p:spPr>
          <a:xfrm>
            <a:off x="6420551" y="4546031"/>
            <a:ext cx="289682" cy="289682"/>
          </a:xfrm>
          <a:prstGeom prst="rect">
            <a:avLst/>
          </a:prstGeom>
        </p:spPr>
      </p:pic>
      <p:sp>
        <p:nvSpPr>
          <p:cNvPr id="20" name="Text 14"/>
          <p:cNvSpPr/>
          <p:nvPr/>
        </p:nvSpPr>
        <p:spPr>
          <a:xfrm>
            <a:off x="7086600" y="4343400"/>
            <a:ext cx="4434840" cy="411480"/>
          </a:xfrm>
          <a:prstGeom prst="rect">
            <a:avLst/>
          </a:prstGeom>
          <a:noFill/>
          <a:ln/>
        </p:spPr>
        <p:txBody>
          <a:bodyPr wrap="square" lIns="0" tIns="0" rIns="0" bIns="0" rtlCol="0" anchor="ctr"/>
          <a:lstStyle/>
          <a:p>
            <a:pPr indent="0" marL="0">
              <a:buNone/>
            </a:pPr>
            <a:r>
              <a:rPr lang="en-US" sz="1700" b="1" dirty="0">
                <a:solidFill>
                  <a:srgbClr val="23272E"/>
                </a:solidFill>
                <a:latin typeface="Arial" pitchFamily="34" charset="0"/>
                <a:ea typeface="Arial" pitchFamily="34" charset="-122"/>
                <a:cs typeface="Arial" pitchFamily="34" charset="-120"/>
              </a:rPr>
              <a:t>To know they got it right</a:t>
            </a:r>
            <a:endParaRPr lang="en-US" sz="1700" dirty="0"/>
          </a:p>
        </p:txBody>
      </p:sp>
      <p:sp>
        <p:nvSpPr>
          <p:cNvPr id="21" name="Text 15"/>
          <p:cNvSpPr/>
          <p:nvPr/>
        </p:nvSpPr>
        <p:spPr>
          <a:xfrm>
            <a:off x="7086600" y="4800600"/>
            <a:ext cx="4434840" cy="822960"/>
          </a:xfrm>
          <a:prstGeom prst="rect">
            <a:avLst/>
          </a:prstGeom>
          <a:noFill/>
          <a:ln/>
        </p:spPr>
        <p:txBody>
          <a:bodyPr wrap="square" lIns="0" tIns="0" rIns="0" bIns="0" rtlCol="0" anchor="ctr"/>
          <a:lstStyle/>
          <a:p>
            <a:pPr indent="0" marL="0">
              <a:lnSpc>
                <a:spcPct val="112000"/>
              </a:lnSpc>
              <a:buNone/>
            </a:pPr>
            <a:r>
              <a:rPr lang="en-US" sz="1300" dirty="0">
                <a:solidFill>
                  <a:srgbClr val="596069"/>
                </a:solidFill>
                <a:latin typeface="Arial" pitchFamily="34" charset="0"/>
                <a:ea typeface="Arial" pitchFamily="34" charset="-122"/>
                <a:cs typeface="Arial" pitchFamily="34" charset="-120"/>
              </a:rPr>
              <a:t>Confidence that nothing important was missed, and that they’re covered if asked.</a:t>
            </a:r>
            <a:endParaRPr lang="en-US" sz="1300" dirty="0"/>
          </a:p>
        </p:txBody>
      </p:sp>
      <p:sp>
        <p:nvSpPr>
          <p:cNvPr id="22" name="Text 16"/>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23" name="Text 17"/>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05 / 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06   </a:t>
            </a:r>
            <a:pPr algn="l" indent="0" marL="0">
              <a:buNone/>
            </a:pPr>
            <a:r>
              <a:rPr lang="en-US" sz="1150" b="1" spc="200" kern="0" dirty="0">
                <a:solidFill>
                  <a:srgbClr val="596069"/>
                </a:solidFill>
                <a:latin typeface="Arial" pitchFamily="34" charset="0"/>
                <a:ea typeface="Arial" pitchFamily="34" charset="-122"/>
                <a:cs typeface="Arial" pitchFamily="34" charset="-120"/>
              </a:rPr>
              <a:t>THE IDEA</a:t>
            </a:r>
            <a:endParaRPr lang="en-US" sz="1150" dirty="0"/>
          </a:p>
        </p:txBody>
      </p:sp>
      <p:sp>
        <p:nvSpPr>
          <p:cNvPr id="4" name="Text 2"/>
          <p:cNvSpPr/>
          <p:nvPr/>
        </p:nvSpPr>
        <p:spPr>
          <a:xfrm>
            <a:off x="640080" y="932688"/>
            <a:ext cx="10972800" cy="91440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CareOS is not another app. It is an operating system for care.</a:t>
            </a:r>
            <a:endParaRPr lang="en-US" sz="3600" dirty="0"/>
          </a:p>
        </p:txBody>
      </p:sp>
      <p:sp>
        <p:nvSpPr>
          <p:cNvPr id="5" name="Text 3"/>
          <p:cNvSpPr/>
          <p:nvPr/>
        </p:nvSpPr>
        <p:spPr>
          <a:xfrm>
            <a:off x="640080" y="1810512"/>
            <a:ext cx="10424160" cy="502920"/>
          </a:xfrm>
          <a:prstGeom prst="rect">
            <a:avLst/>
          </a:prstGeom>
          <a:noFill/>
          <a:ln/>
        </p:spPr>
        <p:txBody>
          <a:bodyPr wrap="square" lIns="0" tIns="0" rIns="0" bIns="0" rtlCol="0" anchor="ctr"/>
          <a:lstStyle/>
          <a:p>
            <a:pPr algn="l" indent="0" marL="0">
              <a:lnSpc>
                <a:spcPct val="105000"/>
              </a:lnSpc>
              <a:buNone/>
            </a:pPr>
            <a:r>
              <a:rPr lang="en-US" sz="1550" dirty="0">
                <a:solidFill>
                  <a:srgbClr val="596069"/>
                </a:solidFill>
                <a:latin typeface="Arial" pitchFamily="34" charset="0"/>
                <a:ea typeface="Arial" pitchFamily="34" charset="-122"/>
                <a:cs typeface="Arial" pitchFamily="34" charset="-120"/>
              </a:rPr>
              <a:t>One connected ecosystem where everyone around a participant works from the same, single source of truth.</a:t>
            </a:r>
            <a:endParaRPr lang="en-US" sz="1550" dirty="0"/>
          </a:p>
        </p:txBody>
      </p:sp>
      <p:sp>
        <p:nvSpPr>
          <p:cNvPr id="6" name="Shape 4"/>
          <p:cNvSpPr/>
          <p:nvPr/>
        </p:nvSpPr>
        <p:spPr>
          <a:xfrm flipH="1" flipV="1">
            <a:off x="4572000" y="3374136"/>
            <a:ext cx="832104" cy="1472184"/>
          </a:xfrm>
          <a:prstGeom prst="line">
            <a:avLst/>
          </a:prstGeom>
          <a:noFill/>
          <a:ln w="15875">
            <a:solidFill>
              <a:srgbClr val="D5D9DE"/>
            </a:solidFill>
            <a:prstDash val="solid"/>
          </a:ln>
        </p:spPr>
      </p:sp>
      <p:sp>
        <p:nvSpPr>
          <p:cNvPr id="7" name="Shape 5"/>
          <p:cNvSpPr/>
          <p:nvPr/>
        </p:nvSpPr>
        <p:spPr>
          <a:xfrm flipH="1" flipV="1">
            <a:off x="4572000" y="4517136"/>
            <a:ext cx="832104" cy="329184"/>
          </a:xfrm>
          <a:prstGeom prst="line">
            <a:avLst/>
          </a:prstGeom>
          <a:noFill/>
          <a:ln w="15875">
            <a:solidFill>
              <a:srgbClr val="D5D9DE"/>
            </a:solidFill>
            <a:prstDash val="solid"/>
          </a:ln>
        </p:spPr>
      </p:sp>
      <p:sp>
        <p:nvSpPr>
          <p:cNvPr id="8" name="Shape 6"/>
          <p:cNvSpPr/>
          <p:nvPr/>
        </p:nvSpPr>
        <p:spPr>
          <a:xfrm flipH="1">
            <a:off x="4572000" y="4846320"/>
            <a:ext cx="832104" cy="813816"/>
          </a:xfrm>
          <a:prstGeom prst="line">
            <a:avLst/>
          </a:prstGeom>
          <a:noFill/>
          <a:ln w="15875">
            <a:solidFill>
              <a:srgbClr val="D5D9DE"/>
            </a:solidFill>
            <a:prstDash val="solid"/>
          </a:ln>
        </p:spPr>
      </p:sp>
      <p:sp>
        <p:nvSpPr>
          <p:cNvPr id="9" name="Shape 7"/>
          <p:cNvSpPr/>
          <p:nvPr/>
        </p:nvSpPr>
        <p:spPr>
          <a:xfrm flipV="1">
            <a:off x="6775704" y="3374136"/>
            <a:ext cx="859536" cy="1472184"/>
          </a:xfrm>
          <a:prstGeom prst="line">
            <a:avLst/>
          </a:prstGeom>
          <a:noFill/>
          <a:ln w="15875">
            <a:solidFill>
              <a:srgbClr val="D5D9DE"/>
            </a:solidFill>
            <a:prstDash val="solid"/>
          </a:ln>
        </p:spPr>
      </p:sp>
      <p:sp>
        <p:nvSpPr>
          <p:cNvPr id="10" name="Shape 8"/>
          <p:cNvSpPr/>
          <p:nvPr/>
        </p:nvSpPr>
        <p:spPr>
          <a:xfrm flipV="1">
            <a:off x="6775704" y="4517136"/>
            <a:ext cx="859536" cy="329184"/>
          </a:xfrm>
          <a:prstGeom prst="line">
            <a:avLst/>
          </a:prstGeom>
          <a:noFill/>
          <a:ln w="15875">
            <a:solidFill>
              <a:srgbClr val="D5D9DE"/>
            </a:solidFill>
            <a:prstDash val="solid"/>
          </a:ln>
        </p:spPr>
      </p:sp>
      <p:sp>
        <p:nvSpPr>
          <p:cNvPr id="11" name="Shape 9"/>
          <p:cNvSpPr/>
          <p:nvPr/>
        </p:nvSpPr>
        <p:spPr>
          <a:xfrm>
            <a:off x="6775704" y="4846320"/>
            <a:ext cx="859536" cy="813816"/>
          </a:xfrm>
          <a:prstGeom prst="line">
            <a:avLst/>
          </a:prstGeom>
          <a:noFill/>
          <a:ln w="15875">
            <a:solidFill>
              <a:srgbClr val="D5D9DE"/>
            </a:solidFill>
            <a:prstDash val="solid"/>
          </a:ln>
        </p:spPr>
      </p:sp>
      <p:sp>
        <p:nvSpPr>
          <p:cNvPr id="12" name="Shape 10"/>
          <p:cNvSpPr/>
          <p:nvPr/>
        </p:nvSpPr>
        <p:spPr>
          <a:xfrm>
            <a:off x="5404104" y="3474720"/>
            <a:ext cx="1371600" cy="1371600"/>
          </a:xfrm>
          <a:prstGeom prst="ellipse">
            <a:avLst/>
          </a:prstGeom>
          <a:solidFill>
            <a:srgbClr val="DC661F"/>
          </a:solidFill>
          <a:ln/>
          <a:effectLst>
            <a:outerShdw sx="100000" sy="100000" kx="0" ky="0" algn="bl" rotWithShape="0" blurRad="127000" dist="38100" dir="5400000">
              <a:srgbClr val="C24E12">
                <a:alpha val="35000"/>
              </a:srgbClr>
            </a:outerShdw>
          </a:effectLst>
        </p:spPr>
      </p:sp>
      <p:sp>
        <p:nvSpPr>
          <p:cNvPr id="13" name="Text 11"/>
          <p:cNvSpPr/>
          <p:nvPr/>
        </p:nvSpPr>
        <p:spPr>
          <a:xfrm>
            <a:off x="5404104" y="3474720"/>
            <a:ext cx="1371600" cy="13716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CareOS</a:t>
            </a:r>
            <a:endParaRPr lang="en-US" sz="1800" dirty="0"/>
          </a:p>
        </p:txBody>
      </p:sp>
      <p:sp>
        <p:nvSpPr>
          <p:cNvPr id="14" name="Shape 12"/>
          <p:cNvSpPr/>
          <p:nvPr/>
        </p:nvSpPr>
        <p:spPr>
          <a:xfrm>
            <a:off x="2331720" y="3017520"/>
            <a:ext cx="2240280" cy="713232"/>
          </a:xfrm>
          <a:prstGeom prst="roundRect">
            <a:avLst>
              <a:gd name="adj" fmla="val 11538"/>
            </a:avLst>
          </a:prstGeom>
          <a:solidFill>
            <a:srgbClr val="FFFFFF"/>
          </a:solidFill>
          <a:ln w="12700">
            <a:solidFill>
              <a:srgbClr val="E6E9ED"/>
            </a:solidFill>
            <a:prstDash val="solid"/>
          </a:ln>
          <a:effectLst>
            <a:outerShdw sx="100000" sy="100000" kx="0" ky="0" algn="bl" rotWithShape="0" blurRad="76200" dist="25400" dir="5400000">
              <a:srgbClr val="AAB0B8">
                <a:alpha val="18000"/>
              </a:srgbClr>
            </a:outerShdw>
          </a:effectLst>
        </p:spPr>
      </p:sp>
      <p:sp>
        <p:nvSpPr>
          <p:cNvPr id="15" name="Shape 13"/>
          <p:cNvSpPr/>
          <p:nvPr/>
        </p:nvSpPr>
        <p:spPr>
          <a:xfrm>
            <a:off x="2478024" y="3145536"/>
            <a:ext cx="457200" cy="457200"/>
          </a:xfrm>
          <a:prstGeom prst="ellipse">
            <a:avLst/>
          </a:prstGeom>
          <a:solidFill>
            <a:srgbClr val="FBEDE1"/>
          </a:solidFill>
          <a:ln/>
        </p:spPr>
      </p:sp>
      <p:pic>
        <p:nvPicPr>
          <p:cNvPr id="16" name="Image 0" descr="preencoded.png">    </p:cNvPr>
          <p:cNvPicPr>
            <a:picLocks noChangeAspect="1"/>
          </p:cNvPicPr>
          <p:nvPr/>
        </p:nvPicPr>
        <p:blipFill>
          <a:blip r:embed="rId1"/>
          <a:stretch>
            <a:fillRect/>
          </a:stretch>
        </p:blipFill>
        <p:spPr>
          <a:xfrm>
            <a:off x="2596896" y="3264408"/>
            <a:ext cx="219456" cy="219456"/>
          </a:xfrm>
          <a:prstGeom prst="rect">
            <a:avLst/>
          </a:prstGeom>
        </p:spPr>
      </p:pic>
      <p:sp>
        <p:nvSpPr>
          <p:cNvPr id="17" name="Text 14"/>
          <p:cNvSpPr/>
          <p:nvPr/>
        </p:nvSpPr>
        <p:spPr>
          <a:xfrm>
            <a:off x="3008376" y="3017520"/>
            <a:ext cx="1463040" cy="713232"/>
          </a:xfrm>
          <a:prstGeom prst="rect">
            <a:avLst/>
          </a:prstGeom>
          <a:noFill/>
          <a:ln/>
        </p:spPr>
        <p:txBody>
          <a:bodyPr wrap="square" lIns="0" tIns="0" rIns="0" bIns="0" rtlCol="0" anchor="ctr"/>
          <a:lstStyle/>
          <a:p>
            <a:pPr algn="l" indent="0" marL="0">
              <a:buNone/>
            </a:pPr>
            <a:r>
              <a:rPr lang="en-US" sz="1350" b="1" dirty="0">
                <a:solidFill>
                  <a:srgbClr val="23272E"/>
                </a:solidFill>
                <a:latin typeface="Arial" pitchFamily="34" charset="0"/>
                <a:ea typeface="Arial" pitchFamily="34" charset="-122"/>
                <a:cs typeface="Arial" pitchFamily="34" charset="-120"/>
              </a:rPr>
              <a:t>Participants</a:t>
            </a:r>
            <a:endParaRPr lang="en-US" sz="1350" dirty="0"/>
          </a:p>
        </p:txBody>
      </p:sp>
      <p:sp>
        <p:nvSpPr>
          <p:cNvPr id="18" name="Shape 15"/>
          <p:cNvSpPr/>
          <p:nvPr/>
        </p:nvSpPr>
        <p:spPr>
          <a:xfrm>
            <a:off x="2331720" y="4160520"/>
            <a:ext cx="2240280" cy="713232"/>
          </a:xfrm>
          <a:prstGeom prst="roundRect">
            <a:avLst>
              <a:gd name="adj" fmla="val 11538"/>
            </a:avLst>
          </a:prstGeom>
          <a:solidFill>
            <a:srgbClr val="FFFFFF"/>
          </a:solidFill>
          <a:ln w="12700">
            <a:solidFill>
              <a:srgbClr val="E6E9ED"/>
            </a:solidFill>
            <a:prstDash val="solid"/>
          </a:ln>
          <a:effectLst>
            <a:outerShdw sx="100000" sy="100000" kx="0" ky="0" algn="bl" rotWithShape="0" blurRad="76200" dist="25400" dir="5400000">
              <a:srgbClr val="AAB0B8">
                <a:alpha val="18000"/>
              </a:srgbClr>
            </a:outerShdw>
          </a:effectLst>
        </p:spPr>
      </p:sp>
      <p:sp>
        <p:nvSpPr>
          <p:cNvPr id="19" name="Shape 16"/>
          <p:cNvSpPr/>
          <p:nvPr/>
        </p:nvSpPr>
        <p:spPr>
          <a:xfrm>
            <a:off x="2478024" y="4288536"/>
            <a:ext cx="457200" cy="457200"/>
          </a:xfrm>
          <a:prstGeom prst="ellipse">
            <a:avLst/>
          </a:prstGeom>
          <a:solidFill>
            <a:srgbClr val="FBEDE1"/>
          </a:solidFill>
          <a:ln/>
        </p:spPr>
      </p:sp>
      <p:pic>
        <p:nvPicPr>
          <p:cNvPr id="20" name="Image 1" descr="preencoded.png">    </p:cNvPr>
          <p:cNvPicPr>
            <a:picLocks noChangeAspect="1"/>
          </p:cNvPicPr>
          <p:nvPr/>
        </p:nvPicPr>
        <p:blipFill>
          <a:blip r:embed="rId2"/>
          <a:stretch>
            <a:fillRect/>
          </a:stretch>
        </p:blipFill>
        <p:spPr>
          <a:xfrm>
            <a:off x="2596896" y="4407408"/>
            <a:ext cx="219456" cy="219456"/>
          </a:xfrm>
          <a:prstGeom prst="rect">
            <a:avLst/>
          </a:prstGeom>
        </p:spPr>
      </p:pic>
      <p:sp>
        <p:nvSpPr>
          <p:cNvPr id="21" name="Text 17"/>
          <p:cNvSpPr/>
          <p:nvPr/>
        </p:nvSpPr>
        <p:spPr>
          <a:xfrm>
            <a:off x="3008376" y="4160520"/>
            <a:ext cx="1463040" cy="713232"/>
          </a:xfrm>
          <a:prstGeom prst="rect">
            <a:avLst/>
          </a:prstGeom>
          <a:noFill/>
          <a:ln/>
        </p:spPr>
        <p:txBody>
          <a:bodyPr wrap="square" lIns="0" tIns="0" rIns="0" bIns="0" rtlCol="0" anchor="ctr"/>
          <a:lstStyle/>
          <a:p>
            <a:pPr algn="l" indent="0" marL="0">
              <a:buNone/>
            </a:pPr>
            <a:r>
              <a:rPr lang="en-US" sz="1350" b="1" dirty="0">
                <a:solidFill>
                  <a:srgbClr val="23272E"/>
                </a:solidFill>
                <a:latin typeface="Arial" pitchFamily="34" charset="0"/>
                <a:ea typeface="Arial" pitchFamily="34" charset="-122"/>
                <a:cs typeface="Arial" pitchFamily="34" charset="-120"/>
              </a:rPr>
              <a:t>Families</a:t>
            </a:r>
            <a:endParaRPr lang="en-US" sz="1350" dirty="0"/>
          </a:p>
        </p:txBody>
      </p:sp>
      <p:sp>
        <p:nvSpPr>
          <p:cNvPr id="22" name="Shape 18"/>
          <p:cNvSpPr/>
          <p:nvPr/>
        </p:nvSpPr>
        <p:spPr>
          <a:xfrm>
            <a:off x="2331720" y="5303520"/>
            <a:ext cx="2240280" cy="713232"/>
          </a:xfrm>
          <a:prstGeom prst="roundRect">
            <a:avLst>
              <a:gd name="adj" fmla="val 11538"/>
            </a:avLst>
          </a:prstGeom>
          <a:solidFill>
            <a:srgbClr val="FFFFFF"/>
          </a:solidFill>
          <a:ln w="12700">
            <a:solidFill>
              <a:srgbClr val="E6E9ED"/>
            </a:solidFill>
            <a:prstDash val="solid"/>
          </a:ln>
          <a:effectLst>
            <a:outerShdw sx="100000" sy="100000" kx="0" ky="0" algn="bl" rotWithShape="0" blurRad="76200" dist="25400" dir="5400000">
              <a:srgbClr val="AAB0B8">
                <a:alpha val="18000"/>
              </a:srgbClr>
            </a:outerShdw>
          </a:effectLst>
        </p:spPr>
      </p:sp>
      <p:sp>
        <p:nvSpPr>
          <p:cNvPr id="23" name="Shape 19"/>
          <p:cNvSpPr/>
          <p:nvPr/>
        </p:nvSpPr>
        <p:spPr>
          <a:xfrm>
            <a:off x="2478024" y="5431536"/>
            <a:ext cx="457200" cy="457200"/>
          </a:xfrm>
          <a:prstGeom prst="ellipse">
            <a:avLst/>
          </a:prstGeom>
          <a:solidFill>
            <a:srgbClr val="FBEDE1"/>
          </a:solidFill>
          <a:ln/>
        </p:spPr>
      </p:sp>
      <p:pic>
        <p:nvPicPr>
          <p:cNvPr id="24" name="Image 2" descr="preencoded.png">    </p:cNvPr>
          <p:cNvPicPr>
            <a:picLocks noChangeAspect="1"/>
          </p:cNvPicPr>
          <p:nvPr/>
        </p:nvPicPr>
        <p:blipFill>
          <a:blip r:embed="rId3"/>
          <a:stretch>
            <a:fillRect/>
          </a:stretch>
        </p:blipFill>
        <p:spPr>
          <a:xfrm>
            <a:off x="2596896" y="5550408"/>
            <a:ext cx="219456" cy="219456"/>
          </a:xfrm>
          <a:prstGeom prst="rect">
            <a:avLst/>
          </a:prstGeom>
        </p:spPr>
      </p:pic>
      <p:sp>
        <p:nvSpPr>
          <p:cNvPr id="25" name="Text 20"/>
          <p:cNvSpPr/>
          <p:nvPr/>
        </p:nvSpPr>
        <p:spPr>
          <a:xfrm>
            <a:off x="3008376" y="5303520"/>
            <a:ext cx="1463040" cy="713232"/>
          </a:xfrm>
          <a:prstGeom prst="rect">
            <a:avLst/>
          </a:prstGeom>
          <a:noFill/>
          <a:ln/>
        </p:spPr>
        <p:txBody>
          <a:bodyPr wrap="square" lIns="0" tIns="0" rIns="0" bIns="0" rtlCol="0" anchor="ctr"/>
          <a:lstStyle/>
          <a:p>
            <a:pPr algn="l" indent="0" marL="0">
              <a:buNone/>
            </a:pPr>
            <a:r>
              <a:rPr lang="en-US" sz="1350" b="1" dirty="0">
                <a:solidFill>
                  <a:srgbClr val="23272E"/>
                </a:solidFill>
                <a:latin typeface="Arial" pitchFamily="34" charset="0"/>
                <a:ea typeface="Arial" pitchFamily="34" charset="-122"/>
                <a:cs typeface="Arial" pitchFamily="34" charset="-120"/>
              </a:rPr>
              <a:t>Support workers</a:t>
            </a:r>
            <a:endParaRPr lang="en-US" sz="1350" dirty="0"/>
          </a:p>
        </p:txBody>
      </p:sp>
      <p:sp>
        <p:nvSpPr>
          <p:cNvPr id="26" name="Shape 21"/>
          <p:cNvSpPr/>
          <p:nvPr/>
        </p:nvSpPr>
        <p:spPr>
          <a:xfrm>
            <a:off x="7635240" y="3017520"/>
            <a:ext cx="2240280" cy="713232"/>
          </a:xfrm>
          <a:prstGeom prst="roundRect">
            <a:avLst>
              <a:gd name="adj" fmla="val 11538"/>
            </a:avLst>
          </a:prstGeom>
          <a:solidFill>
            <a:srgbClr val="FFFFFF"/>
          </a:solidFill>
          <a:ln w="12700">
            <a:solidFill>
              <a:srgbClr val="E6E9ED"/>
            </a:solidFill>
            <a:prstDash val="solid"/>
          </a:ln>
          <a:effectLst>
            <a:outerShdw sx="100000" sy="100000" kx="0" ky="0" algn="bl" rotWithShape="0" blurRad="76200" dist="25400" dir="5400000">
              <a:srgbClr val="AAB0B8">
                <a:alpha val="18000"/>
              </a:srgbClr>
            </a:outerShdw>
          </a:effectLst>
        </p:spPr>
      </p:sp>
      <p:sp>
        <p:nvSpPr>
          <p:cNvPr id="27" name="Shape 22"/>
          <p:cNvSpPr/>
          <p:nvPr/>
        </p:nvSpPr>
        <p:spPr>
          <a:xfrm>
            <a:off x="7781544" y="3145536"/>
            <a:ext cx="457200" cy="457200"/>
          </a:xfrm>
          <a:prstGeom prst="ellipse">
            <a:avLst/>
          </a:prstGeom>
          <a:solidFill>
            <a:srgbClr val="FBEDE1"/>
          </a:solidFill>
          <a:ln/>
        </p:spPr>
      </p:sp>
      <p:pic>
        <p:nvPicPr>
          <p:cNvPr id="28" name="Image 3" descr="preencoded.png">    </p:cNvPr>
          <p:cNvPicPr>
            <a:picLocks noChangeAspect="1"/>
          </p:cNvPicPr>
          <p:nvPr/>
        </p:nvPicPr>
        <p:blipFill>
          <a:blip r:embed="rId4"/>
          <a:stretch>
            <a:fillRect/>
          </a:stretch>
        </p:blipFill>
        <p:spPr>
          <a:xfrm>
            <a:off x="7900416" y="3264408"/>
            <a:ext cx="219456" cy="219456"/>
          </a:xfrm>
          <a:prstGeom prst="rect">
            <a:avLst/>
          </a:prstGeom>
        </p:spPr>
      </p:pic>
      <p:sp>
        <p:nvSpPr>
          <p:cNvPr id="29" name="Text 23"/>
          <p:cNvSpPr/>
          <p:nvPr/>
        </p:nvSpPr>
        <p:spPr>
          <a:xfrm>
            <a:off x="8311896" y="3017520"/>
            <a:ext cx="1463040" cy="713232"/>
          </a:xfrm>
          <a:prstGeom prst="rect">
            <a:avLst/>
          </a:prstGeom>
          <a:noFill/>
          <a:ln/>
        </p:spPr>
        <p:txBody>
          <a:bodyPr wrap="square" lIns="0" tIns="0" rIns="0" bIns="0" rtlCol="0" anchor="ctr"/>
          <a:lstStyle/>
          <a:p>
            <a:pPr algn="l" indent="0" marL="0">
              <a:buNone/>
            </a:pPr>
            <a:r>
              <a:rPr lang="en-US" sz="1350" b="1" dirty="0">
                <a:solidFill>
                  <a:srgbClr val="23272E"/>
                </a:solidFill>
                <a:latin typeface="Arial" pitchFamily="34" charset="0"/>
                <a:ea typeface="Arial" pitchFamily="34" charset="-122"/>
                <a:cs typeface="Arial" pitchFamily="34" charset="-120"/>
              </a:rPr>
              <a:t>Coordinators</a:t>
            </a:r>
            <a:endParaRPr lang="en-US" sz="1350" dirty="0"/>
          </a:p>
        </p:txBody>
      </p:sp>
      <p:sp>
        <p:nvSpPr>
          <p:cNvPr id="30" name="Shape 24"/>
          <p:cNvSpPr/>
          <p:nvPr/>
        </p:nvSpPr>
        <p:spPr>
          <a:xfrm>
            <a:off x="7635240" y="4160520"/>
            <a:ext cx="2240280" cy="713232"/>
          </a:xfrm>
          <a:prstGeom prst="roundRect">
            <a:avLst>
              <a:gd name="adj" fmla="val 11538"/>
            </a:avLst>
          </a:prstGeom>
          <a:solidFill>
            <a:srgbClr val="FFFFFF"/>
          </a:solidFill>
          <a:ln w="12700">
            <a:solidFill>
              <a:srgbClr val="E6E9ED"/>
            </a:solidFill>
            <a:prstDash val="solid"/>
          </a:ln>
          <a:effectLst>
            <a:outerShdw sx="100000" sy="100000" kx="0" ky="0" algn="bl" rotWithShape="0" blurRad="76200" dist="25400" dir="5400000">
              <a:srgbClr val="AAB0B8">
                <a:alpha val="18000"/>
              </a:srgbClr>
            </a:outerShdw>
          </a:effectLst>
        </p:spPr>
      </p:sp>
      <p:sp>
        <p:nvSpPr>
          <p:cNvPr id="31" name="Shape 25"/>
          <p:cNvSpPr/>
          <p:nvPr/>
        </p:nvSpPr>
        <p:spPr>
          <a:xfrm>
            <a:off x="7781544" y="4288536"/>
            <a:ext cx="457200" cy="457200"/>
          </a:xfrm>
          <a:prstGeom prst="ellipse">
            <a:avLst/>
          </a:prstGeom>
          <a:solidFill>
            <a:srgbClr val="FBEDE1"/>
          </a:solidFill>
          <a:ln/>
        </p:spPr>
      </p:sp>
      <p:pic>
        <p:nvPicPr>
          <p:cNvPr id="32" name="Image 4" descr="preencoded.png">    </p:cNvPr>
          <p:cNvPicPr>
            <a:picLocks noChangeAspect="1"/>
          </p:cNvPicPr>
          <p:nvPr/>
        </p:nvPicPr>
        <p:blipFill>
          <a:blip r:embed="rId5"/>
          <a:stretch>
            <a:fillRect/>
          </a:stretch>
        </p:blipFill>
        <p:spPr>
          <a:xfrm>
            <a:off x="7900416" y="4407408"/>
            <a:ext cx="219456" cy="219456"/>
          </a:xfrm>
          <a:prstGeom prst="rect">
            <a:avLst/>
          </a:prstGeom>
        </p:spPr>
      </p:pic>
      <p:sp>
        <p:nvSpPr>
          <p:cNvPr id="33" name="Text 26"/>
          <p:cNvSpPr/>
          <p:nvPr/>
        </p:nvSpPr>
        <p:spPr>
          <a:xfrm>
            <a:off x="8311896" y="4160520"/>
            <a:ext cx="1463040" cy="713232"/>
          </a:xfrm>
          <a:prstGeom prst="rect">
            <a:avLst/>
          </a:prstGeom>
          <a:noFill/>
          <a:ln/>
        </p:spPr>
        <p:txBody>
          <a:bodyPr wrap="square" lIns="0" tIns="0" rIns="0" bIns="0" rtlCol="0" anchor="ctr"/>
          <a:lstStyle/>
          <a:p>
            <a:pPr algn="l" indent="0" marL="0">
              <a:buNone/>
            </a:pPr>
            <a:r>
              <a:rPr lang="en-US" sz="1350" b="1" dirty="0">
                <a:solidFill>
                  <a:srgbClr val="23272E"/>
                </a:solidFill>
                <a:latin typeface="Arial" pitchFamily="34" charset="0"/>
                <a:ea typeface="Arial" pitchFamily="34" charset="-122"/>
                <a:cs typeface="Arial" pitchFamily="34" charset="-120"/>
              </a:rPr>
              <a:t>Managers</a:t>
            </a:r>
            <a:endParaRPr lang="en-US" sz="1350" dirty="0"/>
          </a:p>
        </p:txBody>
      </p:sp>
      <p:sp>
        <p:nvSpPr>
          <p:cNvPr id="34" name="Shape 27"/>
          <p:cNvSpPr/>
          <p:nvPr/>
        </p:nvSpPr>
        <p:spPr>
          <a:xfrm>
            <a:off x="7635240" y="5303520"/>
            <a:ext cx="2240280" cy="713232"/>
          </a:xfrm>
          <a:prstGeom prst="roundRect">
            <a:avLst>
              <a:gd name="adj" fmla="val 11538"/>
            </a:avLst>
          </a:prstGeom>
          <a:solidFill>
            <a:srgbClr val="FFFFFF"/>
          </a:solidFill>
          <a:ln w="12700">
            <a:solidFill>
              <a:srgbClr val="E6E9ED"/>
            </a:solidFill>
            <a:prstDash val="solid"/>
          </a:ln>
          <a:effectLst>
            <a:outerShdw sx="100000" sy="100000" kx="0" ky="0" algn="bl" rotWithShape="0" blurRad="76200" dist="25400" dir="5400000">
              <a:srgbClr val="AAB0B8">
                <a:alpha val="18000"/>
              </a:srgbClr>
            </a:outerShdw>
          </a:effectLst>
        </p:spPr>
      </p:sp>
      <p:sp>
        <p:nvSpPr>
          <p:cNvPr id="35" name="Shape 28"/>
          <p:cNvSpPr/>
          <p:nvPr/>
        </p:nvSpPr>
        <p:spPr>
          <a:xfrm>
            <a:off x="7781544" y="5431536"/>
            <a:ext cx="457200" cy="457200"/>
          </a:xfrm>
          <a:prstGeom prst="ellipse">
            <a:avLst/>
          </a:prstGeom>
          <a:solidFill>
            <a:srgbClr val="FBEDE1"/>
          </a:solidFill>
          <a:ln/>
        </p:spPr>
      </p:sp>
      <p:pic>
        <p:nvPicPr>
          <p:cNvPr id="36" name="Image 5" descr="preencoded.png">    </p:cNvPr>
          <p:cNvPicPr>
            <a:picLocks noChangeAspect="1"/>
          </p:cNvPicPr>
          <p:nvPr/>
        </p:nvPicPr>
        <p:blipFill>
          <a:blip r:embed="rId6"/>
          <a:stretch>
            <a:fillRect/>
          </a:stretch>
        </p:blipFill>
        <p:spPr>
          <a:xfrm>
            <a:off x="7900416" y="5550408"/>
            <a:ext cx="219456" cy="219456"/>
          </a:xfrm>
          <a:prstGeom prst="rect">
            <a:avLst/>
          </a:prstGeom>
        </p:spPr>
      </p:pic>
      <p:sp>
        <p:nvSpPr>
          <p:cNvPr id="37" name="Text 29"/>
          <p:cNvSpPr/>
          <p:nvPr/>
        </p:nvSpPr>
        <p:spPr>
          <a:xfrm>
            <a:off x="8311896" y="5303520"/>
            <a:ext cx="1463040" cy="713232"/>
          </a:xfrm>
          <a:prstGeom prst="rect">
            <a:avLst/>
          </a:prstGeom>
          <a:noFill/>
          <a:ln/>
        </p:spPr>
        <p:txBody>
          <a:bodyPr wrap="square" lIns="0" tIns="0" rIns="0" bIns="0" rtlCol="0" anchor="ctr"/>
          <a:lstStyle/>
          <a:p>
            <a:pPr algn="l" indent="0" marL="0">
              <a:buNone/>
            </a:pPr>
            <a:r>
              <a:rPr lang="en-US" sz="1350" b="1" dirty="0">
                <a:solidFill>
                  <a:srgbClr val="23272E"/>
                </a:solidFill>
                <a:latin typeface="Arial" pitchFamily="34" charset="0"/>
                <a:ea typeface="Arial" pitchFamily="34" charset="-122"/>
                <a:cs typeface="Arial" pitchFamily="34" charset="-120"/>
              </a:rPr>
              <a:t>Executives</a:t>
            </a:r>
            <a:endParaRPr lang="en-US" sz="1350" dirty="0"/>
          </a:p>
        </p:txBody>
      </p:sp>
      <p:sp>
        <p:nvSpPr>
          <p:cNvPr id="38" name="Text 30"/>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39" name="Text 31"/>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06 / 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07   </a:t>
            </a:r>
            <a:pPr algn="l" indent="0" marL="0">
              <a:buNone/>
            </a:pPr>
            <a:r>
              <a:rPr lang="en-US" sz="1150" b="1" spc="200" kern="0" dirty="0">
                <a:solidFill>
                  <a:srgbClr val="596069"/>
                </a:solidFill>
                <a:latin typeface="Arial" pitchFamily="34" charset="0"/>
                <a:ea typeface="Arial" pitchFamily="34" charset="-122"/>
                <a:cs typeface="Arial" pitchFamily="34" charset="-120"/>
              </a:rPr>
              <a:t>EXPERIENCE · THE PARTICIPANT</a:t>
            </a:r>
            <a:endParaRPr lang="en-US" sz="1150" dirty="0"/>
          </a:p>
        </p:txBody>
      </p:sp>
      <p:sp>
        <p:nvSpPr>
          <p:cNvPr id="4" name="Text 2"/>
          <p:cNvSpPr/>
          <p:nvPr/>
        </p:nvSpPr>
        <p:spPr>
          <a:xfrm>
            <a:off x="640080" y="932688"/>
            <a:ext cx="5852160" cy="914400"/>
          </a:xfrm>
          <a:prstGeom prst="rect">
            <a:avLst/>
          </a:prstGeom>
          <a:noFill/>
          <a:ln/>
        </p:spPr>
        <p:txBody>
          <a:bodyPr wrap="square" lIns="0" tIns="0" rIns="0" bIns="0" rtlCol="0" anchor="ctr"/>
          <a:lstStyle/>
          <a:p>
            <a:pPr indent="0" marL="0">
              <a:buNone/>
            </a:pPr>
            <a:r>
              <a:rPr lang="en-US" sz="3200" b="1" dirty="0">
                <a:solidFill>
                  <a:srgbClr val="23272E"/>
                </a:solidFill>
                <a:latin typeface="Arial" pitchFamily="34" charset="0"/>
                <a:ea typeface="Arial" pitchFamily="34" charset="-122"/>
                <a:cs typeface="Arial" pitchFamily="34" charset="-120"/>
              </a:rPr>
              <a:t>The participant, at the centre — not the paperwork.</a:t>
            </a:r>
            <a:endParaRPr lang="en-US" sz="3200" dirty="0"/>
          </a:p>
        </p:txBody>
      </p:sp>
      <p:sp>
        <p:nvSpPr>
          <p:cNvPr id="5" name="Text 3"/>
          <p:cNvSpPr/>
          <p:nvPr/>
        </p:nvSpPr>
        <p:spPr>
          <a:xfrm>
            <a:off x="640080" y="1965960"/>
            <a:ext cx="5577840" cy="914400"/>
          </a:xfrm>
          <a:prstGeom prst="rect">
            <a:avLst/>
          </a:prstGeom>
          <a:noFill/>
          <a:ln/>
        </p:spPr>
        <p:txBody>
          <a:bodyPr wrap="square" lIns="0" tIns="0" rIns="0" bIns="0" rtlCol="0" anchor="ctr"/>
          <a:lstStyle/>
          <a:p>
            <a:pPr indent="0" marL="0">
              <a:lnSpc>
                <a:spcPct val="118000"/>
              </a:lnSpc>
              <a:buNone/>
            </a:pPr>
            <a:r>
              <a:rPr lang="en-US" sz="1500" dirty="0">
                <a:solidFill>
                  <a:srgbClr val="596069"/>
                </a:solidFill>
                <a:latin typeface="Arial" pitchFamily="34" charset="0"/>
                <a:ea typeface="Arial" pitchFamily="34" charset="-122"/>
                <a:cs typeface="Arial" pitchFamily="34" charset="-120"/>
              </a:rPr>
              <a:t>A living profile that travels with the person: who they are, what a good day looks like, and the goals they’re working toward.</a:t>
            </a:r>
            <a:endParaRPr lang="en-US" sz="1500" dirty="0"/>
          </a:p>
        </p:txBody>
      </p:sp>
      <p:sp>
        <p:nvSpPr>
          <p:cNvPr id="6" name="Shape 4"/>
          <p:cNvSpPr/>
          <p:nvPr/>
        </p:nvSpPr>
        <p:spPr>
          <a:xfrm>
            <a:off x="640080" y="320040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3343046"/>
            <a:ext cx="263347" cy="263347"/>
          </a:xfrm>
          <a:prstGeom prst="rect">
            <a:avLst/>
          </a:prstGeom>
        </p:spPr>
      </p:pic>
      <p:sp>
        <p:nvSpPr>
          <p:cNvPr id="8" name="Text 5"/>
          <p:cNvSpPr/>
          <p:nvPr/>
        </p:nvSpPr>
        <p:spPr>
          <a:xfrm>
            <a:off x="1389888" y="3163824"/>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One profile, always current</a:t>
            </a:r>
            <a:endParaRPr lang="en-US" sz="1550" dirty="0"/>
          </a:p>
        </p:txBody>
      </p:sp>
      <p:sp>
        <p:nvSpPr>
          <p:cNvPr id="9" name="Text 6"/>
          <p:cNvSpPr/>
          <p:nvPr/>
        </p:nvSpPr>
        <p:spPr>
          <a:xfrm>
            <a:off x="1389888" y="3529584"/>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Support plans, preferences and history in a single place.</a:t>
            </a:r>
            <a:endParaRPr lang="en-US" sz="1250" dirty="0"/>
          </a:p>
        </p:txBody>
      </p:sp>
      <p:sp>
        <p:nvSpPr>
          <p:cNvPr id="10" name="Shape 7"/>
          <p:cNvSpPr/>
          <p:nvPr/>
        </p:nvSpPr>
        <p:spPr>
          <a:xfrm>
            <a:off x="640080" y="4133088"/>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4275734"/>
            <a:ext cx="263347" cy="263347"/>
          </a:xfrm>
          <a:prstGeom prst="rect">
            <a:avLst/>
          </a:prstGeom>
        </p:spPr>
      </p:pic>
      <p:sp>
        <p:nvSpPr>
          <p:cNvPr id="12" name="Text 8"/>
          <p:cNvSpPr/>
          <p:nvPr/>
        </p:nvSpPr>
        <p:spPr>
          <a:xfrm>
            <a:off x="1389888" y="4096512"/>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Goals that stay visible</a:t>
            </a:r>
            <a:endParaRPr lang="en-US" sz="1550" dirty="0"/>
          </a:p>
        </p:txBody>
      </p:sp>
      <p:sp>
        <p:nvSpPr>
          <p:cNvPr id="13" name="Text 9"/>
          <p:cNvSpPr/>
          <p:nvPr/>
        </p:nvSpPr>
        <p:spPr>
          <a:xfrm>
            <a:off x="1389888" y="4462272"/>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Progress is tracked as it happens, not reconstructed later.</a:t>
            </a:r>
            <a:endParaRPr lang="en-US" sz="1250" dirty="0"/>
          </a:p>
        </p:txBody>
      </p:sp>
      <p:sp>
        <p:nvSpPr>
          <p:cNvPr id="14" name="Shape 10"/>
          <p:cNvSpPr/>
          <p:nvPr/>
        </p:nvSpPr>
        <p:spPr>
          <a:xfrm>
            <a:off x="640080" y="5065776"/>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5208422"/>
            <a:ext cx="263347" cy="263347"/>
          </a:xfrm>
          <a:prstGeom prst="rect">
            <a:avLst/>
          </a:prstGeom>
        </p:spPr>
      </p:pic>
      <p:sp>
        <p:nvSpPr>
          <p:cNvPr id="16" name="Text 11"/>
          <p:cNvSpPr/>
          <p:nvPr/>
        </p:nvSpPr>
        <p:spPr>
          <a:xfrm>
            <a:off x="1389888" y="5029200"/>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Their story, respected</a:t>
            </a:r>
            <a:endParaRPr lang="en-US" sz="1550" dirty="0"/>
          </a:p>
        </p:txBody>
      </p:sp>
      <p:sp>
        <p:nvSpPr>
          <p:cNvPr id="17" name="Text 12"/>
          <p:cNvSpPr/>
          <p:nvPr/>
        </p:nvSpPr>
        <p:spPr>
          <a:xfrm>
            <a:off x="1389888" y="5394960"/>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Communication style and sensory needs travel with every worker.</a:t>
            </a:r>
            <a:endParaRPr lang="en-US" sz="1250" dirty="0"/>
          </a:p>
        </p:txBody>
      </p:sp>
      <p:sp>
        <p:nvSpPr>
          <p:cNvPr id="18" name="Shape 13"/>
          <p:cNvSpPr/>
          <p:nvPr/>
        </p:nvSpPr>
        <p:spPr>
          <a:xfrm>
            <a:off x="7040880" y="1417320"/>
            <a:ext cx="4526280" cy="4480560"/>
          </a:xfrm>
          <a:prstGeom prst="roundRect">
            <a:avLst>
              <a:gd name="adj" fmla="val 2449"/>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19" name="Shape 14"/>
          <p:cNvSpPr/>
          <p:nvPr/>
        </p:nvSpPr>
        <p:spPr>
          <a:xfrm>
            <a:off x="7040880" y="1417320"/>
            <a:ext cx="4526280" cy="457200"/>
          </a:xfrm>
          <a:prstGeom prst="roundRect">
            <a:avLst>
              <a:gd name="adj" fmla="val 24000"/>
            </a:avLst>
          </a:prstGeom>
          <a:solidFill>
            <a:srgbClr val="F5F6F8"/>
          </a:solidFill>
          <a:ln/>
        </p:spPr>
      </p:sp>
      <p:sp>
        <p:nvSpPr>
          <p:cNvPr id="20" name="Shape 15"/>
          <p:cNvSpPr/>
          <p:nvPr/>
        </p:nvSpPr>
        <p:spPr>
          <a:xfrm>
            <a:off x="7040880" y="1737360"/>
            <a:ext cx="4526280" cy="146304"/>
          </a:xfrm>
          <a:prstGeom prst="rect">
            <a:avLst/>
          </a:prstGeom>
          <a:solidFill>
            <a:srgbClr val="F5F6F8"/>
          </a:solidFill>
          <a:ln/>
        </p:spPr>
      </p:sp>
      <p:sp>
        <p:nvSpPr>
          <p:cNvPr id="21" name="Shape 16"/>
          <p:cNvSpPr/>
          <p:nvPr/>
        </p:nvSpPr>
        <p:spPr>
          <a:xfrm>
            <a:off x="7242048" y="1581912"/>
            <a:ext cx="118872" cy="118872"/>
          </a:xfrm>
          <a:prstGeom prst="ellipse">
            <a:avLst/>
          </a:prstGeom>
          <a:solidFill>
            <a:srgbClr val="E06B5A"/>
          </a:solidFill>
          <a:ln/>
        </p:spPr>
      </p:sp>
      <p:sp>
        <p:nvSpPr>
          <p:cNvPr id="22" name="Shape 17"/>
          <p:cNvSpPr/>
          <p:nvPr/>
        </p:nvSpPr>
        <p:spPr>
          <a:xfrm>
            <a:off x="7443216" y="1581912"/>
            <a:ext cx="118872" cy="118872"/>
          </a:xfrm>
          <a:prstGeom prst="ellipse">
            <a:avLst/>
          </a:prstGeom>
          <a:solidFill>
            <a:srgbClr val="E7B54D"/>
          </a:solidFill>
          <a:ln/>
        </p:spPr>
      </p:sp>
      <p:sp>
        <p:nvSpPr>
          <p:cNvPr id="23" name="Shape 18"/>
          <p:cNvSpPr/>
          <p:nvPr/>
        </p:nvSpPr>
        <p:spPr>
          <a:xfrm>
            <a:off x="7644384" y="1581912"/>
            <a:ext cx="118872" cy="118872"/>
          </a:xfrm>
          <a:prstGeom prst="ellipse">
            <a:avLst/>
          </a:prstGeom>
          <a:solidFill>
            <a:srgbClr val="5FB97A"/>
          </a:solidFill>
          <a:ln/>
        </p:spPr>
      </p:sp>
      <p:sp>
        <p:nvSpPr>
          <p:cNvPr id="24" name="Text 19"/>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Participant profile</a:t>
            </a:r>
            <a:endParaRPr lang="en-US" sz="1050" dirty="0"/>
          </a:p>
        </p:txBody>
      </p:sp>
      <p:sp>
        <p:nvSpPr>
          <p:cNvPr id="25" name="Shape 20"/>
          <p:cNvSpPr/>
          <p:nvPr/>
        </p:nvSpPr>
        <p:spPr>
          <a:xfrm>
            <a:off x="7406640" y="2148840"/>
            <a:ext cx="822960" cy="822960"/>
          </a:xfrm>
          <a:prstGeom prst="ellipse">
            <a:avLst/>
          </a:prstGeom>
          <a:solidFill>
            <a:srgbClr val="FBEDE1"/>
          </a:solidFill>
          <a:ln/>
        </p:spPr>
      </p:sp>
      <p:sp>
        <p:nvSpPr>
          <p:cNvPr id="26" name="Text 21"/>
          <p:cNvSpPr/>
          <p:nvPr/>
        </p:nvSpPr>
        <p:spPr>
          <a:xfrm>
            <a:off x="7406640" y="2148840"/>
            <a:ext cx="822960" cy="822960"/>
          </a:xfrm>
          <a:prstGeom prst="rect">
            <a:avLst/>
          </a:prstGeom>
          <a:noFill/>
          <a:ln/>
        </p:spPr>
        <p:txBody>
          <a:bodyPr wrap="square" lIns="0" tIns="0" rIns="0" bIns="0" rtlCol="0" anchor="ctr"/>
          <a:lstStyle/>
          <a:p>
            <a:pPr algn="ctr" indent="0" marL="0">
              <a:buNone/>
            </a:pPr>
            <a:r>
              <a:rPr lang="en-US" sz="2600" b="1" dirty="0">
                <a:solidFill>
                  <a:srgbClr val="DC661F"/>
                </a:solidFill>
                <a:latin typeface="Arial" pitchFamily="34" charset="0"/>
                <a:ea typeface="Arial" pitchFamily="34" charset="-122"/>
                <a:cs typeface="Arial" pitchFamily="34" charset="-120"/>
              </a:rPr>
              <a:t>Z</a:t>
            </a:r>
            <a:endParaRPr lang="en-US" sz="2600" dirty="0"/>
          </a:p>
        </p:txBody>
      </p:sp>
      <p:sp>
        <p:nvSpPr>
          <p:cNvPr id="27" name="Text 22"/>
          <p:cNvSpPr/>
          <p:nvPr/>
        </p:nvSpPr>
        <p:spPr>
          <a:xfrm>
            <a:off x="8366760" y="2240280"/>
            <a:ext cx="2880360" cy="320040"/>
          </a:xfrm>
          <a:prstGeom prst="rect">
            <a:avLst/>
          </a:prstGeom>
          <a:noFill/>
          <a:ln/>
        </p:spPr>
        <p:txBody>
          <a:bodyPr wrap="square" lIns="0" tIns="0" rIns="0" bIns="0" rtlCol="0" anchor="ctr"/>
          <a:lstStyle/>
          <a:p>
            <a:pPr indent="0" marL="0">
              <a:buNone/>
            </a:pPr>
            <a:r>
              <a:rPr lang="en-US" sz="1600" b="1" dirty="0">
                <a:solidFill>
                  <a:srgbClr val="23272E"/>
                </a:solidFill>
                <a:latin typeface="Arial" pitchFamily="34" charset="0"/>
                <a:ea typeface="Arial" pitchFamily="34" charset="-122"/>
                <a:cs typeface="Arial" pitchFamily="34" charset="-120"/>
              </a:rPr>
              <a:t>Zayd  ·  11</a:t>
            </a:r>
            <a:endParaRPr lang="en-US" sz="1600" dirty="0"/>
          </a:p>
        </p:txBody>
      </p:sp>
      <p:sp>
        <p:nvSpPr>
          <p:cNvPr id="28" name="Text 23"/>
          <p:cNvSpPr/>
          <p:nvPr/>
        </p:nvSpPr>
        <p:spPr>
          <a:xfrm>
            <a:off x="8366760" y="2587752"/>
            <a:ext cx="2880360" cy="274320"/>
          </a:xfrm>
          <a:prstGeom prst="rect">
            <a:avLst/>
          </a:prstGeom>
          <a:noFill/>
          <a:ln/>
        </p:spPr>
        <p:txBody>
          <a:bodyPr wrap="square" lIns="0" tIns="0" rIns="0" bIns="0" rtlCol="0" anchor="ctr"/>
          <a:lstStyle/>
          <a:p>
            <a:pPr indent="0" marL="0">
              <a:buNone/>
            </a:pPr>
            <a:r>
              <a:rPr lang="en-US" sz="1100" dirty="0">
                <a:solidFill>
                  <a:srgbClr val="596069"/>
                </a:solidFill>
                <a:latin typeface="Arial" pitchFamily="34" charset="0"/>
                <a:ea typeface="Arial" pitchFamily="34" charset="-122"/>
                <a:cs typeface="Arial" pitchFamily="34" charset="-120"/>
              </a:rPr>
              <a:t>Autism  ·  non-speaking  ·  AAC user</a:t>
            </a:r>
            <a:endParaRPr lang="en-US" sz="1100" dirty="0"/>
          </a:p>
        </p:txBody>
      </p:sp>
      <p:sp>
        <p:nvSpPr>
          <p:cNvPr id="29" name="Text 24"/>
          <p:cNvSpPr/>
          <p:nvPr/>
        </p:nvSpPr>
        <p:spPr>
          <a:xfrm>
            <a:off x="7406640" y="3246120"/>
            <a:ext cx="3794760" cy="256032"/>
          </a:xfrm>
          <a:prstGeom prst="rect">
            <a:avLst/>
          </a:prstGeom>
          <a:noFill/>
          <a:ln/>
        </p:spPr>
        <p:txBody>
          <a:bodyPr wrap="square" lIns="0" tIns="0" rIns="0" bIns="0" rtlCol="0" anchor="ctr"/>
          <a:lstStyle/>
          <a:p>
            <a:pPr indent="0" marL="0">
              <a:buNone/>
            </a:pPr>
            <a:r>
              <a:rPr lang="en-US" sz="1150" b="1" dirty="0">
                <a:solidFill>
                  <a:srgbClr val="23272E"/>
                </a:solidFill>
                <a:latin typeface="Arial" pitchFamily="34" charset="0"/>
                <a:ea typeface="Arial" pitchFamily="34" charset="-122"/>
                <a:cs typeface="Arial" pitchFamily="34" charset="-120"/>
              </a:rPr>
              <a:t>Independent morning routine</a:t>
            </a:r>
            <a:endParaRPr lang="en-US" sz="1150" dirty="0"/>
          </a:p>
        </p:txBody>
      </p:sp>
      <p:sp>
        <p:nvSpPr>
          <p:cNvPr id="30" name="Shape 25"/>
          <p:cNvSpPr/>
          <p:nvPr/>
        </p:nvSpPr>
        <p:spPr>
          <a:xfrm>
            <a:off x="7406640" y="3538728"/>
            <a:ext cx="3794760" cy="146304"/>
          </a:xfrm>
          <a:prstGeom prst="roundRect">
            <a:avLst>
              <a:gd name="adj" fmla="val 50000"/>
            </a:avLst>
          </a:prstGeom>
          <a:solidFill>
            <a:srgbClr val="F5F6F8"/>
          </a:solidFill>
          <a:ln/>
        </p:spPr>
      </p:sp>
      <p:sp>
        <p:nvSpPr>
          <p:cNvPr id="31" name="Shape 26"/>
          <p:cNvSpPr/>
          <p:nvPr/>
        </p:nvSpPr>
        <p:spPr>
          <a:xfrm>
            <a:off x="7406640" y="3538728"/>
            <a:ext cx="2732227" cy="146304"/>
          </a:xfrm>
          <a:prstGeom prst="roundRect">
            <a:avLst>
              <a:gd name="adj" fmla="val 50000"/>
            </a:avLst>
          </a:prstGeom>
          <a:solidFill>
            <a:srgbClr val="DC661F"/>
          </a:solidFill>
          <a:ln/>
        </p:spPr>
      </p:sp>
      <p:sp>
        <p:nvSpPr>
          <p:cNvPr id="32" name="Text 27"/>
          <p:cNvSpPr/>
          <p:nvPr/>
        </p:nvSpPr>
        <p:spPr>
          <a:xfrm>
            <a:off x="7406640" y="3904488"/>
            <a:ext cx="3794760" cy="256032"/>
          </a:xfrm>
          <a:prstGeom prst="rect">
            <a:avLst/>
          </a:prstGeom>
          <a:noFill/>
          <a:ln/>
        </p:spPr>
        <p:txBody>
          <a:bodyPr wrap="square" lIns="0" tIns="0" rIns="0" bIns="0" rtlCol="0" anchor="ctr"/>
          <a:lstStyle/>
          <a:p>
            <a:pPr indent="0" marL="0">
              <a:buNone/>
            </a:pPr>
            <a:r>
              <a:rPr lang="en-US" sz="1150" b="1" dirty="0">
                <a:solidFill>
                  <a:srgbClr val="23272E"/>
                </a:solidFill>
                <a:latin typeface="Arial" pitchFamily="34" charset="0"/>
                <a:ea typeface="Arial" pitchFamily="34" charset="-122"/>
                <a:cs typeface="Arial" pitchFamily="34" charset="-120"/>
              </a:rPr>
              <a:t>Community outings</a:t>
            </a:r>
            <a:endParaRPr lang="en-US" sz="1150" dirty="0"/>
          </a:p>
        </p:txBody>
      </p:sp>
      <p:sp>
        <p:nvSpPr>
          <p:cNvPr id="33" name="Shape 28"/>
          <p:cNvSpPr/>
          <p:nvPr/>
        </p:nvSpPr>
        <p:spPr>
          <a:xfrm>
            <a:off x="7406640" y="4197096"/>
            <a:ext cx="3794760" cy="146304"/>
          </a:xfrm>
          <a:prstGeom prst="roundRect">
            <a:avLst>
              <a:gd name="adj" fmla="val 50000"/>
            </a:avLst>
          </a:prstGeom>
          <a:solidFill>
            <a:srgbClr val="F5F6F8"/>
          </a:solidFill>
          <a:ln/>
        </p:spPr>
      </p:sp>
      <p:sp>
        <p:nvSpPr>
          <p:cNvPr id="34" name="Shape 29"/>
          <p:cNvSpPr/>
          <p:nvPr/>
        </p:nvSpPr>
        <p:spPr>
          <a:xfrm>
            <a:off x="7406640" y="4197096"/>
            <a:ext cx="2087118" cy="146304"/>
          </a:xfrm>
          <a:prstGeom prst="roundRect">
            <a:avLst>
              <a:gd name="adj" fmla="val 50000"/>
            </a:avLst>
          </a:prstGeom>
          <a:solidFill>
            <a:srgbClr val="DC661F"/>
          </a:solidFill>
          <a:ln/>
        </p:spPr>
      </p:sp>
      <p:sp>
        <p:nvSpPr>
          <p:cNvPr id="35" name="Text 30"/>
          <p:cNvSpPr/>
          <p:nvPr/>
        </p:nvSpPr>
        <p:spPr>
          <a:xfrm>
            <a:off x="7406640" y="4562856"/>
            <a:ext cx="3794760" cy="256032"/>
          </a:xfrm>
          <a:prstGeom prst="rect">
            <a:avLst/>
          </a:prstGeom>
          <a:noFill/>
          <a:ln/>
        </p:spPr>
        <p:txBody>
          <a:bodyPr wrap="square" lIns="0" tIns="0" rIns="0" bIns="0" rtlCol="0" anchor="ctr"/>
          <a:lstStyle/>
          <a:p>
            <a:pPr indent="0" marL="0">
              <a:buNone/>
            </a:pPr>
            <a:r>
              <a:rPr lang="en-US" sz="1150" b="1" dirty="0">
                <a:solidFill>
                  <a:srgbClr val="23272E"/>
                </a:solidFill>
                <a:latin typeface="Arial" pitchFamily="34" charset="0"/>
                <a:ea typeface="Arial" pitchFamily="34" charset="-122"/>
                <a:cs typeface="Arial" pitchFamily="34" charset="-120"/>
              </a:rPr>
              <a:t>Two-word AAC requests</a:t>
            </a:r>
            <a:endParaRPr lang="en-US" sz="1150" dirty="0"/>
          </a:p>
        </p:txBody>
      </p:sp>
      <p:sp>
        <p:nvSpPr>
          <p:cNvPr id="36" name="Shape 31"/>
          <p:cNvSpPr/>
          <p:nvPr/>
        </p:nvSpPr>
        <p:spPr>
          <a:xfrm>
            <a:off x="7406640" y="4855464"/>
            <a:ext cx="3794760" cy="146304"/>
          </a:xfrm>
          <a:prstGeom prst="roundRect">
            <a:avLst>
              <a:gd name="adj" fmla="val 50000"/>
            </a:avLst>
          </a:prstGeom>
          <a:solidFill>
            <a:srgbClr val="F5F6F8"/>
          </a:solidFill>
          <a:ln/>
        </p:spPr>
      </p:sp>
      <p:sp>
        <p:nvSpPr>
          <p:cNvPr id="37" name="Shape 32"/>
          <p:cNvSpPr/>
          <p:nvPr/>
        </p:nvSpPr>
        <p:spPr>
          <a:xfrm>
            <a:off x="7406640" y="4855464"/>
            <a:ext cx="1517904" cy="146304"/>
          </a:xfrm>
          <a:prstGeom prst="roundRect">
            <a:avLst>
              <a:gd name="adj" fmla="val 50000"/>
            </a:avLst>
          </a:prstGeom>
          <a:solidFill>
            <a:srgbClr val="DC661F"/>
          </a:solidFill>
          <a:ln/>
        </p:spPr>
      </p:sp>
      <p:sp>
        <p:nvSpPr>
          <p:cNvPr id="38" name="Text 33"/>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39" name="Text 34"/>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07 / 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08   </a:t>
            </a:r>
            <a:pPr algn="l" indent="0" marL="0">
              <a:buNone/>
            </a:pPr>
            <a:r>
              <a:rPr lang="en-US" sz="1150" b="1" spc="200" kern="0" dirty="0">
                <a:solidFill>
                  <a:srgbClr val="596069"/>
                </a:solidFill>
                <a:latin typeface="Arial" pitchFamily="34" charset="0"/>
                <a:ea typeface="Arial" pitchFamily="34" charset="-122"/>
                <a:cs typeface="Arial" pitchFamily="34" charset="-120"/>
              </a:rPr>
              <a:t>EXPERIENCE · THE SUPPORT WORKER</a:t>
            </a:r>
            <a:endParaRPr lang="en-US" sz="1150" dirty="0"/>
          </a:p>
        </p:txBody>
      </p:sp>
      <p:sp>
        <p:nvSpPr>
          <p:cNvPr id="4" name="Text 2"/>
          <p:cNvSpPr/>
          <p:nvPr/>
        </p:nvSpPr>
        <p:spPr>
          <a:xfrm>
            <a:off x="640080" y="932688"/>
            <a:ext cx="5852160" cy="914400"/>
          </a:xfrm>
          <a:prstGeom prst="rect">
            <a:avLst/>
          </a:prstGeom>
          <a:noFill/>
          <a:ln/>
        </p:spPr>
        <p:txBody>
          <a:bodyPr wrap="square" lIns="0" tIns="0" rIns="0" bIns="0" rtlCol="0" anchor="ctr"/>
          <a:lstStyle/>
          <a:p>
            <a:pPr indent="0" marL="0">
              <a:buNone/>
            </a:pPr>
            <a:r>
              <a:rPr lang="en-US" sz="3200" b="1" dirty="0">
                <a:solidFill>
                  <a:srgbClr val="23272E"/>
                </a:solidFill>
                <a:latin typeface="Arial" pitchFamily="34" charset="0"/>
                <a:ea typeface="Arial" pitchFamily="34" charset="-122"/>
                <a:cs typeface="Arial" pitchFamily="34" charset="-120"/>
              </a:rPr>
              <a:t>Start every shift prepared. Record it by speaking.</a:t>
            </a:r>
            <a:endParaRPr lang="en-US" sz="3200" dirty="0"/>
          </a:p>
        </p:txBody>
      </p:sp>
      <p:sp>
        <p:nvSpPr>
          <p:cNvPr id="5" name="Text 3"/>
          <p:cNvSpPr/>
          <p:nvPr/>
        </p:nvSpPr>
        <p:spPr>
          <a:xfrm>
            <a:off x="640080" y="1965960"/>
            <a:ext cx="5577840" cy="914400"/>
          </a:xfrm>
          <a:prstGeom prst="rect">
            <a:avLst/>
          </a:prstGeom>
          <a:noFill/>
          <a:ln/>
        </p:spPr>
        <p:txBody>
          <a:bodyPr wrap="square" lIns="0" tIns="0" rIns="0" bIns="0" rtlCol="0" anchor="ctr"/>
          <a:lstStyle/>
          <a:p>
            <a:pPr indent="0" marL="0">
              <a:lnSpc>
                <a:spcPct val="118000"/>
              </a:lnSpc>
              <a:buNone/>
            </a:pPr>
            <a:r>
              <a:rPr lang="en-US" sz="1500" dirty="0">
                <a:solidFill>
                  <a:srgbClr val="596069"/>
                </a:solidFill>
                <a:latin typeface="Arial" pitchFamily="34" charset="0"/>
                <a:ea typeface="Arial" pitchFamily="34" charset="-122"/>
                <a:cs typeface="Arial" pitchFamily="34" charset="-120"/>
              </a:rPr>
              <a:t>The worker opens their phone and sees exactly who they’re with and what matters today. Notes are captured by voice, in the moment.</a:t>
            </a:r>
            <a:endParaRPr lang="en-US" sz="1500" dirty="0"/>
          </a:p>
        </p:txBody>
      </p:sp>
      <p:sp>
        <p:nvSpPr>
          <p:cNvPr id="6" name="Shape 4"/>
          <p:cNvSpPr/>
          <p:nvPr/>
        </p:nvSpPr>
        <p:spPr>
          <a:xfrm>
            <a:off x="640080" y="320040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3343046"/>
            <a:ext cx="263347" cy="263347"/>
          </a:xfrm>
          <a:prstGeom prst="rect">
            <a:avLst/>
          </a:prstGeom>
        </p:spPr>
      </p:pic>
      <p:sp>
        <p:nvSpPr>
          <p:cNvPr id="8" name="Text 5"/>
          <p:cNvSpPr/>
          <p:nvPr/>
        </p:nvSpPr>
        <p:spPr>
          <a:xfrm>
            <a:off x="1389888" y="3163824"/>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A calm, prepared start</a:t>
            </a:r>
            <a:endParaRPr lang="en-US" sz="1550" dirty="0"/>
          </a:p>
        </p:txBody>
      </p:sp>
      <p:sp>
        <p:nvSpPr>
          <p:cNvPr id="9" name="Text 6"/>
          <p:cNvSpPr/>
          <p:nvPr/>
        </p:nvSpPr>
        <p:spPr>
          <a:xfrm>
            <a:off x="1389888" y="3529584"/>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The day’s people, tasks and goals — before they walk in.</a:t>
            </a:r>
            <a:endParaRPr lang="en-US" sz="1250" dirty="0"/>
          </a:p>
        </p:txBody>
      </p:sp>
      <p:sp>
        <p:nvSpPr>
          <p:cNvPr id="10" name="Shape 7"/>
          <p:cNvSpPr/>
          <p:nvPr/>
        </p:nvSpPr>
        <p:spPr>
          <a:xfrm>
            <a:off x="640080" y="4133088"/>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4275734"/>
            <a:ext cx="263347" cy="263347"/>
          </a:xfrm>
          <a:prstGeom prst="rect">
            <a:avLst/>
          </a:prstGeom>
        </p:spPr>
      </p:pic>
      <p:sp>
        <p:nvSpPr>
          <p:cNvPr id="12" name="Text 8"/>
          <p:cNvSpPr/>
          <p:nvPr/>
        </p:nvSpPr>
        <p:spPr>
          <a:xfrm>
            <a:off x="1389888" y="4096512"/>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Voice-to-notes</a:t>
            </a:r>
            <a:endParaRPr lang="en-US" sz="1550" dirty="0"/>
          </a:p>
        </p:txBody>
      </p:sp>
      <p:sp>
        <p:nvSpPr>
          <p:cNvPr id="13" name="Text 9"/>
          <p:cNvSpPr/>
          <p:nvPr/>
        </p:nvSpPr>
        <p:spPr>
          <a:xfrm>
            <a:off x="1389888" y="4462272"/>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Speak what happened; CareOS drafts the progress note.</a:t>
            </a:r>
            <a:endParaRPr lang="en-US" sz="1250" dirty="0"/>
          </a:p>
        </p:txBody>
      </p:sp>
      <p:sp>
        <p:nvSpPr>
          <p:cNvPr id="14" name="Shape 10"/>
          <p:cNvSpPr/>
          <p:nvPr/>
        </p:nvSpPr>
        <p:spPr>
          <a:xfrm>
            <a:off x="640080" y="5065776"/>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5208422"/>
            <a:ext cx="263347" cy="263347"/>
          </a:xfrm>
          <a:prstGeom prst="rect">
            <a:avLst/>
          </a:prstGeom>
        </p:spPr>
      </p:pic>
      <p:sp>
        <p:nvSpPr>
          <p:cNvPr id="16" name="Text 11"/>
          <p:cNvSpPr/>
          <p:nvPr/>
        </p:nvSpPr>
        <p:spPr>
          <a:xfrm>
            <a:off x="1389888" y="5029200"/>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Nothing slips</a:t>
            </a:r>
            <a:endParaRPr lang="en-US" sz="1550" dirty="0"/>
          </a:p>
        </p:txBody>
      </p:sp>
      <p:sp>
        <p:nvSpPr>
          <p:cNvPr id="17" name="Text 12"/>
          <p:cNvSpPr/>
          <p:nvPr/>
        </p:nvSpPr>
        <p:spPr>
          <a:xfrm>
            <a:off x="1389888" y="5394960"/>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Tasks, medications and follow-ups are gently prompted.</a:t>
            </a:r>
            <a:endParaRPr lang="en-US" sz="1250" dirty="0"/>
          </a:p>
        </p:txBody>
      </p:sp>
      <p:sp>
        <p:nvSpPr>
          <p:cNvPr id="18" name="Shape 13"/>
          <p:cNvSpPr/>
          <p:nvPr/>
        </p:nvSpPr>
        <p:spPr>
          <a:xfrm>
            <a:off x="8275320" y="1371600"/>
            <a:ext cx="2057400" cy="4526280"/>
          </a:xfrm>
          <a:prstGeom prst="roundRect">
            <a:avLst>
              <a:gd name="adj" fmla="val 9778"/>
            </a:avLst>
          </a:prstGeom>
          <a:solidFill>
            <a:srgbClr val="FFFFFF"/>
          </a:solidFill>
          <a:ln w="15875">
            <a:solidFill>
              <a:srgbClr val="E6E9ED"/>
            </a:solidFill>
            <a:prstDash val="solid"/>
          </a:ln>
          <a:effectLst>
            <a:outerShdw sx="100000" sy="100000" kx="0" ky="0" algn="bl" rotWithShape="0" blurRad="177800" dist="63500" dir="5400000">
              <a:srgbClr val="9AA0A8">
                <a:alpha val="25000"/>
              </a:srgbClr>
            </a:outerShdw>
          </a:effectLst>
        </p:spPr>
      </p:sp>
      <p:sp>
        <p:nvSpPr>
          <p:cNvPr id="19" name="Shape 14"/>
          <p:cNvSpPr/>
          <p:nvPr/>
        </p:nvSpPr>
        <p:spPr>
          <a:xfrm>
            <a:off x="8983980" y="1481328"/>
            <a:ext cx="640080" cy="128016"/>
          </a:xfrm>
          <a:prstGeom prst="roundRect">
            <a:avLst>
              <a:gd name="adj" fmla="val 50000"/>
            </a:avLst>
          </a:prstGeom>
          <a:solidFill>
            <a:srgbClr val="F5F6F8"/>
          </a:solidFill>
          <a:ln/>
        </p:spPr>
      </p:sp>
      <p:sp>
        <p:nvSpPr>
          <p:cNvPr id="20" name="Text 15"/>
          <p:cNvSpPr/>
          <p:nvPr/>
        </p:nvSpPr>
        <p:spPr>
          <a:xfrm>
            <a:off x="8503920" y="1755648"/>
            <a:ext cx="1600200" cy="274320"/>
          </a:xfrm>
          <a:prstGeom prst="rect">
            <a:avLst/>
          </a:prstGeom>
          <a:noFill/>
          <a:ln/>
        </p:spPr>
        <p:txBody>
          <a:bodyPr wrap="square" lIns="0" tIns="0" rIns="0" bIns="0" rtlCol="0" anchor="ctr"/>
          <a:lstStyle/>
          <a:p>
            <a:pPr indent="0" marL="0">
              <a:buNone/>
            </a:pPr>
            <a:r>
              <a:rPr lang="en-US" sz="1300" b="1" dirty="0">
                <a:solidFill>
                  <a:srgbClr val="23272E"/>
                </a:solidFill>
                <a:latin typeface="Arial" pitchFamily="34" charset="0"/>
                <a:ea typeface="Arial" pitchFamily="34" charset="-122"/>
                <a:cs typeface="Arial" pitchFamily="34" charset="-120"/>
              </a:rPr>
              <a:t>Today</a:t>
            </a:r>
            <a:endParaRPr lang="en-US" sz="1300" dirty="0"/>
          </a:p>
        </p:txBody>
      </p:sp>
      <p:sp>
        <p:nvSpPr>
          <p:cNvPr id="21" name="Text 16"/>
          <p:cNvSpPr/>
          <p:nvPr/>
        </p:nvSpPr>
        <p:spPr>
          <a:xfrm>
            <a:off x="8503920" y="2048256"/>
            <a:ext cx="1600200" cy="228600"/>
          </a:xfrm>
          <a:prstGeom prst="rect">
            <a:avLst/>
          </a:prstGeom>
          <a:noFill/>
          <a:ln/>
        </p:spPr>
        <p:txBody>
          <a:bodyPr wrap="square" lIns="0" tIns="0" rIns="0" bIns="0" rtlCol="0" anchor="ctr"/>
          <a:lstStyle/>
          <a:p>
            <a:pPr indent="0" marL="0">
              <a:buNone/>
            </a:pPr>
            <a:r>
              <a:rPr lang="en-US" sz="950" dirty="0">
                <a:solidFill>
                  <a:srgbClr val="596069"/>
                </a:solidFill>
                <a:latin typeface="Arial" pitchFamily="34" charset="0"/>
                <a:ea typeface="Arial" pitchFamily="34" charset="-122"/>
                <a:cs typeface="Arial" pitchFamily="34" charset="-120"/>
              </a:rPr>
              <a:t>2 people  ·  3 goals</a:t>
            </a:r>
            <a:endParaRPr lang="en-US" sz="950" dirty="0"/>
          </a:p>
        </p:txBody>
      </p:sp>
      <p:sp>
        <p:nvSpPr>
          <p:cNvPr id="22" name="Shape 17"/>
          <p:cNvSpPr/>
          <p:nvPr/>
        </p:nvSpPr>
        <p:spPr>
          <a:xfrm>
            <a:off x="8476488" y="2423160"/>
            <a:ext cx="1655064" cy="713232"/>
          </a:xfrm>
          <a:prstGeom prst="roundRect">
            <a:avLst>
              <a:gd name="adj" fmla="val 10256"/>
            </a:avLst>
          </a:prstGeom>
          <a:solidFill>
            <a:srgbClr val="F5F6F8"/>
          </a:solidFill>
          <a:ln/>
        </p:spPr>
      </p:sp>
      <p:sp>
        <p:nvSpPr>
          <p:cNvPr id="23" name="Text 18"/>
          <p:cNvSpPr/>
          <p:nvPr/>
        </p:nvSpPr>
        <p:spPr>
          <a:xfrm>
            <a:off x="8595360" y="2514600"/>
            <a:ext cx="914400" cy="219456"/>
          </a:xfrm>
          <a:prstGeom prst="rect">
            <a:avLst/>
          </a:prstGeom>
          <a:noFill/>
          <a:ln/>
        </p:spPr>
        <p:txBody>
          <a:bodyPr wrap="square" lIns="0" tIns="0" rIns="0" bIns="0" rtlCol="0" anchor="ctr"/>
          <a:lstStyle/>
          <a:p>
            <a:pPr indent="0" marL="0">
              <a:buNone/>
            </a:pPr>
            <a:r>
              <a:rPr lang="en-US" sz="950" b="1" dirty="0">
                <a:solidFill>
                  <a:srgbClr val="DC661F"/>
                </a:solidFill>
                <a:latin typeface="Arial" pitchFamily="34" charset="0"/>
                <a:ea typeface="Arial" pitchFamily="34" charset="-122"/>
                <a:cs typeface="Arial" pitchFamily="34" charset="-120"/>
              </a:rPr>
              <a:t>07:30</a:t>
            </a:r>
            <a:endParaRPr lang="en-US" sz="950" dirty="0"/>
          </a:p>
        </p:txBody>
      </p:sp>
      <p:sp>
        <p:nvSpPr>
          <p:cNvPr id="24" name="Text 19"/>
          <p:cNvSpPr/>
          <p:nvPr/>
        </p:nvSpPr>
        <p:spPr>
          <a:xfrm>
            <a:off x="8595360" y="2697480"/>
            <a:ext cx="1417320" cy="219456"/>
          </a:xfrm>
          <a:prstGeom prst="rect">
            <a:avLst/>
          </a:prstGeom>
          <a:noFill/>
          <a:ln/>
        </p:spPr>
        <p:txBody>
          <a:bodyPr wrap="square" lIns="0" tIns="0" rIns="0" bIns="0" rtlCol="0" anchor="ctr"/>
          <a:lstStyle/>
          <a:p>
            <a:pPr indent="0" marL="0">
              <a:buNone/>
            </a:pPr>
            <a:r>
              <a:rPr lang="en-US" sz="1200" b="1" dirty="0">
                <a:solidFill>
                  <a:srgbClr val="23272E"/>
                </a:solidFill>
                <a:latin typeface="Arial" pitchFamily="34" charset="0"/>
                <a:ea typeface="Arial" pitchFamily="34" charset="-122"/>
                <a:cs typeface="Arial" pitchFamily="34" charset="-120"/>
              </a:rPr>
              <a:t>Zayd</a:t>
            </a:r>
            <a:endParaRPr lang="en-US" sz="1200" dirty="0"/>
          </a:p>
        </p:txBody>
      </p:sp>
      <p:sp>
        <p:nvSpPr>
          <p:cNvPr id="25" name="Text 20"/>
          <p:cNvSpPr/>
          <p:nvPr/>
        </p:nvSpPr>
        <p:spPr>
          <a:xfrm>
            <a:off x="8595360" y="2898648"/>
            <a:ext cx="1417320" cy="201168"/>
          </a:xfrm>
          <a:prstGeom prst="rect">
            <a:avLst/>
          </a:prstGeom>
          <a:noFill/>
          <a:ln/>
        </p:spPr>
        <p:txBody>
          <a:bodyPr wrap="square" lIns="0" tIns="0" rIns="0" bIns="0" rtlCol="0" anchor="ctr"/>
          <a:lstStyle/>
          <a:p>
            <a:pPr indent="0" marL="0">
              <a:buNone/>
            </a:pPr>
            <a:r>
              <a:rPr lang="en-US" sz="900" dirty="0">
                <a:solidFill>
                  <a:srgbClr val="596069"/>
                </a:solidFill>
                <a:latin typeface="Arial" pitchFamily="34" charset="0"/>
                <a:ea typeface="Arial" pitchFamily="34" charset="-122"/>
                <a:cs typeface="Arial" pitchFamily="34" charset="-120"/>
              </a:rPr>
              <a:t>Morning routine</a:t>
            </a:r>
            <a:endParaRPr lang="en-US" sz="900" dirty="0"/>
          </a:p>
        </p:txBody>
      </p:sp>
      <p:sp>
        <p:nvSpPr>
          <p:cNvPr id="26" name="Shape 21"/>
          <p:cNvSpPr/>
          <p:nvPr/>
        </p:nvSpPr>
        <p:spPr>
          <a:xfrm>
            <a:off x="8476488" y="3264408"/>
            <a:ext cx="1655064" cy="713232"/>
          </a:xfrm>
          <a:prstGeom prst="roundRect">
            <a:avLst>
              <a:gd name="adj" fmla="val 10256"/>
            </a:avLst>
          </a:prstGeom>
          <a:solidFill>
            <a:srgbClr val="F5F6F8"/>
          </a:solidFill>
          <a:ln/>
        </p:spPr>
      </p:sp>
      <p:sp>
        <p:nvSpPr>
          <p:cNvPr id="27" name="Text 22"/>
          <p:cNvSpPr/>
          <p:nvPr/>
        </p:nvSpPr>
        <p:spPr>
          <a:xfrm>
            <a:off x="8595360" y="3355848"/>
            <a:ext cx="914400" cy="219456"/>
          </a:xfrm>
          <a:prstGeom prst="rect">
            <a:avLst/>
          </a:prstGeom>
          <a:noFill/>
          <a:ln/>
        </p:spPr>
        <p:txBody>
          <a:bodyPr wrap="square" lIns="0" tIns="0" rIns="0" bIns="0" rtlCol="0" anchor="ctr"/>
          <a:lstStyle/>
          <a:p>
            <a:pPr indent="0" marL="0">
              <a:buNone/>
            </a:pPr>
            <a:r>
              <a:rPr lang="en-US" sz="950" b="1" dirty="0">
                <a:solidFill>
                  <a:srgbClr val="DC661F"/>
                </a:solidFill>
                <a:latin typeface="Arial" pitchFamily="34" charset="0"/>
                <a:ea typeface="Arial" pitchFamily="34" charset="-122"/>
                <a:cs typeface="Arial" pitchFamily="34" charset="-120"/>
              </a:rPr>
              <a:t>13:30</a:t>
            </a:r>
            <a:endParaRPr lang="en-US" sz="950" dirty="0"/>
          </a:p>
        </p:txBody>
      </p:sp>
      <p:sp>
        <p:nvSpPr>
          <p:cNvPr id="28" name="Text 23"/>
          <p:cNvSpPr/>
          <p:nvPr/>
        </p:nvSpPr>
        <p:spPr>
          <a:xfrm>
            <a:off x="8595360" y="3538728"/>
            <a:ext cx="1417320" cy="219456"/>
          </a:xfrm>
          <a:prstGeom prst="rect">
            <a:avLst/>
          </a:prstGeom>
          <a:noFill/>
          <a:ln/>
        </p:spPr>
        <p:txBody>
          <a:bodyPr wrap="square" lIns="0" tIns="0" rIns="0" bIns="0" rtlCol="0" anchor="ctr"/>
          <a:lstStyle/>
          <a:p>
            <a:pPr indent="0" marL="0">
              <a:buNone/>
            </a:pPr>
            <a:r>
              <a:rPr lang="en-US" sz="1200" b="1" dirty="0">
                <a:solidFill>
                  <a:srgbClr val="23272E"/>
                </a:solidFill>
                <a:latin typeface="Arial" pitchFamily="34" charset="0"/>
                <a:ea typeface="Arial" pitchFamily="34" charset="-122"/>
                <a:cs typeface="Arial" pitchFamily="34" charset="-120"/>
              </a:rPr>
              <a:t>Idris</a:t>
            </a:r>
            <a:endParaRPr lang="en-US" sz="1200" dirty="0"/>
          </a:p>
        </p:txBody>
      </p:sp>
      <p:sp>
        <p:nvSpPr>
          <p:cNvPr id="29" name="Text 24"/>
          <p:cNvSpPr/>
          <p:nvPr/>
        </p:nvSpPr>
        <p:spPr>
          <a:xfrm>
            <a:off x="8595360" y="3739896"/>
            <a:ext cx="1417320" cy="201168"/>
          </a:xfrm>
          <a:prstGeom prst="rect">
            <a:avLst/>
          </a:prstGeom>
          <a:noFill/>
          <a:ln/>
        </p:spPr>
        <p:txBody>
          <a:bodyPr wrap="square" lIns="0" tIns="0" rIns="0" bIns="0" rtlCol="0" anchor="ctr"/>
          <a:lstStyle/>
          <a:p>
            <a:pPr indent="0" marL="0">
              <a:buNone/>
            </a:pPr>
            <a:r>
              <a:rPr lang="en-US" sz="900" dirty="0">
                <a:solidFill>
                  <a:srgbClr val="596069"/>
                </a:solidFill>
                <a:latin typeface="Arial" pitchFamily="34" charset="0"/>
                <a:ea typeface="Arial" pitchFamily="34" charset="-122"/>
                <a:cs typeface="Arial" pitchFamily="34" charset="-120"/>
              </a:rPr>
              <a:t>Community access</a:t>
            </a:r>
            <a:endParaRPr lang="en-US" sz="900" dirty="0"/>
          </a:p>
        </p:txBody>
      </p:sp>
      <p:sp>
        <p:nvSpPr>
          <p:cNvPr id="30" name="Shape 25"/>
          <p:cNvSpPr/>
          <p:nvPr/>
        </p:nvSpPr>
        <p:spPr>
          <a:xfrm>
            <a:off x="8476488" y="4251960"/>
            <a:ext cx="1655064" cy="566928"/>
          </a:xfrm>
          <a:prstGeom prst="roundRect">
            <a:avLst>
              <a:gd name="adj" fmla="val 50000"/>
            </a:avLst>
          </a:prstGeom>
          <a:solidFill>
            <a:srgbClr val="FBEDE1"/>
          </a:solidFill>
          <a:ln/>
        </p:spPr>
      </p:sp>
      <p:pic>
        <p:nvPicPr>
          <p:cNvPr id="31" name="Image 3" descr="preencoded.png">    </p:cNvPr>
          <p:cNvPicPr>
            <a:picLocks noChangeAspect="1"/>
          </p:cNvPicPr>
          <p:nvPr/>
        </p:nvPicPr>
        <p:blipFill>
          <a:blip r:embed="rId4"/>
          <a:stretch>
            <a:fillRect/>
          </a:stretch>
        </p:blipFill>
        <p:spPr>
          <a:xfrm>
            <a:off x="8604504" y="4398264"/>
            <a:ext cx="274320" cy="274320"/>
          </a:xfrm>
          <a:prstGeom prst="rect">
            <a:avLst/>
          </a:prstGeom>
        </p:spPr>
      </p:pic>
      <p:sp>
        <p:nvSpPr>
          <p:cNvPr id="32" name="Text 26"/>
          <p:cNvSpPr/>
          <p:nvPr/>
        </p:nvSpPr>
        <p:spPr>
          <a:xfrm>
            <a:off x="8951976" y="4251960"/>
            <a:ext cx="1143000" cy="566928"/>
          </a:xfrm>
          <a:prstGeom prst="rect">
            <a:avLst/>
          </a:prstGeom>
          <a:noFill/>
          <a:ln/>
        </p:spPr>
        <p:txBody>
          <a:bodyPr wrap="square" lIns="0" tIns="0" rIns="0" bIns="0" rtlCol="0" anchor="ctr"/>
          <a:lstStyle/>
          <a:p>
            <a:pPr indent="0" marL="0">
              <a:buNone/>
            </a:pPr>
            <a:r>
              <a:rPr lang="en-US" sz="1000" b="1" dirty="0">
                <a:solidFill>
                  <a:srgbClr val="B14E14"/>
                </a:solidFill>
                <a:latin typeface="Arial" pitchFamily="34" charset="0"/>
                <a:ea typeface="Arial" pitchFamily="34" charset="-122"/>
                <a:cs typeface="Arial" pitchFamily="34" charset="-120"/>
              </a:rPr>
              <a:t>Hold to record note</a:t>
            </a:r>
            <a:endParaRPr lang="en-US" sz="1000" dirty="0"/>
          </a:p>
        </p:txBody>
      </p:sp>
      <p:sp>
        <p:nvSpPr>
          <p:cNvPr id="33" name="Text 27"/>
          <p:cNvSpPr/>
          <p:nvPr/>
        </p:nvSpPr>
        <p:spPr>
          <a:xfrm>
            <a:off x="8494776" y="4965192"/>
            <a:ext cx="1618488" cy="731520"/>
          </a:xfrm>
          <a:prstGeom prst="rect">
            <a:avLst/>
          </a:prstGeom>
          <a:noFill/>
          <a:ln/>
        </p:spPr>
        <p:txBody>
          <a:bodyPr wrap="square" lIns="0" tIns="0" rIns="0" bIns="0" rtlCol="0" anchor="ctr"/>
          <a:lstStyle/>
          <a:p>
            <a:pPr indent="0" marL="0">
              <a:lnSpc>
                <a:spcPct val="110000"/>
              </a:lnSpc>
              <a:buNone/>
            </a:pPr>
            <a:r>
              <a:rPr lang="en-US" sz="900" i="1" dirty="0">
                <a:solidFill>
                  <a:srgbClr val="596069"/>
                </a:solidFill>
                <a:latin typeface="Arial" pitchFamily="34" charset="0"/>
                <a:ea typeface="Arial" pitchFamily="34" charset="-122"/>
                <a:cs typeface="Arial" pitchFamily="34" charset="-120"/>
              </a:rPr>
              <a:t>“Great morning — Zayd used his AAC to ask for breakfast…”</a:t>
            </a:r>
            <a:endParaRPr lang="en-US" sz="900" dirty="0"/>
          </a:p>
        </p:txBody>
      </p:sp>
      <p:sp>
        <p:nvSpPr>
          <p:cNvPr id="34" name="Text 28"/>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35" name="Text 29"/>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08 / 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09   </a:t>
            </a:r>
            <a:pPr algn="l" indent="0" marL="0">
              <a:buNone/>
            </a:pPr>
            <a:r>
              <a:rPr lang="en-US" sz="1150" b="1" spc="200" kern="0" dirty="0">
                <a:solidFill>
                  <a:srgbClr val="596069"/>
                </a:solidFill>
                <a:latin typeface="Arial" pitchFamily="34" charset="0"/>
                <a:ea typeface="Arial" pitchFamily="34" charset="-122"/>
                <a:cs typeface="Arial" pitchFamily="34" charset="-120"/>
              </a:rPr>
              <a:t>EXPERIENCE · THE COORDINATOR</a:t>
            </a:r>
            <a:endParaRPr lang="en-US" sz="1150" dirty="0"/>
          </a:p>
        </p:txBody>
      </p:sp>
      <p:sp>
        <p:nvSpPr>
          <p:cNvPr id="4" name="Text 2"/>
          <p:cNvSpPr/>
          <p:nvPr/>
        </p:nvSpPr>
        <p:spPr>
          <a:xfrm>
            <a:off x="640080" y="932688"/>
            <a:ext cx="5852160" cy="914400"/>
          </a:xfrm>
          <a:prstGeom prst="rect">
            <a:avLst/>
          </a:prstGeom>
          <a:noFill/>
          <a:ln/>
        </p:spPr>
        <p:txBody>
          <a:bodyPr wrap="square" lIns="0" tIns="0" rIns="0" bIns="0" rtlCol="0" anchor="ctr"/>
          <a:lstStyle/>
          <a:p>
            <a:pPr indent="0" marL="0">
              <a:buNone/>
            </a:pPr>
            <a:r>
              <a:rPr lang="en-US" sz="3200" b="1" dirty="0">
                <a:solidFill>
                  <a:srgbClr val="23272E"/>
                </a:solidFill>
                <a:latin typeface="Arial" pitchFamily="34" charset="0"/>
                <a:ea typeface="Arial" pitchFamily="34" charset="-122"/>
                <a:cs typeface="Arial" pitchFamily="34" charset="-120"/>
              </a:rPr>
              <a:t>The coordinator sees the whole picture — early.</a:t>
            </a:r>
            <a:endParaRPr lang="en-US" sz="3200" dirty="0"/>
          </a:p>
        </p:txBody>
      </p:sp>
      <p:sp>
        <p:nvSpPr>
          <p:cNvPr id="5" name="Text 3"/>
          <p:cNvSpPr/>
          <p:nvPr/>
        </p:nvSpPr>
        <p:spPr>
          <a:xfrm>
            <a:off x="640080" y="1965960"/>
            <a:ext cx="5577840" cy="914400"/>
          </a:xfrm>
          <a:prstGeom prst="rect">
            <a:avLst/>
          </a:prstGeom>
          <a:noFill/>
          <a:ln/>
        </p:spPr>
        <p:txBody>
          <a:bodyPr wrap="square" lIns="0" tIns="0" rIns="0" bIns="0" rtlCol="0" anchor="ctr"/>
          <a:lstStyle/>
          <a:p>
            <a:pPr indent="0" marL="0">
              <a:lnSpc>
                <a:spcPct val="118000"/>
              </a:lnSpc>
              <a:buNone/>
            </a:pPr>
            <a:r>
              <a:rPr lang="en-US" sz="1500" dirty="0">
                <a:solidFill>
                  <a:srgbClr val="596069"/>
                </a:solidFill>
                <a:latin typeface="Arial" pitchFamily="34" charset="0"/>
                <a:ea typeface="Arial" pitchFamily="34" charset="-122"/>
                <a:cs typeface="Arial" pitchFamily="34" charset="-120"/>
              </a:rPr>
              <a:t>Rosters, risks and participant needs in one view, so problems are caught before they become incidents.</a:t>
            </a:r>
            <a:endParaRPr lang="en-US" sz="1500" dirty="0"/>
          </a:p>
        </p:txBody>
      </p:sp>
      <p:sp>
        <p:nvSpPr>
          <p:cNvPr id="6" name="Shape 4"/>
          <p:cNvSpPr/>
          <p:nvPr/>
        </p:nvSpPr>
        <p:spPr>
          <a:xfrm>
            <a:off x="640080" y="320040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3343046"/>
            <a:ext cx="263347" cy="263347"/>
          </a:xfrm>
          <a:prstGeom prst="rect">
            <a:avLst/>
          </a:prstGeom>
        </p:spPr>
      </p:pic>
      <p:sp>
        <p:nvSpPr>
          <p:cNvPr id="8" name="Text 5"/>
          <p:cNvSpPr/>
          <p:nvPr/>
        </p:nvSpPr>
        <p:spPr>
          <a:xfrm>
            <a:off x="1389888" y="3163824"/>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Outcome-aware rostering</a:t>
            </a:r>
            <a:endParaRPr lang="en-US" sz="1550" dirty="0"/>
          </a:p>
        </p:txBody>
      </p:sp>
      <p:sp>
        <p:nvSpPr>
          <p:cNvPr id="9" name="Text 6"/>
          <p:cNvSpPr/>
          <p:nvPr/>
        </p:nvSpPr>
        <p:spPr>
          <a:xfrm>
            <a:off x="1389888" y="3529584"/>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The right worker matched to the right participant, not just an open slot.</a:t>
            </a:r>
            <a:endParaRPr lang="en-US" sz="1250" dirty="0"/>
          </a:p>
        </p:txBody>
      </p:sp>
      <p:sp>
        <p:nvSpPr>
          <p:cNvPr id="10" name="Shape 7"/>
          <p:cNvSpPr/>
          <p:nvPr/>
        </p:nvSpPr>
        <p:spPr>
          <a:xfrm>
            <a:off x="640080" y="4133088"/>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4275734"/>
            <a:ext cx="263347" cy="263347"/>
          </a:xfrm>
          <a:prstGeom prst="rect">
            <a:avLst/>
          </a:prstGeom>
        </p:spPr>
      </p:pic>
      <p:sp>
        <p:nvSpPr>
          <p:cNvPr id="12" name="Text 8"/>
          <p:cNvSpPr/>
          <p:nvPr/>
        </p:nvSpPr>
        <p:spPr>
          <a:xfrm>
            <a:off x="1389888" y="4096512"/>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Risks surface early</a:t>
            </a:r>
            <a:endParaRPr lang="en-US" sz="1550" dirty="0"/>
          </a:p>
        </p:txBody>
      </p:sp>
      <p:sp>
        <p:nvSpPr>
          <p:cNvPr id="13" name="Text 9"/>
          <p:cNvSpPr/>
          <p:nvPr/>
        </p:nvSpPr>
        <p:spPr>
          <a:xfrm>
            <a:off x="1389888" y="4462272"/>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Patterns and gaps are flagged before they escalate.</a:t>
            </a:r>
            <a:endParaRPr lang="en-US" sz="1250" dirty="0"/>
          </a:p>
        </p:txBody>
      </p:sp>
      <p:sp>
        <p:nvSpPr>
          <p:cNvPr id="14" name="Shape 10"/>
          <p:cNvSpPr/>
          <p:nvPr/>
        </p:nvSpPr>
        <p:spPr>
          <a:xfrm>
            <a:off x="640080" y="5065776"/>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5208422"/>
            <a:ext cx="263347" cy="263347"/>
          </a:xfrm>
          <a:prstGeom prst="rect">
            <a:avLst/>
          </a:prstGeom>
        </p:spPr>
      </p:pic>
      <p:sp>
        <p:nvSpPr>
          <p:cNvPr id="16" name="Text 11"/>
          <p:cNvSpPr/>
          <p:nvPr/>
        </p:nvSpPr>
        <p:spPr>
          <a:xfrm>
            <a:off x="1389888" y="5029200"/>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Less firefighting</a:t>
            </a:r>
            <a:endParaRPr lang="en-US" sz="1550" dirty="0"/>
          </a:p>
        </p:txBody>
      </p:sp>
      <p:sp>
        <p:nvSpPr>
          <p:cNvPr id="17" name="Text 12"/>
          <p:cNvSpPr/>
          <p:nvPr/>
        </p:nvSpPr>
        <p:spPr>
          <a:xfrm>
            <a:off x="1389888" y="5394960"/>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Changes ripple through claims and pay automatically.</a:t>
            </a:r>
            <a:endParaRPr lang="en-US" sz="1250" dirty="0"/>
          </a:p>
        </p:txBody>
      </p:sp>
      <p:sp>
        <p:nvSpPr>
          <p:cNvPr id="18" name="Shape 13"/>
          <p:cNvSpPr/>
          <p:nvPr/>
        </p:nvSpPr>
        <p:spPr>
          <a:xfrm>
            <a:off x="7040880" y="1417320"/>
            <a:ext cx="4526280" cy="4480560"/>
          </a:xfrm>
          <a:prstGeom prst="roundRect">
            <a:avLst>
              <a:gd name="adj" fmla="val 2449"/>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19" name="Shape 14"/>
          <p:cNvSpPr/>
          <p:nvPr/>
        </p:nvSpPr>
        <p:spPr>
          <a:xfrm>
            <a:off x="7040880" y="1417320"/>
            <a:ext cx="4526280" cy="457200"/>
          </a:xfrm>
          <a:prstGeom prst="roundRect">
            <a:avLst>
              <a:gd name="adj" fmla="val 24000"/>
            </a:avLst>
          </a:prstGeom>
          <a:solidFill>
            <a:srgbClr val="F5F6F8"/>
          </a:solidFill>
          <a:ln/>
        </p:spPr>
      </p:sp>
      <p:sp>
        <p:nvSpPr>
          <p:cNvPr id="20" name="Shape 15"/>
          <p:cNvSpPr/>
          <p:nvPr/>
        </p:nvSpPr>
        <p:spPr>
          <a:xfrm>
            <a:off x="7040880" y="1737360"/>
            <a:ext cx="4526280" cy="146304"/>
          </a:xfrm>
          <a:prstGeom prst="rect">
            <a:avLst/>
          </a:prstGeom>
          <a:solidFill>
            <a:srgbClr val="F5F6F8"/>
          </a:solidFill>
          <a:ln/>
        </p:spPr>
      </p:sp>
      <p:sp>
        <p:nvSpPr>
          <p:cNvPr id="21" name="Shape 16"/>
          <p:cNvSpPr/>
          <p:nvPr/>
        </p:nvSpPr>
        <p:spPr>
          <a:xfrm>
            <a:off x="7242048" y="1581912"/>
            <a:ext cx="118872" cy="118872"/>
          </a:xfrm>
          <a:prstGeom prst="ellipse">
            <a:avLst/>
          </a:prstGeom>
          <a:solidFill>
            <a:srgbClr val="E06B5A"/>
          </a:solidFill>
          <a:ln/>
        </p:spPr>
      </p:sp>
      <p:sp>
        <p:nvSpPr>
          <p:cNvPr id="22" name="Shape 17"/>
          <p:cNvSpPr/>
          <p:nvPr/>
        </p:nvSpPr>
        <p:spPr>
          <a:xfrm>
            <a:off x="7443216" y="1581912"/>
            <a:ext cx="118872" cy="118872"/>
          </a:xfrm>
          <a:prstGeom prst="ellipse">
            <a:avLst/>
          </a:prstGeom>
          <a:solidFill>
            <a:srgbClr val="E7B54D"/>
          </a:solidFill>
          <a:ln/>
        </p:spPr>
      </p:sp>
      <p:sp>
        <p:nvSpPr>
          <p:cNvPr id="23" name="Shape 18"/>
          <p:cNvSpPr/>
          <p:nvPr/>
        </p:nvSpPr>
        <p:spPr>
          <a:xfrm>
            <a:off x="7644384" y="1581912"/>
            <a:ext cx="118872" cy="118872"/>
          </a:xfrm>
          <a:prstGeom prst="ellipse">
            <a:avLst/>
          </a:prstGeom>
          <a:solidFill>
            <a:srgbClr val="5FB97A"/>
          </a:solidFill>
          <a:ln/>
        </p:spPr>
      </p:sp>
      <p:sp>
        <p:nvSpPr>
          <p:cNvPr id="24" name="Text 19"/>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This week</a:t>
            </a:r>
            <a:endParaRPr lang="en-US" sz="1050" dirty="0"/>
          </a:p>
        </p:txBody>
      </p:sp>
      <p:sp>
        <p:nvSpPr>
          <p:cNvPr id="25" name="Text 20"/>
          <p:cNvSpPr/>
          <p:nvPr/>
        </p:nvSpPr>
        <p:spPr>
          <a:xfrm>
            <a:off x="7406640" y="2148840"/>
            <a:ext cx="758952" cy="228600"/>
          </a:xfrm>
          <a:prstGeom prst="rect">
            <a:avLst/>
          </a:prstGeom>
          <a:noFill/>
          <a:ln/>
        </p:spPr>
        <p:txBody>
          <a:bodyPr wrap="square" lIns="0" tIns="0" rIns="0" bIns="0" rtlCol="0" anchor="ctr"/>
          <a:lstStyle/>
          <a:p>
            <a:pPr algn="ctr" indent="0" marL="0">
              <a:buNone/>
            </a:pPr>
            <a:r>
              <a:rPr lang="en-US" sz="950" b="1" dirty="0">
                <a:solidFill>
                  <a:srgbClr val="596069"/>
                </a:solidFill>
                <a:latin typeface="Arial" pitchFamily="34" charset="0"/>
                <a:ea typeface="Arial" pitchFamily="34" charset="-122"/>
                <a:cs typeface="Arial" pitchFamily="34" charset="-120"/>
              </a:rPr>
              <a:t>Mon</a:t>
            </a:r>
            <a:endParaRPr lang="en-US" sz="950" dirty="0"/>
          </a:p>
        </p:txBody>
      </p:sp>
      <p:sp>
        <p:nvSpPr>
          <p:cNvPr id="26" name="Text 21"/>
          <p:cNvSpPr/>
          <p:nvPr/>
        </p:nvSpPr>
        <p:spPr>
          <a:xfrm>
            <a:off x="8165592" y="2148840"/>
            <a:ext cx="758952" cy="228600"/>
          </a:xfrm>
          <a:prstGeom prst="rect">
            <a:avLst/>
          </a:prstGeom>
          <a:noFill/>
          <a:ln/>
        </p:spPr>
        <p:txBody>
          <a:bodyPr wrap="square" lIns="0" tIns="0" rIns="0" bIns="0" rtlCol="0" anchor="ctr"/>
          <a:lstStyle/>
          <a:p>
            <a:pPr algn="ctr" indent="0" marL="0">
              <a:buNone/>
            </a:pPr>
            <a:r>
              <a:rPr lang="en-US" sz="950" b="1" dirty="0">
                <a:solidFill>
                  <a:srgbClr val="596069"/>
                </a:solidFill>
                <a:latin typeface="Arial" pitchFamily="34" charset="0"/>
                <a:ea typeface="Arial" pitchFamily="34" charset="-122"/>
                <a:cs typeface="Arial" pitchFamily="34" charset="-120"/>
              </a:rPr>
              <a:t>Tue</a:t>
            </a:r>
            <a:endParaRPr lang="en-US" sz="950" dirty="0"/>
          </a:p>
        </p:txBody>
      </p:sp>
      <p:sp>
        <p:nvSpPr>
          <p:cNvPr id="27" name="Text 22"/>
          <p:cNvSpPr/>
          <p:nvPr/>
        </p:nvSpPr>
        <p:spPr>
          <a:xfrm>
            <a:off x="8924544" y="2148840"/>
            <a:ext cx="758952" cy="228600"/>
          </a:xfrm>
          <a:prstGeom prst="rect">
            <a:avLst/>
          </a:prstGeom>
          <a:noFill/>
          <a:ln/>
        </p:spPr>
        <p:txBody>
          <a:bodyPr wrap="square" lIns="0" tIns="0" rIns="0" bIns="0" rtlCol="0" anchor="ctr"/>
          <a:lstStyle/>
          <a:p>
            <a:pPr algn="ctr" indent="0" marL="0">
              <a:buNone/>
            </a:pPr>
            <a:r>
              <a:rPr lang="en-US" sz="950" b="1" dirty="0">
                <a:solidFill>
                  <a:srgbClr val="596069"/>
                </a:solidFill>
                <a:latin typeface="Arial" pitchFamily="34" charset="0"/>
                <a:ea typeface="Arial" pitchFamily="34" charset="-122"/>
                <a:cs typeface="Arial" pitchFamily="34" charset="-120"/>
              </a:rPr>
              <a:t>Wed</a:t>
            </a:r>
            <a:endParaRPr lang="en-US" sz="950" dirty="0"/>
          </a:p>
        </p:txBody>
      </p:sp>
      <p:sp>
        <p:nvSpPr>
          <p:cNvPr id="28" name="Text 23"/>
          <p:cNvSpPr/>
          <p:nvPr/>
        </p:nvSpPr>
        <p:spPr>
          <a:xfrm>
            <a:off x="9683496" y="2148840"/>
            <a:ext cx="758952" cy="228600"/>
          </a:xfrm>
          <a:prstGeom prst="rect">
            <a:avLst/>
          </a:prstGeom>
          <a:noFill/>
          <a:ln/>
        </p:spPr>
        <p:txBody>
          <a:bodyPr wrap="square" lIns="0" tIns="0" rIns="0" bIns="0" rtlCol="0" anchor="ctr"/>
          <a:lstStyle/>
          <a:p>
            <a:pPr algn="ctr" indent="0" marL="0">
              <a:buNone/>
            </a:pPr>
            <a:r>
              <a:rPr lang="en-US" sz="950" b="1" dirty="0">
                <a:solidFill>
                  <a:srgbClr val="596069"/>
                </a:solidFill>
                <a:latin typeface="Arial" pitchFamily="34" charset="0"/>
                <a:ea typeface="Arial" pitchFamily="34" charset="-122"/>
                <a:cs typeface="Arial" pitchFamily="34" charset="-120"/>
              </a:rPr>
              <a:t>Thu</a:t>
            </a:r>
            <a:endParaRPr lang="en-US" sz="950" dirty="0"/>
          </a:p>
        </p:txBody>
      </p:sp>
      <p:sp>
        <p:nvSpPr>
          <p:cNvPr id="29" name="Text 24"/>
          <p:cNvSpPr/>
          <p:nvPr/>
        </p:nvSpPr>
        <p:spPr>
          <a:xfrm>
            <a:off x="10442448" y="2148840"/>
            <a:ext cx="758952" cy="228600"/>
          </a:xfrm>
          <a:prstGeom prst="rect">
            <a:avLst/>
          </a:prstGeom>
          <a:noFill/>
          <a:ln/>
        </p:spPr>
        <p:txBody>
          <a:bodyPr wrap="square" lIns="0" tIns="0" rIns="0" bIns="0" rtlCol="0" anchor="ctr"/>
          <a:lstStyle/>
          <a:p>
            <a:pPr algn="ctr" indent="0" marL="0">
              <a:buNone/>
            </a:pPr>
            <a:r>
              <a:rPr lang="en-US" sz="950" b="1" dirty="0">
                <a:solidFill>
                  <a:srgbClr val="596069"/>
                </a:solidFill>
                <a:latin typeface="Arial" pitchFamily="34" charset="0"/>
                <a:ea typeface="Arial" pitchFamily="34" charset="-122"/>
                <a:cs typeface="Arial" pitchFamily="34" charset="-120"/>
              </a:rPr>
              <a:t>Fri</a:t>
            </a:r>
            <a:endParaRPr lang="en-US" sz="950" dirty="0"/>
          </a:p>
        </p:txBody>
      </p:sp>
      <p:sp>
        <p:nvSpPr>
          <p:cNvPr id="30" name="Shape 25"/>
          <p:cNvSpPr/>
          <p:nvPr/>
        </p:nvSpPr>
        <p:spPr>
          <a:xfrm>
            <a:off x="7452360" y="2468880"/>
            <a:ext cx="667512" cy="457200"/>
          </a:xfrm>
          <a:prstGeom prst="roundRect">
            <a:avLst>
              <a:gd name="adj" fmla="val 12000"/>
            </a:avLst>
          </a:prstGeom>
          <a:solidFill>
            <a:srgbClr val="FBEDE1"/>
          </a:solidFill>
          <a:ln/>
        </p:spPr>
      </p:sp>
      <p:sp>
        <p:nvSpPr>
          <p:cNvPr id="31" name="Shape 26"/>
          <p:cNvSpPr/>
          <p:nvPr/>
        </p:nvSpPr>
        <p:spPr>
          <a:xfrm>
            <a:off x="7525512" y="2560320"/>
            <a:ext cx="521208" cy="109728"/>
          </a:xfrm>
          <a:prstGeom prst="roundRect">
            <a:avLst>
              <a:gd name="adj" fmla="val 50000"/>
            </a:avLst>
          </a:prstGeom>
          <a:solidFill>
            <a:srgbClr val="DC661F"/>
          </a:solidFill>
          <a:ln/>
        </p:spPr>
      </p:sp>
      <p:sp>
        <p:nvSpPr>
          <p:cNvPr id="32" name="Shape 27"/>
          <p:cNvSpPr/>
          <p:nvPr/>
        </p:nvSpPr>
        <p:spPr>
          <a:xfrm>
            <a:off x="8211312" y="2468880"/>
            <a:ext cx="667512" cy="457200"/>
          </a:xfrm>
          <a:prstGeom prst="roundRect">
            <a:avLst>
              <a:gd name="adj" fmla="val 12000"/>
            </a:avLst>
          </a:prstGeom>
          <a:solidFill>
            <a:srgbClr val="FBEDE1"/>
          </a:solidFill>
          <a:ln/>
        </p:spPr>
      </p:sp>
      <p:sp>
        <p:nvSpPr>
          <p:cNvPr id="33" name="Shape 28"/>
          <p:cNvSpPr/>
          <p:nvPr/>
        </p:nvSpPr>
        <p:spPr>
          <a:xfrm>
            <a:off x="8284464" y="2560320"/>
            <a:ext cx="521208" cy="109728"/>
          </a:xfrm>
          <a:prstGeom prst="roundRect">
            <a:avLst>
              <a:gd name="adj" fmla="val 50000"/>
            </a:avLst>
          </a:prstGeom>
          <a:solidFill>
            <a:srgbClr val="DC661F"/>
          </a:solidFill>
          <a:ln/>
        </p:spPr>
      </p:sp>
      <p:sp>
        <p:nvSpPr>
          <p:cNvPr id="34" name="Shape 29"/>
          <p:cNvSpPr/>
          <p:nvPr/>
        </p:nvSpPr>
        <p:spPr>
          <a:xfrm>
            <a:off x="8970264" y="2468880"/>
            <a:ext cx="667512" cy="457200"/>
          </a:xfrm>
          <a:prstGeom prst="roundRect">
            <a:avLst>
              <a:gd name="adj" fmla="val 12000"/>
            </a:avLst>
          </a:prstGeom>
          <a:solidFill>
            <a:srgbClr val="F5F6F8"/>
          </a:solidFill>
          <a:ln/>
        </p:spPr>
      </p:sp>
      <p:sp>
        <p:nvSpPr>
          <p:cNvPr id="35" name="Shape 30"/>
          <p:cNvSpPr/>
          <p:nvPr/>
        </p:nvSpPr>
        <p:spPr>
          <a:xfrm>
            <a:off x="9729216" y="2468880"/>
            <a:ext cx="667512" cy="457200"/>
          </a:xfrm>
          <a:prstGeom prst="roundRect">
            <a:avLst>
              <a:gd name="adj" fmla="val 12000"/>
            </a:avLst>
          </a:prstGeom>
          <a:solidFill>
            <a:srgbClr val="FBEDE1"/>
          </a:solidFill>
          <a:ln/>
        </p:spPr>
      </p:sp>
      <p:sp>
        <p:nvSpPr>
          <p:cNvPr id="36" name="Shape 31"/>
          <p:cNvSpPr/>
          <p:nvPr/>
        </p:nvSpPr>
        <p:spPr>
          <a:xfrm>
            <a:off x="9802368" y="2560320"/>
            <a:ext cx="521208" cy="109728"/>
          </a:xfrm>
          <a:prstGeom prst="roundRect">
            <a:avLst>
              <a:gd name="adj" fmla="val 50000"/>
            </a:avLst>
          </a:prstGeom>
          <a:solidFill>
            <a:srgbClr val="DC661F"/>
          </a:solidFill>
          <a:ln/>
        </p:spPr>
      </p:sp>
      <p:sp>
        <p:nvSpPr>
          <p:cNvPr id="37" name="Shape 32"/>
          <p:cNvSpPr/>
          <p:nvPr/>
        </p:nvSpPr>
        <p:spPr>
          <a:xfrm>
            <a:off x="10488168" y="2468880"/>
            <a:ext cx="667512" cy="457200"/>
          </a:xfrm>
          <a:prstGeom prst="roundRect">
            <a:avLst>
              <a:gd name="adj" fmla="val 12000"/>
            </a:avLst>
          </a:prstGeom>
          <a:solidFill>
            <a:srgbClr val="FBEDE1"/>
          </a:solidFill>
          <a:ln/>
        </p:spPr>
      </p:sp>
      <p:sp>
        <p:nvSpPr>
          <p:cNvPr id="38" name="Shape 33"/>
          <p:cNvSpPr/>
          <p:nvPr/>
        </p:nvSpPr>
        <p:spPr>
          <a:xfrm>
            <a:off x="10561320" y="2560320"/>
            <a:ext cx="521208" cy="109728"/>
          </a:xfrm>
          <a:prstGeom prst="roundRect">
            <a:avLst>
              <a:gd name="adj" fmla="val 50000"/>
            </a:avLst>
          </a:prstGeom>
          <a:solidFill>
            <a:srgbClr val="DC661F"/>
          </a:solidFill>
          <a:ln/>
        </p:spPr>
      </p:sp>
      <p:sp>
        <p:nvSpPr>
          <p:cNvPr id="39" name="Shape 34"/>
          <p:cNvSpPr/>
          <p:nvPr/>
        </p:nvSpPr>
        <p:spPr>
          <a:xfrm>
            <a:off x="7452360" y="3035808"/>
            <a:ext cx="667512" cy="457200"/>
          </a:xfrm>
          <a:prstGeom prst="roundRect">
            <a:avLst>
              <a:gd name="adj" fmla="val 12000"/>
            </a:avLst>
          </a:prstGeom>
          <a:solidFill>
            <a:srgbClr val="FBEDE1"/>
          </a:solidFill>
          <a:ln/>
        </p:spPr>
      </p:sp>
      <p:sp>
        <p:nvSpPr>
          <p:cNvPr id="40" name="Shape 35"/>
          <p:cNvSpPr/>
          <p:nvPr/>
        </p:nvSpPr>
        <p:spPr>
          <a:xfrm>
            <a:off x="7525512" y="3127248"/>
            <a:ext cx="521208" cy="109728"/>
          </a:xfrm>
          <a:prstGeom prst="roundRect">
            <a:avLst>
              <a:gd name="adj" fmla="val 50000"/>
            </a:avLst>
          </a:prstGeom>
          <a:solidFill>
            <a:srgbClr val="DC661F"/>
          </a:solidFill>
          <a:ln/>
        </p:spPr>
      </p:sp>
      <p:sp>
        <p:nvSpPr>
          <p:cNvPr id="41" name="Shape 36"/>
          <p:cNvSpPr/>
          <p:nvPr/>
        </p:nvSpPr>
        <p:spPr>
          <a:xfrm>
            <a:off x="8211312" y="3035808"/>
            <a:ext cx="667512" cy="457200"/>
          </a:xfrm>
          <a:prstGeom prst="roundRect">
            <a:avLst>
              <a:gd name="adj" fmla="val 12000"/>
            </a:avLst>
          </a:prstGeom>
          <a:solidFill>
            <a:srgbClr val="F5F6F8"/>
          </a:solidFill>
          <a:ln/>
        </p:spPr>
      </p:sp>
      <p:sp>
        <p:nvSpPr>
          <p:cNvPr id="42" name="Shape 37"/>
          <p:cNvSpPr/>
          <p:nvPr/>
        </p:nvSpPr>
        <p:spPr>
          <a:xfrm>
            <a:off x="8970264" y="3035808"/>
            <a:ext cx="667512" cy="457200"/>
          </a:xfrm>
          <a:prstGeom prst="roundRect">
            <a:avLst>
              <a:gd name="adj" fmla="val 12000"/>
            </a:avLst>
          </a:prstGeom>
          <a:solidFill>
            <a:srgbClr val="FBEDE1"/>
          </a:solidFill>
          <a:ln/>
        </p:spPr>
      </p:sp>
      <p:sp>
        <p:nvSpPr>
          <p:cNvPr id="43" name="Shape 38"/>
          <p:cNvSpPr/>
          <p:nvPr/>
        </p:nvSpPr>
        <p:spPr>
          <a:xfrm>
            <a:off x="9043416" y="3127248"/>
            <a:ext cx="521208" cy="109728"/>
          </a:xfrm>
          <a:prstGeom prst="roundRect">
            <a:avLst>
              <a:gd name="adj" fmla="val 50000"/>
            </a:avLst>
          </a:prstGeom>
          <a:solidFill>
            <a:srgbClr val="DC661F"/>
          </a:solidFill>
          <a:ln/>
        </p:spPr>
      </p:sp>
      <p:sp>
        <p:nvSpPr>
          <p:cNvPr id="44" name="Shape 39"/>
          <p:cNvSpPr/>
          <p:nvPr/>
        </p:nvSpPr>
        <p:spPr>
          <a:xfrm>
            <a:off x="9729216" y="3035808"/>
            <a:ext cx="667512" cy="457200"/>
          </a:xfrm>
          <a:prstGeom prst="roundRect">
            <a:avLst>
              <a:gd name="adj" fmla="val 12000"/>
            </a:avLst>
          </a:prstGeom>
          <a:solidFill>
            <a:srgbClr val="FBEDE1"/>
          </a:solidFill>
          <a:ln/>
        </p:spPr>
      </p:sp>
      <p:sp>
        <p:nvSpPr>
          <p:cNvPr id="45" name="Shape 40"/>
          <p:cNvSpPr/>
          <p:nvPr/>
        </p:nvSpPr>
        <p:spPr>
          <a:xfrm>
            <a:off x="9802368" y="3127248"/>
            <a:ext cx="521208" cy="109728"/>
          </a:xfrm>
          <a:prstGeom prst="roundRect">
            <a:avLst>
              <a:gd name="adj" fmla="val 50000"/>
            </a:avLst>
          </a:prstGeom>
          <a:solidFill>
            <a:srgbClr val="DC661F"/>
          </a:solidFill>
          <a:ln/>
        </p:spPr>
      </p:sp>
      <p:sp>
        <p:nvSpPr>
          <p:cNvPr id="46" name="Shape 41"/>
          <p:cNvSpPr/>
          <p:nvPr/>
        </p:nvSpPr>
        <p:spPr>
          <a:xfrm>
            <a:off x="10488168" y="3035808"/>
            <a:ext cx="667512" cy="457200"/>
          </a:xfrm>
          <a:prstGeom prst="roundRect">
            <a:avLst>
              <a:gd name="adj" fmla="val 12000"/>
            </a:avLst>
          </a:prstGeom>
          <a:solidFill>
            <a:srgbClr val="F5F6F8"/>
          </a:solidFill>
          <a:ln/>
        </p:spPr>
      </p:sp>
      <p:sp>
        <p:nvSpPr>
          <p:cNvPr id="47" name="Shape 42"/>
          <p:cNvSpPr/>
          <p:nvPr/>
        </p:nvSpPr>
        <p:spPr>
          <a:xfrm>
            <a:off x="7452360" y="3602736"/>
            <a:ext cx="667512" cy="457200"/>
          </a:xfrm>
          <a:prstGeom prst="roundRect">
            <a:avLst>
              <a:gd name="adj" fmla="val 12000"/>
            </a:avLst>
          </a:prstGeom>
          <a:solidFill>
            <a:srgbClr val="FBEDE1"/>
          </a:solidFill>
          <a:ln/>
        </p:spPr>
      </p:sp>
      <p:sp>
        <p:nvSpPr>
          <p:cNvPr id="48" name="Shape 43"/>
          <p:cNvSpPr/>
          <p:nvPr/>
        </p:nvSpPr>
        <p:spPr>
          <a:xfrm>
            <a:off x="7525512" y="3694176"/>
            <a:ext cx="521208" cy="109728"/>
          </a:xfrm>
          <a:prstGeom prst="roundRect">
            <a:avLst>
              <a:gd name="adj" fmla="val 50000"/>
            </a:avLst>
          </a:prstGeom>
          <a:solidFill>
            <a:srgbClr val="DC661F"/>
          </a:solidFill>
          <a:ln/>
        </p:spPr>
      </p:sp>
      <p:sp>
        <p:nvSpPr>
          <p:cNvPr id="49" name="Shape 44"/>
          <p:cNvSpPr/>
          <p:nvPr/>
        </p:nvSpPr>
        <p:spPr>
          <a:xfrm>
            <a:off x="8211312" y="3602736"/>
            <a:ext cx="667512" cy="457200"/>
          </a:xfrm>
          <a:prstGeom prst="roundRect">
            <a:avLst>
              <a:gd name="adj" fmla="val 12000"/>
            </a:avLst>
          </a:prstGeom>
          <a:solidFill>
            <a:srgbClr val="FBEDE1"/>
          </a:solidFill>
          <a:ln/>
        </p:spPr>
      </p:sp>
      <p:sp>
        <p:nvSpPr>
          <p:cNvPr id="50" name="Shape 45"/>
          <p:cNvSpPr/>
          <p:nvPr/>
        </p:nvSpPr>
        <p:spPr>
          <a:xfrm>
            <a:off x="8284464" y="3694176"/>
            <a:ext cx="521208" cy="109728"/>
          </a:xfrm>
          <a:prstGeom prst="roundRect">
            <a:avLst>
              <a:gd name="adj" fmla="val 50000"/>
            </a:avLst>
          </a:prstGeom>
          <a:solidFill>
            <a:srgbClr val="DC661F"/>
          </a:solidFill>
          <a:ln/>
        </p:spPr>
      </p:sp>
      <p:sp>
        <p:nvSpPr>
          <p:cNvPr id="51" name="Shape 46"/>
          <p:cNvSpPr/>
          <p:nvPr/>
        </p:nvSpPr>
        <p:spPr>
          <a:xfrm>
            <a:off x="8970264" y="3602736"/>
            <a:ext cx="667512" cy="457200"/>
          </a:xfrm>
          <a:prstGeom prst="roundRect">
            <a:avLst>
              <a:gd name="adj" fmla="val 12000"/>
            </a:avLst>
          </a:prstGeom>
          <a:solidFill>
            <a:srgbClr val="FBEDE1"/>
          </a:solidFill>
          <a:ln/>
        </p:spPr>
      </p:sp>
      <p:sp>
        <p:nvSpPr>
          <p:cNvPr id="52" name="Shape 47"/>
          <p:cNvSpPr/>
          <p:nvPr/>
        </p:nvSpPr>
        <p:spPr>
          <a:xfrm>
            <a:off x="9043416" y="3694176"/>
            <a:ext cx="521208" cy="109728"/>
          </a:xfrm>
          <a:prstGeom prst="roundRect">
            <a:avLst>
              <a:gd name="adj" fmla="val 50000"/>
            </a:avLst>
          </a:prstGeom>
          <a:solidFill>
            <a:srgbClr val="DC661F"/>
          </a:solidFill>
          <a:ln/>
        </p:spPr>
      </p:sp>
      <p:sp>
        <p:nvSpPr>
          <p:cNvPr id="53" name="Shape 48"/>
          <p:cNvSpPr/>
          <p:nvPr/>
        </p:nvSpPr>
        <p:spPr>
          <a:xfrm>
            <a:off x="9729216" y="3602736"/>
            <a:ext cx="667512" cy="457200"/>
          </a:xfrm>
          <a:prstGeom prst="roundRect">
            <a:avLst>
              <a:gd name="adj" fmla="val 12000"/>
            </a:avLst>
          </a:prstGeom>
          <a:solidFill>
            <a:srgbClr val="F5F6F8"/>
          </a:solidFill>
          <a:ln/>
        </p:spPr>
      </p:sp>
      <p:sp>
        <p:nvSpPr>
          <p:cNvPr id="54" name="Shape 49"/>
          <p:cNvSpPr/>
          <p:nvPr/>
        </p:nvSpPr>
        <p:spPr>
          <a:xfrm>
            <a:off x="10488168" y="3602736"/>
            <a:ext cx="667512" cy="457200"/>
          </a:xfrm>
          <a:prstGeom prst="roundRect">
            <a:avLst>
              <a:gd name="adj" fmla="val 12000"/>
            </a:avLst>
          </a:prstGeom>
          <a:solidFill>
            <a:srgbClr val="FBEDE1"/>
          </a:solidFill>
          <a:ln/>
        </p:spPr>
      </p:sp>
      <p:sp>
        <p:nvSpPr>
          <p:cNvPr id="55" name="Shape 50"/>
          <p:cNvSpPr/>
          <p:nvPr/>
        </p:nvSpPr>
        <p:spPr>
          <a:xfrm>
            <a:off x="10561320" y="3694176"/>
            <a:ext cx="521208" cy="109728"/>
          </a:xfrm>
          <a:prstGeom prst="roundRect">
            <a:avLst>
              <a:gd name="adj" fmla="val 50000"/>
            </a:avLst>
          </a:prstGeom>
          <a:solidFill>
            <a:srgbClr val="DC661F"/>
          </a:solidFill>
          <a:ln/>
        </p:spPr>
      </p:sp>
      <p:sp>
        <p:nvSpPr>
          <p:cNvPr id="56" name="Shape 51"/>
          <p:cNvSpPr/>
          <p:nvPr/>
        </p:nvSpPr>
        <p:spPr>
          <a:xfrm>
            <a:off x="7406640" y="4434840"/>
            <a:ext cx="3794760" cy="566928"/>
          </a:xfrm>
          <a:prstGeom prst="roundRect">
            <a:avLst>
              <a:gd name="adj" fmla="val 12903"/>
            </a:avLst>
          </a:prstGeom>
          <a:solidFill>
            <a:srgbClr val="FCEBEA"/>
          </a:solidFill>
          <a:ln/>
        </p:spPr>
      </p:sp>
      <p:pic>
        <p:nvPicPr>
          <p:cNvPr id="57" name="Image 3" descr="preencoded.png">    </p:cNvPr>
          <p:cNvPicPr>
            <a:picLocks noChangeAspect="1"/>
          </p:cNvPicPr>
          <p:nvPr/>
        </p:nvPicPr>
        <p:blipFill>
          <a:blip r:embed="rId4"/>
          <a:stretch>
            <a:fillRect/>
          </a:stretch>
        </p:blipFill>
        <p:spPr>
          <a:xfrm>
            <a:off x="7552944" y="4581144"/>
            <a:ext cx="274320" cy="274320"/>
          </a:xfrm>
          <a:prstGeom prst="rect">
            <a:avLst/>
          </a:prstGeom>
        </p:spPr>
      </p:pic>
      <p:sp>
        <p:nvSpPr>
          <p:cNvPr id="58" name="Text 52"/>
          <p:cNvSpPr/>
          <p:nvPr/>
        </p:nvSpPr>
        <p:spPr>
          <a:xfrm>
            <a:off x="7955280" y="4434840"/>
            <a:ext cx="3246120" cy="566928"/>
          </a:xfrm>
          <a:prstGeom prst="rect">
            <a:avLst/>
          </a:prstGeom>
          <a:noFill/>
          <a:ln/>
        </p:spPr>
        <p:txBody>
          <a:bodyPr wrap="square" lIns="0" tIns="0" rIns="0" bIns="0" rtlCol="0" anchor="ctr"/>
          <a:lstStyle/>
          <a:p>
            <a:pPr indent="0" marL="0">
              <a:buNone/>
            </a:pPr>
            <a:r>
              <a:rPr lang="en-US" sz="1100" b="1" dirty="0">
                <a:solidFill>
                  <a:srgbClr val="B23A2E"/>
                </a:solidFill>
                <a:latin typeface="Arial" pitchFamily="34" charset="0"/>
                <a:ea typeface="Arial" pitchFamily="34" charset="-122"/>
                <a:cs typeface="Arial" pitchFamily="34" charset="-120"/>
              </a:rPr>
              <a:t>Thursday PM — no matched worker for Idris</a:t>
            </a:r>
            <a:endParaRPr lang="en-US" sz="1100" dirty="0"/>
          </a:p>
        </p:txBody>
      </p:sp>
      <p:sp>
        <p:nvSpPr>
          <p:cNvPr id="59" name="Text 53"/>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60" name="Text 54"/>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09 /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10   </a:t>
            </a:r>
            <a:pPr algn="l" indent="0" marL="0">
              <a:buNone/>
            </a:pPr>
            <a:r>
              <a:rPr lang="en-US" sz="1150" b="1" spc="200" kern="0" dirty="0">
                <a:solidFill>
                  <a:srgbClr val="596069"/>
                </a:solidFill>
                <a:latin typeface="Arial" pitchFamily="34" charset="0"/>
                <a:ea typeface="Arial" pitchFamily="34" charset="-122"/>
                <a:cs typeface="Arial" pitchFamily="34" charset="-120"/>
              </a:rPr>
              <a:t>EXPERIENCE · THE EXECUTIVE</a:t>
            </a:r>
            <a:endParaRPr lang="en-US" sz="1150" dirty="0"/>
          </a:p>
        </p:txBody>
      </p:sp>
      <p:sp>
        <p:nvSpPr>
          <p:cNvPr id="4" name="Text 2"/>
          <p:cNvSpPr/>
          <p:nvPr/>
        </p:nvSpPr>
        <p:spPr>
          <a:xfrm>
            <a:off x="640080" y="932688"/>
            <a:ext cx="5852160" cy="914400"/>
          </a:xfrm>
          <a:prstGeom prst="rect">
            <a:avLst/>
          </a:prstGeom>
          <a:noFill/>
          <a:ln/>
        </p:spPr>
        <p:txBody>
          <a:bodyPr wrap="square" lIns="0" tIns="0" rIns="0" bIns="0" rtlCol="0" anchor="ctr"/>
          <a:lstStyle/>
          <a:p>
            <a:pPr indent="0" marL="0">
              <a:buNone/>
            </a:pPr>
            <a:r>
              <a:rPr lang="en-US" sz="3200" b="1" dirty="0">
                <a:solidFill>
                  <a:srgbClr val="23272E"/>
                </a:solidFill>
                <a:latin typeface="Arial" pitchFamily="34" charset="0"/>
                <a:ea typeface="Arial" pitchFamily="34" charset="-122"/>
                <a:cs typeface="Arial" pitchFamily="34" charset="-120"/>
              </a:rPr>
              <a:t>One honest question, answered with evidence.</a:t>
            </a:r>
            <a:endParaRPr lang="en-US" sz="3200" dirty="0"/>
          </a:p>
        </p:txBody>
      </p:sp>
      <p:sp>
        <p:nvSpPr>
          <p:cNvPr id="5" name="Text 3"/>
          <p:cNvSpPr/>
          <p:nvPr/>
        </p:nvSpPr>
        <p:spPr>
          <a:xfrm>
            <a:off x="640080" y="1965960"/>
            <a:ext cx="5486400" cy="1097280"/>
          </a:xfrm>
          <a:prstGeom prst="rect">
            <a:avLst/>
          </a:prstGeom>
          <a:noFill/>
          <a:ln/>
        </p:spPr>
        <p:txBody>
          <a:bodyPr wrap="square" lIns="0" tIns="0" rIns="0" bIns="0" rtlCol="0" anchor="ctr"/>
          <a:lstStyle/>
          <a:p>
            <a:pPr indent="0" marL="0">
              <a:lnSpc>
                <a:spcPct val="118000"/>
              </a:lnSpc>
              <a:buNone/>
            </a:pPr>
            <a:r>
              <a:rPr lang="en-US" sz="1500" dirty="0">
                <a:solidFill>
                  <a:srgbClr val="596069"/>
                </a:solidFill>
                <a:latin typeface="Arial" pitchFamily="34" charset="0"/>
                <a:ea typeface="Arial" pitchFamily="34" charset="-122"/>
                <a:cs typeface="Arial" pitchFamily="34" charset="-120"/>
              </a:rPr>
              <a:t>“Are we genuinely improving people’s lives?” CareOS answers it from live data, not anecdotes — outcomes, quality, workforce and growth on one page.</a:t>
            </a:r>
            <a:endParaRPr lang="en-US" sz="1500" dirty="0"/>
          </a:p>
        </p:txBody>
      </p:sp>
      <p:sp>
        <p:nvSpPr>
          <p:cNvPr id="6" name="Shape 4"/>
          <p:cNvSpPr/>
          <p:nvPr/>
        </p:nvSpPr>
        <p:spPr>
          <a:xfrm>
            <a:off x="640080" y="324612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3388766"/>
            <a:ext cx="263347" cy="263347"/>
          </a:xfrm>
          <a:prstGeom prst="rect">
            <a:avLst/>
          </a:prstGeom>
        </p:spPr>
      </p:pic>
      <p:sp>
        <p:nvSpPr>
          <p:cNvPr id="8" name="Text 5"/>
          <p:cNvSpPr/>
          <p:nvPr/>
        </p:nvSpPr>
        <p:spPr>
          <a:xfrm>
            <a:off x="1389888" y="3209544"/>
            <a:ext cx="475488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Outcomes, visible</a:t>
            </a:r>
            <a:endParaRPr lang="en-US" sz="1550" dirty="0"/>
          </a:p>
        </p:txBody>
      </p:sp>
      <p:sp>
        <p:nvSpPr>
          <p:cNvPr id="9" name="Text 6"/>
          <p:cNvSpPr/>
          <p:nvPr/>
        </p:nvSpPr>
        <p:spPr>
          <a:xfrm>
            <a:off x="1389888" y="3575304"/>
            <a:ext cx="4754880" cy="457200"/>
          </a:xfrm>
          <a:prstGeom prst="rect">
            <a:avLst/>
          </a:prstGeom>
          <a:noFill/>
          <a:ln/>
        </p:spPr>
        <p:txBody>
          <a:bodyPr wrap="square" lIns="0" tIns="0" rIns="0" bIns="0" rtlCol="0" anchor="ctr"/>
          <a:lstStyle/>
          <a:p>
            <a:pPr indent="0" marL="0">
              <a:buNone/>
            </a:pPr>
            <a:r>
              <a:rPr lang="en-US" sz="1250" dirty="0">
                <a:solidFill>
                  <a:srgbClr val="596069"/>
                </a:solidFill>
                <a:latin typeface="Arial" pitchFamily="34" charset="0"/>
                <a:ea typeface="Arial" pitchFamily="34" charset="-122"/>
                <a:cs typeface="Arial" pitchFamily="34" charset="-120"/>
              </a:rPr>
              <a:t>Goal progress across the organisation, in real time.</a:t>
            </a:r>
            <a:endParaRPr lang="en-US" sz="1250" dirty="0"/>
          </a:p>
        </p:txBody>
      </p:sp>
      <p:sp>
        <p:nvSpPr>
          <p:cNvPr id="10" name="Shape 7"/>
          <p:cNvSpPr/>
          <p:nvPr/>
        </p:nvSpPr>
        <p:spPr>
          <a:xfrm>
            <a:off x="640080" y="4160520"/>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4303166"/>
            <a:ext cx="263347" cy="263347"/>
          </a:xfrm>
          <a:prstGeom prst="rect">
            <a:avLst/>
          </a:prstGeom>
        </p:spPr>
      </p:pic>
      <p:sp>
        <p:nvSpPr>
          <p:cNvPr id="12" name="Text 8"/>
          <p:cNvSpPr/>
          <p:nvPr/>
        </p:nvSpPr>
        <p:spPr>
          <a:xfrm>
            <a:off x="1389888" y="4123944"/>
            <a:ext cx="475488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Quality, evidenced</a:t>
            </a:r>
            <a:endParaRPr lang="en-US" sz="1550" dirty="0"/>
          </a:p>
        </p:txBody>
      </p:sp>
      <p:sp>
        <p:nvSpPr>
          <p:cNvPr id="13" name="Text 9"/>
          <p:cNvSpPr/>
          <p:nvPr/>
        </p:nvSpPr>
        <p:spPr>
          <a:xfrm>
            <a:off x="1389888" y="4489704"/>
            <a:ext cx="4754880" cy="457200"/>
          </a:xfrm>
          <a:prstGeom prst="rect">
            <a:avLst/>
          </a:prstGeom>
          <a:noFill/>
          <a:ln/>
        </p:spPr>
        <p:txBody>
          <a:bodyPr wrap="square" lIns="0" tIns="0" rIns="0" bIns="0" rtlCol="0" anchor="ctr"/>
          <a:lstStyle/>
          <a:p>
            <a:pPr indent="0" marL="0">
              <a:buNone/>
            </a:pPr>
            <a:r>
              <a:rPr lang="en-US" sz="1250" dirty="0">
                <a:solidFill>
                  <a:srgbClr val="596069"/>
                </a:solidFill>
                <a:latin typeface="Arial" pitchFamily="34" charset="0"/>
                <a:ea typeface="Arial" pitchFamily="34" charset="-122"/>
                <a:cs typeface="Arial" pitchFamily="34" charset="-120"/>
              </a:rPr>
              <a:t>Audit-readiness and standards, always current.</a:t>
            </a:r>
            <a:endParaRPr lang="en-US" sz="1250" dirty="0"/>
          </a:p>
        </p:txBody>
      </p:sp>
      <p:sp>
        <p:nvSpPr>
          <p:cNvPr id="14" name="Shape 10"/>
          <p:cNvSpPr/>
          <p:nvPr/>
        </p:nvSpPr>
        <p:spPr>
          <a:xfrm>
            <a:off x="640080" y="5074920"/>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5217566"/>
            <a:ext cx="263347" cy="263347"/>
          </a:xfrm>
          <a:prstGeom prst="rect">
            <a:avLst/>
          </a:prstGeom>
        </p:spPr>
      </p:pic>
      <p:sp>
        <p:nvSpPr>
          <p:cNvPr id="16" name="Text 11"/>
          <p:cNvSpPr/>
          <p:nvPr/>
        </p:nvSpPr>
        <p:spPr>
          <a:xfrm>
            <a:off x="1389888" y="5038344"/>
            <a:ext cx="475488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Workforce, understood</a:t>
            </a:r>
            <a:endParaRPr lang="en-US" sz="1550" dirty="0"/>
          </a:p>
        </p:txBody>
      </p:sp>
      <p:sp>
        <p:nvSpPr>
          <p:cNvPr id="17" name="Text 12"/>
          <p:cNvSpPr/>
          <p:nvPr/>
        </p:nvSpPr>
        <p:spPr>
          <a:xfrm>
            <a:off x="1389888" y="5404104"/>
            <a:ext cx="4754880" cy="457200"/>
          </a:xfrm>
          <a:prstGeom prst="rect">
            <a:avLst/>
          </a:prstGeom>
          <a:noFill/>
          <a:ln/>
        </p:spPr>
        <p:txBody>
          <a:bodyPr wrap="square" lIns="0" tIns="0" rIns="0" bIns="0" rtlCol="0" anchor="ctr"/>
          <a:lstStyle/>
          <a:p>
            <a:pPr indent="0" marL="0">
              <a:buNone/>
            </a:pPr>
            <a:r>
              <a:rPr lang="en-US" sz="1250" dirty="0">
                <a:solidFill>
                  <a:srgbClr val="596069"/>
                </a:solidFill>
                <a:latin typeface="Arial" pitchFamily="34" charset="0"/>
                <a:ea typeface="Arial" pitchFamily="34" charset="-122"/>
                <a:cs typeface="Arial" pitchFamily="34" charset="-120"/>
              </a:rPr>
              <a:t>Where the team is thriving — and where to step in.</a:t>
            </a:r>
            <a:endParaRPr lang="en-US" sz="1250" dirty="0"/>
          </a:p>
        </p:txBody>
      </p:sp>
      <p:sp>
        <p:nvSpPr>
          <p:cNvPr id="18" name="Shape 13"/>
          <p:cNvSpPr/>
          <p:nvPr/>
        </p:nvSpPr>
        <p:spPr>
          <a:xfrm>
            <a:off x="7040880" y="1417320"/>
            <a:ext cx="4526280" cy="4480560"/>
          </a:xfrm>
          <a:prstGeom prst="roundRect">
            <a:avLst>
              <a:gd name="adj" fmla="val 2449"/>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19" name="Shape 14"/>
          <p:cNvSpPr/>
          <p:nvPr/>
        </p:nvSpPr>
        <p:spPr>
          <a:xfrm>
            <a:off x="7040880" y="1417320"/>
            <a:ext cx="4526280" cy="457200"/>
          </a:xfrm>
          <a:prstGeom prst="roundRect">
            <a:avLst>
              <a:gd name="adj" fmla="val 24000"/>
            </a:avLst>
          </a:prstGeom>
          <a:solidFill>
            <a:srgbClr val="F5F6F8"/>
          </a:solidFill>
          <a:ln/>
        </p:spPr>
      </p:sp>
      <p:sp>
        <p:nvSpPr>
          <p:cNvPr id="20" name="Shape 15"/>
          <p:cNvSpPr/>
          <p:nvPr/>
        </p:nvSpPr>
        <p:spPr>
          <a:xfrm>
            <a:off x="7040880" y="1737360"/>
            <a:ext cx="4526280" cy="146304"/>
          </a:xfrm>
          <a:prstGeom prst="rect">
            <a:avLst/>
          </a:prstGeom>
          <a:solidFill>
            <a:srgbClr val="F5F6F8"/>
          </a:solidFill>
          <a:ln/>
        </p:spPr>
      </p:sp>
      <p:sp>
        <p:nvSpPr>
          <p:cNvPr id="21" name="Shape 16"/>
          <p:cNvSpPr/>
          <p:nvPr/>
        </p:nvSpPr>
        <p:spPr>
          <a:xfrm>
            <a:off x="7242048" y="1581912"/>
            <a:ext cx="118872" cy="118872"/>
          </a:xfrm>
          <a:prstGeom prst="ellipse">
            <a:avLst/>
          </a:prstGeom>
          <a:solidFill>
            <a:srgbClr val="E06B5A"/>
          </a:solidFill>
          <a:ln/>
        </p:spPr>
      </p:sp>
      <p:sp>
        <p:nvSpPr>
          <p:cNvPr id="22" name="Shape 17"/>
          <p:cNvSpPr/>
          <p:nvPr/>
        </p:nvSpPr>
        <p:spPr>
          <a:xfrm>
            <a:off x="7443216" y="1581912"/>
            <a:ext cx="118872" cy="118872"/>
          </a:xfrm>
          <a:prstGeom prst="ellipse">
            <a:avLst/>
          </a:prstGeom>
          <a:solidFill>
            <a:srgbClr val="E7B54D"/>
          </a:solidFill>
          <a:ln/>
        </p:spPr>
      </p:sp>
      <p:sp>
        <p:nvSpPr>
          <p:cNvPr id="23" name="Shape 18"/>
          <p:cNvSpPr/>
          <p:nvPr/>
        </p:nvSpPr>
        <p:spPr>
          <a:xfrm>
            <a:off x="7644384" y="1581912"/>
            <a:ext cx="118872" cy="118872"/>
          </a:xfrm>
          <a:prstGeom prst="ellipse">
            <a:avLst/>
          </a:prstGeom>
          <a:solidFill>
            <a:srgbClr val="5FB97A"/>
          </a:solidFill>
          <a:ln/>
        </p:spPr>
      </p:sp>
      <p:sp>
        <p:nvSpPr>
          <p:cNvPr id="24" name="Text 19"/>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Executive overview</a:t>
            </a:r>
            <a:endParaRPr lang="en-US" sz="1050" dirty="0"/>
          </a:p>
        </p:txBody>
      </p:sp>
      <p:sp>
        <p:nvSpPr>
          <p:cNvPr id="25" name="Shape 20"/>
          <p:cNvSpPr/>
          <p:nvPr/>
        </p:nvSpPr>
        <p:spPr>
          <a:xfrm>
            <a:off x="7406640" y="2103120"/>
            <a:ext cx="1143000" cy="914400"/>
          </a:xfrm>
          <a:prstGeom prst="roundRect">
            <a:avLst>
              <a:gd name="adj" fmla="val 8000"/>
            </a:avLst>
          </a:prstGeom>
          <a:solidFill>
            <a:srgbClr val="F5F6F8"/>
          </a:solidFill>
          <a:ln/>
        </p:spPr>
      </p:sp>
      <p:sp>
        <p:nvSpPr>
          <p:cNvPr id="26" name="Text 21"/>
          <p:cNvSpPr/>
          <p:nvPr/>
        </p:nvSpPr>
        <p:spPr>
          <a:xfrm>
            <a:off x="7406640" y="2194560"/>
            <a:ext cx="1143000" cy="457200"/>
          </a:xfrm>
          <a:prstGeom prst="rect">
            <a:avLst/>
          </a:prstGeom>
          <a:noFill/>
          <a:ln/>
        </p:spPr>
        <p:txBody>
          <a:bodyPr wrap="square" lIns="0" tIns="0" rIns="0" bIns="0" rtlCol="0" anchor="ctr"/>
          <a:lstStyle/>
          <a:p>
            <a:pPr algn="ctr" indent="0" marL="0">
              <a:buNone/>
            </a:pPr>
            <a:r>
              <a:rPr lang="en-US" sz="2200" b="1" dirty="0">
                <a:solidFill>
                  <a:srgbClr val="DC661F"/>
                </a:solidFill>
                <a:latin typeface="Arial" pitchFamily="34" charset="0"/>
                <a:ea typeface="Arial" pitchFamily="34" charset="-122"/>
                <a:cs typeface="Arial" pitchFamily="34" charset="-120"/>
              </a:rPr>
              <a:t>312</a:t>
            </a:r>
            <a:endParaRPr lang="en-US" sz="2200" dirty="0"/>
          </a:p>
        </p:txBody>
      </p:sp>
      <p:sp>
        <p:nvSpPr>
          <p:cNvPr id="27" name="Text 22"/>
          <p:cNvSpPr/>
          <p:nvPr/>
        </p:nvSpPr>
        <p:spPr>
          <a:xfrm>
            <a:off x="7452360" y="2679192"/>
            <a:ext cx="1051560" cy="274320"/>
          </a:xfrm>
          <a:prstGeom prst="rect">
            <a:avLst/>
          </a:prstGeom>
          <a:noFill/>
          <a:ln/>
        </p:spPr>
        <p:txBody>
          <a:bodyPr wrap="square" lIns="0" tIns="0" rIns="0" bIns="0" rtlCol="0" anchor="ctr"/>
          <a:lstStyle/>
          <a:p>
            <a:pPr algn="ctr" indent="0" marL="0">
              <a:buNone/>
            </a:pPr>
            <a:r>
              <a:rPr lang="en-US" sz="850" dirty="0">
                <a:solidFill>
                  <a:srgbClr val="596069"/>
                </a:solidFill>
                <a:latin typeface="Arial" pitchFamily="34" charset="0"/>
                <a:ea typeface="Arial" pitchFamily="34" charset="-122"/>
                <a:cs typeface="Arial" pitchFamily="34" charset="-120"/>
              </a:rPr>
              <a:t>Active participants</a:t>
            </a:r>
            <a:endParaRPr lang="en-US" sz="850" dirty="0"/>
          </a:p>
        </p:txBody>
      </p:sp>
      <p:sp>
        <p:nvSpPr>
          <p:cNvPr id="28" name="Shape 23"/>
          <p:cNvSpPr/>
          <p:nvPr/>
        </p:nvSpPr>
        <p:spPr>
          <a:xfrm>
            <a:off x="8732520" y="2103120"/>
            <a:ext cx="1143000" cy="914400"/>
          </a:xfrm>
          <a:prstGeom prst="roundRect">
            <a:avLst>
              <a:gd name="adj" fmla="val 8000"/>
            </a:avLst>
          </a:prstGeom>
          <a:solidFill>
            <a:srgbClr val="F5F6F8"/>
          </a:solidFill>
          <a:ln/>
        </p:spPr>
      </p:sp>
      <p:sp>
        <p:nvSpPr>
          <p:cNvPr id="29" name="Text 24"/>
          <p:cNvSpPr/>
          <p:nvPr/>
        </p:nvSpPr>
        <p:spPr>
          <a:xfrm>
            <a:off x="8732520" y="2194560"/>
            <a:ext cx="1143000" cy="457200"/>
          </a:xfrm>
          <a:prstGeom prst="rect">
            <a:avLst/>
          </a:prstGeom>
          <a:noFill/>
          <a:ln/>
        </p:spPr>
        <p:txBody>
          <a:bodyPr wrap="square" lIns="0" tIns="0" rIns="0" bIns="0" rtlCol="0" anchor="ctr"/>
          <a:lstStyle/>
          <a:p>
            <a:pPr algn="ctr" indent="0" marL="0">
              <a:buNone/>
            </a:pPr>
            <a:r>
              <a:rPr lang="en-US" sz="2200" b="1" dirty="0">
                <a:solidFill>
                  <a:srgbClr val="DC661F"/>
                </a:solidFill>
                <a:latin typeface="Arial" pitchFamily="34" charset="0"/>
                <a:ea typeface="Arial" pitchFamily="34" charset="-122"/>
                <a:cs typeface="Arial" pitchFamily="34" charset="-120"/>
              </a:rPr>
              <a:t>88%</a:t>
            </a:r>
            <a:endParaRPr lang="en-US" sz="2200" dirty="0"/>
          </a:p>
        </p:txBody>
      </p:sp>
      <p:sp>
        <p:nvSpPr>
          <p:cNvPr id="30" name="Text 25"/>
          <p:cNvSpPr/>
          <p:nvPr/>
        </p:nvSpPr>
        <p:spPr>
          <a:xfrm>
            <a:off x="8778240" y="2679192"/>
            <a:ext cx="1051560" cy="274320"/>
          </a:xfrm>
          <a:prstGeom prst="rect">
            <a:avLst/>
          </a:prstGeom>
          <a:noFill/>
          <a:ln/>
        </p:spPr>
        <p:txBody>
          <a:bodyPr wrap="square" lIns="0" tIns="0" rIns="0" bIns="0" rtlCol="0" anchor="ctr"/>
          <a:lstStyle/>
          <a:p>
            <a:pPr algn="ctr" indent="0" marL="0">
              <a:buNone/>
            </a:pPr>
            <a:r>
              <a:rPr lang="en-US" sz="850" dirty="0">
                <a:solidFill>
                  <a:srgbClr val="596069"/>
                </a:solidFill>
                <a:latin typeface="Arial" pitchFamily="34" charset="0"/>
                <a:ea typeface="Arial" pitchFamily="34" charset="-122"/>
                <a:cs typeface="Arial" pitchFamily="34" charset="-120"/>
              </a:rPr>
              <a:t>Goals on track</a:t>
            </a:r>
            <a:endParaRPr lang="en-US" sz="850" dirty="0"/>
          </a:p>
        </p:txBody>
      </p:sp>
      <p:sp>
        <p:nvSpPr>
          <p:cNvPr id="31" name="Shape 26"/>
          <p:cNvSpPr/>
          <p:nvPr/>
        </p:nvSpPr>
        <p:spPr>
          <a:xfrm>
            <a:off x="10058400" y="2103120"/>
            <a:ext cx="1143000" cy="914400"/>
          </a:xfrm>
          <a:prstGeom prst="roundRect">
            <a:avLst>
              <a:gd name="adj" fmla="val 8000"/>
            </a:avLst>
          </a:prstGeom>
          <a:solidFill>
            <a:srgbClr val="F5F6F8"/>
          </a:solidFill>
          <a:ln/>
        </p:spPr>
      </p:sp>
      <p:sp>
        <p:nvSpPr>
          <p:cNvPr id="32" name="Text 27"/>
          <p:cNvSpPr/>
          <p:nvPr/>
        </p:nvSpPr>
        <p:spPr>
          <a:xfrm>
            <a:off x="10058400" y="2194560"/>
            <a:ext cx="1143000" cy="457200"/>
          </a:xfrm>
          <a:prstGeom prst="rect">
            <a:avLst/>
          </a:prstGeom>
          <a:noFill/>
          <a:ln/>
        </p:spPr>
        <p:txBody>
          <a:bodyPr wrap="square" lIns="0" tIns="0" rIns="0" bIns="0" rtlCol="0" anchor="ctr"/>
          <a:lstStyle/>
          <a:p>
            <a:pPr algn="ctr" indent="0" marL="0">
              <a:buNone/>
            </a:pPr>
            <a:r>
              <a:rPr lang="en-US" sz="2200" b="1" dirty="0">
                <a:solidFill>
                  <a:srgbClr val="DC661F"/>
                </a:solidFill>
                <a:latin typeface="Arial" pitchFamily="34" charset="0"/>
                <a:ea typeface="Arial" pitchFamily="34" charset="-122"/>
                <a:cs typeface="Arial" pitchFamily="34" charset="-120"/>
              </a:rPr>
              <a:t>96%</a:t>
            </a:r>
            <a:endParaRPr lang="en-US" sz="2200" dirty="0"/>
          </a:p>
        </p:txBody>
      </p:sp>
      <p:sp>
        <p:nvSpPr>
          <p:cNvPr id="33" name="Text 28"/>
          <p:cNvSpPr/>
          <p:nvPr/>
        </p:nvSpPr>
        <p:spPr>
          <a:xfrm>
            <a:off x="10104120" y="2679192"/>
            <a:ext cx="1051560" cy="274320"/>
          </a:xfrm>
          <a:prstGeom prst="rect">
            <a:avLst/>
          </a:prstGeom>
          <a:noFill/>
          <a:ln/>
        </p:spPr>
        <p:txBody>
          <a:bodyPr wrap="square" lIns="0" tIns="0" rIns="0" bIns="0" rtlCol="0" anchor="ctr"/>
          <a:lstStyle/>
          <a:p>
            <a:pPr algn="ctr" indent="0" marL="0">
              <a:buNone/>
            </a:pPr>
            <a:r>
              <a:rPr lang="en-US" sz="850" dirty="0">
                <a:solidFill>
                  <a:srgbClr val="596069"/>
                </a:solidFill>
                <a:latin typeface="Arial" pitchFamily="34" charset="0"/>
                <a:ea typeface="Arial" pitchFamily="34" charset="-122"/>
                <a:cs typeface="Arial" pitchFamily="34" charset="-120"/>
              </a:rPr>
              <a:t>Audit-ready</a:t>
            </a:r>
            <a:endParaRPr lang="en-US" sz="850" dirty="0"/>
          </a:p>
        </p:txBody>
      </p:sp>
      <p:graphicFrame>
        <p:nvGraphicFramePr>
          <p:cNvPr id="34" name="Chart 0" descr=""/>
          <p:cNvGraphicFramePr/>
          <p:nvPr/>
        </p:nvGraphicFramePr>
        <p:xfrm>
          <a:off x="7360920" y="3200400"/>
          <a:ext cx="3886200" cy="2331720"/>
        </p:xfrm>
        <a:graphic xmlns:a="http://schemas.openxmlformats.org/drawingml/2006/main">
          <a:graphicData uri="http://schemas.openxmlformats.org/drawingml/2006/chart">
            <c:chart xmlns:c="http://schemas.openxmlformats.org/drawingml/2006/chart" r:id="rId4"/>
          </a:graphicData>
        </a:graphic>
      </p:graphicFrame>
      <p:sp>
        <p:nvSpPr>
          <p:cNvPr id="35" name="Text 29"/>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36" name="Text 30"/>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10 / 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11   </a:t>
            </a:r>
            <a:pPr algn="l" indent="0" marL="0">
              <a:buNone/>
            </a:pPr>
            <a:r>
              <a:rPr lang="en-US" sz="1150" b="1" spc="200" kern="0" dirty="0">
                <a:solidFill>
                  <a:srgbClr val="596069"/>
                </a:solidFill>
                <a:latin typeface="Arial" pitchFamily="34" charset="0"/>
                <a:ea typeface="Arial" pitchFamily="34" charset="-122"/>
                <a:cs typeface="Arial" pitchFamily="34" charset="-120"/>
              </a:rPr>
              <a:t>EXPERIENCE · THE FAMILY</a:t>
            </a:r>
            <a:endParaRPr lang="en-US" sz="1150" dirty="0"/>
          </a:p>
        </p:txBody>
      </p:sp>
      <p:sp>
        <p:nvSpPr>
          <p:cNvPr id="4" name="Text 2"/>
          <p:cNvSpPr/>
          <p:nvPr/>
        </p:nvSpPr>
        <p:spPr>
          <a:xfrm>
            <a:off x="640080" y="932688"/>
            <a:ext cx="5852160" cy="914400"/>
          </a:xfrm>
          <a:prstGeom prst="rect">
            <a:avLst/>
          </a:prstGeom>
          <a:noFill/>
          <a:ln/>
        </p:spPr>
        <p:txBody>
          <a:bodyPr wrap="square" lIns="0" tIns="0" rIns="0" bIns="0" rtlCol="0" anchor="ctr"/>
          <a:lstStyle/>
          <a:p>
            <a:pPr indent="0" marL="0">
              <a:buNone/>
            </a:pPr>
            <a:r>
              <a:rPr lang="en-US" sz="3200" b="1" dirty="0">
                <a:solidFill>
                  <a:srgbClr val="23272E"/>
                </a:solidFill>
                <a:latin typeface="Arial" pitchFamily="34" charset="0"/>
                <a:ea typeface="Arial" pitchFamily="34" charset="-122"/>
                <a:cs typeface="Arial" pitchFamily="34" charset="-120"/>
              </a:rPr>
              <a:t>Families inside the circle, not outside the door.</a:t>
            </a:r>
            <a:endParaRPr lang="en-US" sz="3200" dirty="0"/>
          </a:p>
        </p:txBody>
      </p:sp>
      <p:sp>
        <p:nvSpPr>
          <p:cNvPr id="5" name="Text 3"/>
          <p:cNvSpPr/>
          <p:nvPr/>
        </p:nvSpPr>
        <p:spPr>
          <a:xfrm>
            <a:off x="640080" y="1965960"/>
            <a:ext cx="5577840" cy="914400"/>
          </a:xfrm>
          <a:prstGeom prst="rect">
            <a:avLst/>
          </a:prstGeom>
          <a:noFill/>
          <a:ln/>
        </p:spPr>
        <p:txBody>
          <a:bodyPr wrap="square" lIns="0" tIns="0" rIns="0" bIns="0" rtlCol="0" anchor="ctr"/>
          <a:lstStyle/>
          <a:p>
            <a:pPr indent="0" marL="0">
              <a:lnSpc>
                <a:spcPct val="118000"/>
              </a:lnSpc>
              <a:buNone/>
            </a:pPr>
            <a:r>
              <a:rPr lang="en-US" sz="1500" dirty="0">
                <a:solidFill>
                  <a:srgbClr val="596069"/>
                </a:solidFill>
                <a:latin typeface="Arial" pitchFamily="34" charset="0"/>
                <a:ea typeface="Arial" pitchFamily="34" charset="-122"/>
                <a:cs typeface="Arial" pitchFamily="34" charset="-120"/>
              </a:rPr>
              <a:t>Parents see how the day actually went — wins first, in plain language — and can reach the team without chasing phone calls.</a:t>
            </a:r>
            <a:endParaRPr lang="en-US" sz="1500" dirty="0"/>
          </a:p>
        </p:txBody>
      </p:sp>
      <p:sp>
        <p:nvSpPr>
          <p:cNvPr id="6" name="Shape 4"/>
          <p:cNvSpPr/>
          <p:nvPr/>
        </p:nvSpPr>
        <p:spPr>
          <a:xfrm>
            <a:off x="640080" y="320040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3343046"/>
            <a:ext cx="263347" cy="263347"/>
          </a:xfrm>
          <a:prstGeom prst="rect">
            <a:avLst/>
          </a:prstGeom>
        </p:spPr>
      </p:pic>
      <p:sp>
        <p:nvSpPr>
          <p:cNvPr id="8" name="Text 5"/>
          <p:cNvSpPr/>
          <p:nvPr/>
        </p:nvSpPr>
        <p:spPr>
          <a:xfrm>
            <a:off x="1389888" y="3163824"/>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A window into the day</a:t>
            </a:r>
            <a:endParaRPr lang="en-US" sz="1550" dirty="0"/>
          </a:p>
        </p:txBody>
      </p:sp>
      <p:sp>
        <p:nvSpPr>
          <p:cNvPr id="9" name="Text 6"/>
          <p:cNvSpPr/>
          <p:nvPr/>
        </p:nvSpPr>
        <p:spPr>
          <a:xfrm>
            <a:off x="1389888" y="3529584"/>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Highlights and updates, shared with consent.</a:t>
            </a:r>
            <a:endParaRPr lang="en-US" sz="1250" dirty="0"/>
          </a:p>
        </p:txBody>
      </p:sp>
      <p:sp>
        <p:nvSpPr>
          <p:cNvPr id="10" name="Shape 7"/>
          <p:cNvSpPr/>
          <p:nvPr/>
        </p:nvSpPr>
        <p:spPr>
          <a:xfrm>
            <a:off x="640080" y="4133088"/>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4275734"/>
            <a:ext cx="263347" cy="263347"/>
          </a:xfrm>
          <a:prstGeom prst="rect">
            <a:avLst/>
          </a:prstGeom>
        </p:spPr>
      </p:pic>
      <p:sp>
        <p:nvSpPr>
          <p:cNvPr id="12" name="Text 8"/>
          <p:cNvSpPr/>
          <p:nvPr/>
        </p:nvSpPr>
        <p:spPr>
          <a:xfrm>
            <a:off x="1389888" y="4096512"/>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Reassurance in real time</a:t>
            </a:r>
            <a:endParaRPr lang="en-US" sz="1550" dirty="0"/>
          </a:p>
        </p:txBody>
      </p:sp>
      <p:sp>
        <p:nvSpPr>
          <p:cNvPr id="13" name="Text 9"/>
          <p:cNvSpPr/>
          <p:nvPr/>
        </p:nvSpPr>
        <p:spPr>
          <a:xfrm>
            <a:off x="1389888" y="4462272"/>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“Arrived” and key moments, as they happen.</a:t>
            </a:r>
            <a:endParaRPr lang="en-US" sz="1250" dirty="0"/>
          </a:p>
        </p:txBody>
      </p:sp>
      <p:sp>
        <p:nvSpPr>
          <p:cNvPr id="14" name="Shape 10"/>
          <p:cNvSpPr/>
          <p:nvPr/>
        </p:nvSpPr>
        <p:spPr>
          <a:xfrm>
            <a:off x="640080" y="5065776"/>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5208422"/>
            <a:ext cx="263347" cy="263347"/>
          </a:xfrm>
          <a:prstGeom prst="rect">
            <a:avLst/>
          </a:prstGeom>
        </p:spPr>
      </p:pic>
      <p:sp>
        <p:nvSpPr>
          <p:cNvPr id="16" name="Text 11"/>
          <p:cNvSpPr/>
          <p:nvPr/>
        </p:nvSpPr>
        <p:spPr>
          <a:xfrm>
            <a:off x="1389888" y="5029200"/>
            <a:ext cx="502920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A voice that’s heard</a:t>
            </a:r>
            <a:endParaRPr lang="en-US" sz="1550" dirty="0"/>
          </a:p>
        </p:txBody>
      </p:sp>
      <p:sp>
        <p:nvSpPr>
          <p:cNvPr id="17" name="Text 12"/>
          <p:cNvSpPr/>
          <p:nvPr/>
        </p:nvSpPr>
        <p:spPr>
          <a:xfrm>
            <a:off x="1389888" y="5394960"/>
            <a:ext cx="5029200" cy="54864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Feedback reaches the team — and the leadership.</a:t>
            </a:r>
            <a:endParaRPr lang="en-US" sz="1250" dirty="0"/>
          </a:p>
        </p:txBody>
      </p:sp>
      <p:sp>
        <p:nvSpPr>
          <p:cNvPr id="18" name="Shape 13"/>
          <p:cNvSpPr/>
          <p:nvPr/>
        </p:nvSpPr>
        <p:spPr>
          <a:xfrm>
            <a:off x="8275320" y="1371600"/>
            <a:ext cx="2057400" cy="4526280"/>
          </a:xfrm>
          <a:prstGeom prst="roundRect">
            <a:avLst>
              <a:gd name="adj" fmla="val 9778"/>
            </a:avLst>
          </a:prstGeom>
          <a:solidFill>
            <a:srgbClr val="FFFFFF"/>
          </a:solidFill>
          <a:ln w="15875">
            <a:solidFill>
              <a:srgbClr val="E6E9ED"/>
            </a:solidFill>
            <a:prstDash val="solid"/>
          </a:ln>
          <a:effectLst>
            <a:outerShdw sx="100000" sy="100000" kx="0" ky="0" algn="bl" rotWithShape="0" blurRad="177800" dist="63500" dir="5400000">
              <a:srgbClr val="9AA0A8">
                <a:alpha val="25000"/>
              </a:srgbClr>
            </a:outerShdw>
          </a:effectLst>
        </p:spPr>
      </p:sp>
      <p:sp>
        <p:nvSpPr>
          <p:cNvPr id="19" name="Shape 14"/>
          <p:cNvSpPr/>
          <p:nvPr/>
        </p:nvSpPr>
        <p:spPr>
          <a:xfrm>
            <a:off x="8983980" y="1481328"/>
            <a:ext cx="640080" cy="128016"/>
          </a:xfrm>
          <a:prstGeom prst="roundRect">
            <a:avLst>
              <a:gd name="adj" fmla="val 50000"/>
            </a:avLst>
          </a:prstGeom>
          <a:solidFill>
            <a:srgbClr val="F5F6F8"/>
          </a:solidFill>
          <a:ln/>
        </p:spPr>
      </p:sp>
      <p:sp>
        <p:nvSpPr>
          <p:cNvPr id="20" name="Text 15"/>
          <p:cNvSpPr/>
          <p:nvPr/>
        </p:nvSpPr>
        <p:spPr>
          <a:xfrm>
            <a:off x="8503920" y="1755648"/>
            <a:ext cx="1600200" cy="274320"/>
          </a:xfrm>
          <a:prstGeom prst="rect">
            <a:avLst/>
          </a:prstGeom>
          <a:noFill/>
          <a:ln/>
        </p:spPr>
        <p:txBody>
          <a:bodyPr wrap="square" lIns="0" tIns="0" rIns="0" bIns="0" rtlCol="0" anchor="ctr"/>
          <a:lstStyle/>
          <a:p>
            <a:pPr indent="0" marL="0">
              <a:buNone/>
            </a:pPr>
            <a:r>
              <a:rPr lang="en-US" sz="1250" b="1" dirty="0">
                <a:solidFill>
                  <a:srgbClr val="23272E"/>
                </a:solidFill>
                <a:latin typeface="Arial" pitchFamily="34" charset="0"/>
                <a:ea typeface="Arial" pitchFamily="34" charset="-122"/>
                <a:cs typeface="Arial" pitchFamily="34" charset="-120"/>
              </a:rPr>
              <a:t>Zayd — today</a:t>
            </a:r>
            <a:endParaRPr lang="en-US" sz="1250" dirty="0"/>
          </a:p>
        </p:txBody>
      </p:sp>
      <p:sp>
        <p:nvSpPr>
          <p:cNvPr id="21" name="Shape 16"/>
          <p:cNvSpPr/>
          <p:nvPr/>
        </p:nvSpPr>
        <p:spPr>
          <a:xfrm>
            <a:off x="8476488" y="2194560"/>
            <a:ext cx="1655064" cy="777240"/>
          </a:xfrm>
          <a:prstGeom prst="roundRect">
            <a:avLst>
              <a:gd name="adj" fmla="val 11765"/>
            </a:avLst>
          </a:prstGeom>
          <a:solidFill>
            <a:srgbClr val="FBEDE1"/>
          </a:solidFill>
          <a:ln/>
        </p:spPr>
      </p:sp>
      <p:sp>
        <p:nvSpPr>
          <p:cNvPr id="22" name="Text 17"/>
          <p:cNvSpPr/>
          <p:nvPr/>
        </p:nvSpPr>
        <p:spPr>
          <a:xfrm>
            <a:off x="8604504" y="2286000"/>
            <a:ext cx="1417320" cy="201168"/>
          </a:xfrm>
          <a:prstGeom prst="rect">
            <a:avLst/>
          </a:prstGeom>
          <a:noFill/>
          <a:ln/>
        </p:spPr>
        <p:txBody>
          <a:bodyPr wrap="square" lIns="0" tIns="0" rIns="0" bIns="0" rtlCol="0" anchor="ctr"/>
          <a:lstStyle/>
          <a:p>
            <a:pPr indent="0" marL="0">
              <a:buNone/>
            </a:pPr>
            <a:r>
              <a:rPr lang="en-US" sz="850" b="1" dirty="0">
                <a:solidFill>
                  <a:srgbClr val="B14E14"/>
                </a:solidFill>
                <a:latin typeface="Arial" pitchFamily="34" charset="0"/>
                <a:ea typeface="Arial" pitchFamily="34" charset="-122"/>
                <a:cs typeface="Arial" pitchFamily="34" charset="-120"/>
              </a:rPr>
              <a:t>8:26am</a:t>
            </a:r>
            <a:endParaRPr lang="en-US" sz="850" dirty="0"/>
          </a:p>
        </p:txBody>
      </p:sp>
      <p:sp>
        <p:nvSpPr>
          <p:cNvPr id="23" name="Text 18"/>
          <p:cNvSpPr/>
          <p:nvPr/>
        </p:nvSpPr>
        <p:spPr>
          <a:xfrm>
            <a:off x="8604504" y="2468880"/>
            <a:ext cx="1399032" cy="457200"/>
          </a:xfrm>
          <a:prstGeom prst="rect">
            <a:avLst/>
          </a:prstGeom>
          <a:noFill/>
          <a:ln/>
        </p:spPr>
        <p:txBody>
          <a:bodyPr wrap="square" lIns="0" tIns="0" rIns="0" bIns="0" rtlCol="0" anchor="ctr"/>
          <a:lstStyle/>
          <a:p>
            <a:pPr indent="0" marL="0">
              <a:lnSpc>
                <a:spcPct val="105000"/>
              </a:lnSpc>
              <a:buNone/>
            </a:pPr>
            <a:r>
              <a:rPr lang="en-US" sz="1000" dirty="0">
                <a:solidFill>
                  <a:srgbClr val="23272E"/>
                </a:solidFill>
                <a:latin typeface="Arial" pitchFamily="34" charset="0"/>
                <a:ea typeface="Arial" pitchFamily="34" charset="-122"/>
                <a:cs typeface="Arial" pitchFamily="34" charset="-120"/>
              </a:rPr>
              <a:t>Leila has arrived</a:t>
            </a:r>
            <a:endParaRPr lang="en-US" sz="1000" dirty="0"/>
          </a:p>
        </p:txBody>
      </p:sp>
      <p:sp>
        <p:nvSpPr>
          <p:cNvPr id="24" name="Shape 19"/>
          <p:cNvSpPr/>
          <p:nvPr/>
        </p:nvSpPr>
        <p:spPr>
          <a:xfrm>
            <a:off x="8476488" y="3127248"/>
            <a:ext cx="1655064" cy="777240"/>
          </a:xfrm>
          <a:prstGeom prst="roundRect">
            <a:avLst>
              <a:gd name="adj" fmla="val 11765"/>
            </a:avLst>
          </a:prstGeom>
          <a:solidFill>
            <a:srgbClr val="F5F6F8"/>
          </a:solidFill>
          <a:ln/>
        </p:spPr>
      </p:sp>
      <p:sp>
        <p:nvSpPr>
          <p:cNvPr id="25" name="Text 20"/>
          <p:cNvSpPr/>
          <p:nvPr/>
        </p:nvSpPr>
        <p:spPr>
          <a:xfrm>
            <a:off x="8604504" y="3218688"/>
            <a:ext cx="1417320" cy="201168"/>
          </a:xfrm>
          <a:prstGeom prst="rect">
            <a:avLst/>
          </a:prstGeom>
          <a:noFill/>
          <a:ln/>
        </p:spPr>
        <p:txBody>
          <a:bodyPr wrap="square" lIns="0" tIns="0" rIns="0" bIns="0" rtlCol="0" anchor="ctr"/>
          <a:lstStyle/>
          <a:p>
            <a:pPr indent="0" marL="0">
              <a:buNone/>
            </a:pPr>
            <a:r>
              <a:rPr lang="en-US" sz="850" b="1" dirty="0">
                <a:solidFill>
                  <a:srgbClr val="596069"/>
                </a:solidFill>
                <a:latin typeface="Arial" pitchFamily="34" charset="0"/>
                <a:ea typeface="Arial" pitchFamily="34" charset="-122"/>
                <a:cs typeface="Arial" pitchFamily="34" charset="-120"/>
              </a:rPr>
              <a:t>11:10am</a:t>
            </a:r>
            <a:endParaRPr lang="en-US" sz="850" dirty="0"/>
          </a:p>
        </p:txBody>
      </p:sp>
      <p:sp>
        <p:nvSpPr>
          <p:cNvPr id="26" name="Text 21"/>
          <p:cNvSpPr/>
          <p:nvPr/>
        </p:nvSpPr>
        <p:spPr>
          <a:xfrm>
            <a:off x="8604504" y="3401568"/>
            <a:ext cx="1399032" cy="457200"/>
          </a:xfrm>
          <a:prstGeom prst="rect">
            <a:avLst/>
          </a:prstGeom>
          <a:noFill/>
          <a:ln/>
        </p:spPr>
        <p:txBody>
          <a:bodyPr wrap="square" lIns="0" tIns="0" rIns="0" bIns="0" rtlCol="0" anchor="ctr"/>
          <a:lstStyle/>
          <a:p>
            <a:pPr indent="0" marL="0">
              <a:lnSpc>
                <a:spcPct val="105000"/>
              </a:lnSpc>
              <a:buNone/>
            </a:pPr>
            <a:r>
              <a:rPr lang="en-US" sz="1000" dirty="0">
                <a:solidFill>
                  <a:srgbClr val="23272E"/>
                </a:solidFill>
                <a:latin typeface="Arial" pitchFamily="34" charset="0"/>
                <a:ea typeface="Arial" pitchFamily="34" charset="-122"/>
                <a:cs typeface="Arial" pitchFamily="34" charset="-120"/>
              </a:rPr>
              <a:t>Asked for breakfast using AAC — a first!</a:t>
            </a:r>
            <a:endParaRPr lang="en-US" sz="1000" dirty="0"/>
          </a:p>
        </p:txBody>
      </p:sp>
      <p:sp>
        <p:nvSpPr>
          <p:cNvPr id="27" name="Shape 22"/>
          <p:cNvSpPr/>
          <p:nvPr/>
        </p:nvSpPr>
        <p:spPr>
          <a:xfrm>
            <a:off x="8476488" y="4059936"/>
            <a:ext cx="1655064" cy="777240"/>
          </a:xfrm>
          <a:prstGeom prst="roundRect">
            <a:avLst>
              <a:gd name="adj" fmla="val 11765"/>
            </a:avLst>
          </a:prstGeom>
          <a:solidFill>
            <a:srgbClr val="F5F6F8"/>
          </a:solidFill>
          <a:ln/>
        </p:spPr>
      </p:sp>
      <p:sp>
        <p:nvSpPr>
          <p:cNvPr id="28" name="Text 23"/>
          <p:cNvSpPr/>
          <p:nvPr/>
        </p:nvSpPr>
        <p:spPr>
          <a:xfrm>
            <a:off x="8604504" y="4151376"/>
            <a:ext cx="1417320" cy="201168"/>
          </a:xfrm>
          <a:prstGeom prst="rect">
            <a:avLst/>
          </a:prstGeom>
          <a:noFill/>
          <a:ln/>
        </p:spPr>
        <p:txBody>
          <a:bodyPr wrap="square" lIns="0" tIns="0" rIns="0" bIns="0" rtlCol="0" anchor="ctr"/>
          <a:lstStyle/>
          <a:p>
            <a:pPr indent="0" marL="0">
              <a:buNone/>
            </a:pPr>
            <a:r>
              <a:rPr lang="en-US" sz="850" b="1" dirty="0">
                <a:solidFill>
                  <a:srgbClr val="596069"/>
                </a:solidFill>
                <a:latin typeface="Arial" pitchFamily="34" charset="0"/>
                <a:ea typeface="Arial" pitchFamily="34" charset="-122"/>
                <a:cs typeface="Arial" pitchFamily="34" charset="-120"/>
              </a:rPr>
              <a:t>2:40pm</a:t>
            </a:r>
            <a:endParaRPr lang="en-US" sz="850" dirty="0"/>
          </a:p>
        </p:txBody>
      </p:sp>
      <p:sp>
        <p:nvSpPr>
          <p:cNvPr id="29" name="Text 24"/>
          <p:cNvSpPr/>
          <p:nvPr/>
        </p:nvSpPr>
        <p:spPr>
          <a:xfrm>
            <a:off x="8604504" y="4334256"/>
            <a:ext cx="1399032" cy="457200"/>
          </a:xfrm>
          <a:prstGeom prst="rect">
            <a:avLst/>
          </a:prstGeom>
          <a:noFill/>
          <a:ln/>
        </p:spPr>
        <p:txBody>
          <a:bodyPr wrap="square" lIns="0" tIns="0" rIns="0" bIns="0" rtlCol="0" anchor="ctr"/>
          <a:lstStyle/>
          <a:p>
            <a:pPr indent="0" marL="0">
              <a:lnSpc>
                <a:spcPct val="105000"/>
              </a:lnSpc>
              <a:buNone/>
            </a:pPr>
            <a:r>
              <a:rPr lang="en-US" sz="1000" dirty="0">
                <a:solidFill>
                  <a:srgbClr val="23272E"/>
                </a:solidFill>
                <a:latin typeface="Arial" pitchFamily="34" charset="0"/>
                <a:ea typeface="Arial" pitchFamily="34" charset="-122"/>
                <a:cs typeface="Arial" pitchFamily="34" charset="-120"/>
              </a:rPr>
              <a:t>Great outing to the park</a:t>
            </a:r>
            <a:endParaRPr lang="en-US" sz="1000" dirty="0"/>
          </a:p>
        </p:txBody>
      </p:sp>
      <p:sp>
        <p:nvSpPr>
          <p:cNvPr id="30" name="Text 25"/>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31" name="Text 26"/>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11 / 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12   </a:t>
            </a:r>
            <a:pPr algn="l" indent="0" marL="0">
              <a:buNone/>
            </a:pPr>
            <a:r>
              <a:rPr lang="en-US" sz="1150" b="1" spc="200" kern="0" dirty="0">
                <a:solidFill>
                  <a:srgbClr val="596069"/>
                </a:solidFill>
                <a:latin typeface="Arial" pitchFamily="34" charset="0"/>
                <a:ea typeface="Arial" pitchFamily="34" charset="-122"/>
                <a:cs typeface="Arial" pitchFamily="34" charset="-120"/>
              </a:rPr>
              <a:t>FROM SLIDES TO SCREENS</a:t>
            </a:r>
            <a:endParaRPr lang="en-US" sz="1150" dirty="0"/>
          </a:p>
        </p:txBody>
      </p:sp>
      <p:sp>
        <p:nvSpPr>
          <p:cNvPr id="4" name="Text 2"/>
          <p:cNvSpPr/>
          <p:nvPr/>
        </p:nvSpPr>
        <p:spPr>
          <a:xfrm>
            <a:off x="640080" y="932688"/>
            <a:ext cx="10972800" cy="77724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Now, let's make it real.</a:t>
            </a:r>
            <a:endParaRPr lang="en-US" sz="3600" dirty="0"/>
          </a:p>
        </p:txBody>
      </p:sp>
      <p:sp>
        <p:nvSpPr>
          <p:cNvPr id="5" name="Text 3"/>
          <p:cNvSpPr/>
          <p:nvPr/>
        </p:nvSpPr>
        <p:spPr>
          <a:xfrm>
            <a:off x="640080" y="1783080"/>
            <a:ext cx="10424160" cy="731520"/>
          </a:xfrm>
          <a:prstGeom prst="rect">
            <a:avLst/>
          </a:prstGeom>
          <a:noFill/>
          <a:ln/>
        </p:spPr>
        <p:txBody>
          <a:bodyPr wrap="square" lIns="0" tIns="0" rIns="0" bIns="0" rtlCol="0" anchor="ctr"/>
          <a:lstStyle/>
          <a:p>
            <a:pPr algn="l" indent="0" marL="0">
              <a:lnSpc>
                <a:spcPct val="110000"/>
              </a:lnSpc>
              <a:buNone/>
            </a:pPr>
            <a:r>
              <a:rPr lang="en-US" sz="1550" dirty="0">
                <a:solidFill>
                  <a:srgbClr val="596069"/>
                </a:solidFill>
                <a:latin typeface="Arial" pitchFamily="34" charset="0"/>
                <a:ea typeface="Arial" pitchFamily="34" charset="-122"/>
                <a:cs typeface="Arial" pitchFamily="34" charset="-120"/>
              </a:rPr>
              <a:t>The live platform. Tap “A Day in the Life” in the bottom corner of the demo and walk three short journeys — every stop explains why that screen matters.</a:t>
            </a:r>
            <a:endParaRPr lang="en-US" sz="1550" dirty="0"/>
          </a:p>
        </p:txBody>
      </p:sp>
      <p:sp>
        <p:nvSpPr>
          <p:cNvPr id="6" name="Shape 4"/>
          <p:cNvSpPr/>
          <p:nvPr/>
        </p:nvSpPr>
        <p:spPr>
          <a:xfrm>
            <a:off x="640080" y="2926080"/>
            <a:ext cx="3502152" cy="2377440"/>
          </a:xfrm>
          <a:prstGeom prst="roundRect">
            <a:avLst>
              <a:gd name="adj" fmla="val 3846"/>
            </a:avLst>
          </a:prstGeom>
          <a:solidFill>
            <a:srgbClr val="F5F6F8"/>
          </a:solidFill>
          <a:ln/>
        </p:spPr>
      </p:sp>
      <p:sp>
        <p:nvSpPr>
          <p:cNvPr id="7" name="Shape 5"/>
          <p:cNvSpPr/>
          <p:nvPr/>
        </p:nvSpPr>
        <p:spPr>
          <a:xfrm>
            <a:off x="960120" y="3246120"/>
            <a:ext cx="566928" cy="566928"/>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107521" y="3393521"/>
            <a:ext cx="272125" cy="272125"/>
          </a:xfrm>
          <a:prstGeom prst="rect">
            <a:avLst/>
          </a:prstGeom>
        </p:spPr>
      </p:pic>
      <p:sp>
        <p:nvSpPr>
          <p:cNvPr id="9" name="Text 6"/>
          <p:cNvSpPr/>
          <p:nvPr/>
        </p:nvSpPr>
        <p:spPr>
          <a:xfrm>
            <a:off x="960120" y="3950208"/>
            <a:ext cx="2862072" cy="411480"/>
          </a:xfrm>
          <a:prstGeom prst="rect">
            <a:avLst/>
          </a:prstGeom>
          <a:noFill/>
          <a:ln/>
        </p:spPr>
        <p:txBody>
          <a:bodyPr wrap="square" lIns="0" tIns="0" rIns="0" bIns="0" rtlCol="0" anchor="ctr"/>
          <a:lstStyle/>
          <a:p>
            <a:pPr indent="0" marL="0">
              <a:buNone/>
            </a:pPr>
            <a:r>
              <a:rPr lang="en-US" sz="1600" b="1" dirty="0">
                <a:solidFill>
                  <a:srgbClr val="23272E"/>
                </a:solidFill>
                <a:latin typeface="Arial" pitchFamily="34" charset="0"/>
                <a:ea typeface="Arial" pitchFamily="34" charset="-122"/>
                <a:cs typeface="Arial" pitchFamily="34" charset="-120"/>
              </a:rPr>
              <a:t>01 · A parent's morning</a:t>
            </a:r>
            <a:endParaRPr lang="en-US" sz="1600" dirty="0"/>
          </a:p>
        </p:txBody>
      </p:sp>
      <p:sp>
        <p:nvSpPr>
          <p:cNvPr id="10" name="Text 7"/>
          <p:cNvSpPr/>
          <p:nvPr/>
        </p:nvSpPr>
        <p:spPr>
          <a:xfrm>
            <a:off x="960120" y="4389120"/>
            <a:ext cx="2862072" cy="822960"/>
          </a:xfrm>
          <a:prstGeom prst="rect">
            <a:avLst/>
          </a:prstGeom>
          <a:noFill/>
          <a:ln/>
        </p:spPr>
        <p:txBody>
          <a:bodyPr wrap="square" lIns="0" tIns="0" rIns="0" bIns="0" rtlCol="0" anchor="ctr"/>
          <a:lstStyle/>
          <a:p>
            <a:pPr indent="0" marL="0">
              <a:lnSpc>
                <a:spcPct val="115000"/>
              </a:lnSpc>
              <a:buNone/>
            </a:pPr>
            <a:r>
              <a:rPr lang="en-US" sz="1200" dirty="0">
                <a:solidFill>
                  <a:srgbClr val="596069"/>
                </a:solidFill>
                <a:latin typeface="Arial" pitchFamily="34" charset="0"/>
                <a:ea typeface="Arial" pitchFamily="34" charset="-122"/>
                <a:cs typeface="Arial" pitchFamily="34" charset="-120"/>
              </a:rPr>
              <a:t>Faraz checks on Zayd — wins first, “Leila has arrived”, the plan budget in plain language.</a:t>
            </a:r>
            <a:endParaRPr lang="en-US" sz="1200" dirty="0"/>
          </a:p>
        </p:txBody>
      </p:sp>
      <p:sp>
        <p:nvSpPr>
          <p:cNvPr id="11" name="Shape 8"/>
          <p:cNvSpPr/>
          <p:nvPr/>
        </p:nvSpPr>
        <p:spPr>
          <a:xfrm>
            <a:off x="4370832" y="2926080"/>
            <a:ext cx="3502152" cy="2377440"/>
          </a:xfrm>
          <a:prstGeom prst="roundRect">
            <a:avLst>
              <a:gd name="adj" fmla="val 3846"/>
            </a:avLst>
          </a:prstGeom>
          <a:solidFill>
            <a:srgbClr val="F5F6F8"/>
          </a:solidFill>
          <a:ln/>
        </p:spPr>
      </p:sp>
      <p:sp>
        <p:nvSpPr>
          <p:cNvPr id="12" name="Shape 9"/>
          <p:cNvSpPr/>
          <p:nvPr/>
        </p:nvSpPr>
        <p:spPr>
          <a:xfrm>
            <a:off x="4690872" y="3246120"/>
            <a:ext cx="566928" cy="566928"/>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838273" y="3393521"/>
            <a:ext cx="272125" cy="272125"/>
          </a:xfrm>
          <a:prstGeom prst="rect">
            <a:avLst/>
          </a:prstGeom>
        </p:spPr>
      </p:pic>
      <p:sp>
        <p:nvSpPr>
          <p:cNvPr id="14" name="Text 10"/>
          <p:cNvSpPr/>
          <p:nvPr/>
        </p:nvSpPr>
        <p:spPr>
          <a:xfrm>
            <a:off x="4690872" y="3950208"/>
            <a:ext cx="2862072" cy="411480"/>
          </a:xfrm>
          <a:prstGeom prst="rect">
            <a:avLst/>
          </a:prstGeom>
          <a:noFill/>
          <a:ln/>
        </p:spPr>
        <p:txBody>
          <a:bodyPr wrap="square" lIns="0" tIns="0" rIns="0" bIns="0" rtlCol="0" anchor="ctr"/>
          <a:lstStyle/>
          <a:p>
            <a:pPr indent="0" marL="0">
              <a:buNone/>
            </a:pPr>
            <a:r>
              <a:rPr lang="en-US" sz="1600" b="1" dirty="0">
                <a:solidFill>
                  <a:srgbClr val="23272E"/>
                </a:solidFill>
                <a:latin typeface="Arial" pitchFamily="34" charset="0"/>
                <a:ea typeface="Arial" pitchFamily="34" charset="-122"/>
                <a:cs typeface="Arial" pitchFamily="34" charset="-120"/>
              </a:rPr>
              <a:t>02 · A worker's shift</a:t>
            </a:r>
            <a:endParaRPr lang="en-US" sz="1600" dirty="0"/>
          </a:p>
        </p:txBody>
      </p:sp>
      <p:sp>
        <p:nvSpPr>
          <p:cNvPr id="15" name="Text 11"/>
          <p:cNvSpPr/>
          <p:nvPr/>
        </p:nvSpPr>
        <p:spPr>
          <a:xfrm>
            <a:off x="4690872" y="4389120"/>
            <a:ext cx="2862072" cy="822960"/>
          </a:xfrm>
          <a:prstGeom prst="rect">
            <a:avLst/>
          </a:prstGeom>
          <a:noFill/>
          <a:ln/>
        </p:spPr>
        <p:txBody>
          <a:bodyPr wrap="square" lIns="0" tIns="0" rIns="0" bIns="0" rtlCol="0" anchor="ctr"/>
          <a:lstStyle/>
          <a:p>
            <a:pPr indent="0" marL="0">
              <a:lnSpc>
                <a:spcPct val="115000"/>
              </a:lnSpc>
              <a:buNone/>
            </a:pPr>
            <a:r>
              <a:rPr lang="en-US" sz="1200" dirty="0">
                <a:solidFill>
                  <a:srgbClr val="596069"/>
                </a:solidFill>
                <a:latin typeface="Arial" pitchFamily="34" charset="0"/>
                <a:ea typeface="Arial" pitchFamily="34" charset="-122"/>
                <a:cs typeface="Arial" pitchFamily="34" charset="-120"/>
              </a:rPr>
              <a:t>Grace starts prepared, records by voice, and confirms her arrival with one tap.</a:t>
            </a:r>
            <a:endParaRPr lang="en-US" sz="1200" dirty="0"/>
          </a:p>
        </p:txBody>
      </p:sp>
      <p:sp>
        <p:nvSpPr>
          <p:cNvPr id="16" name="Shape 12"/>
          <p:cNvSpPr/>
          <p:nvPr/>
        </p:nvSpPr>
        <p:spPr>
          <a:xfrm>
            <a:off x="8101584" y="2926080"/>
            <a:ext cx="3502152" cy="2377440"/>
          </a:xfrm>
          <a:prstGeom prst="roundRect">
            <a:avLst>
              <a:gd name="adj" fmla="val 3846"/>
            </a:avLst>
          </a:prstGeom>
          <a:solidFill>
            <a:srgbClr val="F5F6F8"/>
          </a:solidFill>
          <a:ln/>
        </p:spPr>
      </p:sp>
      <p:sp>
        <p:nvSpPr>
          <p:cNvPr id="17" name="Shape 13"/>
          <p:cNvSpPr/>
          <p:nvPr/>
        </p:nvSpPr>
        <p:spPr>
          <a:xfrm>
            <a:off x="8421624" y="3246120"/>
            <a:ext cx="566928" cy="566928"/>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569025" y="3393521"/>
            <a:ext cx="272125" cy="272125"/>
          </a:xfrm>
          <a:prstGeom prst="rect">
            <a:avLst/>
          </a:prstGeom>
        </p:spPr>
      </p:pic>
      <p:sp>
        <p:nvSpPr>
          <p:cNvPr id="19" name="Text 14"/>
          <p:cNvSpPr/>
          <p:nvPr/>
        </p:nvSpPr>
        <p:spPr>
          <a:xfrm>
            <a:off x="8421624" y="3950208"/>
            <a:ext cx="2862072" cy="411480"/>
          </a:xfrm>
          <a:prstGeom prst="rect">
            <a:avLst/>
          </a:prstGeom>
          <a:noFill/>
          <a:ln/>
        </p:spPr>
        <p:txBody>
          <a:bodyPr wrap="square" lIns="0" tIns="0" rIns="0" bIns="0" rtlCol="0" anchor="ctr"/>
          <a:lstStyle/>
          <a:p>
            <a:pPr indent="0" marL="0">
              <a:buNone/>
            </a:pPr>
            <a:r>
              <a:rPr lang="en-US" sz="1600" b="1" dirty="0">
                <a:solidFill>
                  <a:srgbClr val="23272E"/>
                </a:solidFill>
                <a:latin typeface="Arial" pitchFamily="34" charset="0"/>
                <a:ea typeface="Arial" pitchFamily="34" charset="-122"/>
                <a:cs typeface="Arial" pitchFamily="34" charset="-120"/>
              </a:rPr>
              <a:t>03 · Your view</a:t>
            </a:r>
            <a:endParaRPr lang="en-US" sz="1600" dirty="0"/>
          </a:p>
        </p:txBody>
      </p:sp>
      <p:sp>
        <p:nvSpPr>
          <p:cNvPr id="20" name="Text 15"/>
          <p:cNvSpPr/>
          <p:nvPr/>
        </p:nvSpPr>
        <p:spPr>
          <a:xfrm>
            <a:off x="8421624" y="4389120"/>
            <a:ext cx="2862072" cy="822960"/>
          </a:xfrm>
          <a:prstGeom prst="rect">
            <a:avLst/>
          </a:prstGeom>
          <a:noFill/>
          <a:ln/>
        </p:spPr>
        <p:txBody>
          <a:bodyPr wrap="square" lIns="0" tIns="0" rIns="0" bIns="0" rtlCol="0" anchor="ctr"/>
          <a:lstStyle/>
          <a:p>
            <a:pPr indent="0" marL="0">
              <a:lnSpc>
                <a:spcPct val="115000"/>
              </a:lnSpc>
              <a:buNone/>
            </a:pPr>
            <a:r>
              <a:rPr lang="en-US" sz="1200" dirty="0">
                <a:solidFill>
                  <a:srgbClr val="596069"/>
                </a:solidFill>
                <a:latin typeface="Arial" pitchFamily="34" charset="0"/>
                <a:ea typeface="Arial" pitchFamily="34" charset="-122"/>
                <a:cs typeface="Arial" pitchFamily="34" charset="-120"/>
              </a:rPr>
              <a:t>Outcomes, audit-readiness, the incident clock and the team's wellbeing — live evidence.</a:t>
            </a:r>
            <a:endParaRPr lang="en-US" sz="1200" dirty="0"/>
          </a:p>
        </p:txBody>
      </p:sp>
      <p:sp>
        <p:nvSpPr>
          <p:cNvPr id="21" name="Text 16"/>
          <p:cNvSpPr/>
          <p:nvPr/>
        </p:nvSpPr>
        <p:spPr>
          <a:xfrm>
            <a:off x="640080" y="5715000"/>
            <a:ext cx="10881360" cy="320040"/>
          </a:xfrm>
          <a:prstGeom prst="rect">
            <a:avLst/>
          </a:prstGeom>
          <a:noFill/>
          <a:ln/>
        </p:spPr>
        <p:txBody>
          <a:bodyPr wrap="square" lIns="0" tIns="0" rIns="0" bIns="0" rtlCol="0" anchor="ctr"/>
          <a:lstStyle/>
          <a:p>
            <a:pPr indent="0" marL="0">
              <a:buNone/>
            </a:pPr>
            <a:r>
              <a:rPr lang="en-US" sz="1250" i="1" dirty="0">
                <a:solidFill>
                  <a:srgbClr val="596069"/>
                </a:solidFill>
                <a:latin typeface="Arial" pitchFamily="34" charset="0"/>
                <a:ea typeface="Arial" pitchFamily="34" charset="-122"/>
                <a:cs typeface="Arial" pitchFamily="34" charset="-120"/>
              </a:rPr>
              <a:t>careos-demo.netlify.app  ·  he drives, you narrate  ·  return to the deck afterwards</a:t>
            </a:r>
            <a:endParaRPr lang="en-US" sz="1250" dirty="0"/>
          </a:p>
        </p:txBody>
      </p:sp>
      <p:sp>
        <p:nvSpPr>
          <p:cNvPr id="22" name="Text 17"/>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23" name="Text 18"/>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12 / 25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13   </a:t>
            </a:r>
            <a:pPr algn="l" indent="0" marL="0">
              <a:buNone/>
            </a:pPr>
            <a:r>
              <a:rPr lang="en-US" sz="1150" b="1" spc="200" kern="0" dirty="0">
                <a:solidFill>
                  <a:srgbClr val="596069"/>
                </a:solidFill>
                <a:latin typeface="Arial" pitchFamily="34" charset="0"/>
                <a:ea typeface="Arial" pitchFamily="34" charset="-122"/>
                <a:cs typeface="Arial" pitchFamily="34" charset="-120"/>
              </a:rPr>
              <a:t>CAPABILITY · DOCUMENTATION</a:t>
            </a:r>
            <a:endParaRPr lang="en-US" sz="1150" dirty="0"/>
          </a:p>
        </p:txBody>
      </p:sp>
      <p:sp>
        <p:nvSpPr>
          <p:cNvPr id="4" name="Text 2"/>
          <p:cNvSpPr/>
          <p:nvPr/>
        </p:nvSpPr>
        <p:spPr>
          <a:xfrm>
            <a:off x="640080" y="932688"/>
            <a:ext cx="5943600" cy="960120"/>
          </a:xfrm>
          <a:prstGeom prst="rect">
            <a:avLst/>
          </a:prstGeom>
          <a:noFill/>
          <a:ln/>
        </p:spPr>
        <p:txBody>
          <a:bodyPr wrap="square" lIns="0" tIns="0" rIns="0" bIns="0" rtlCol="0" anchor="ctr"/>
          <a:lstStyle/>
          <a:p>
            <a:pPr indent="0" marL="0">
              <a:lnSpc>
                <a:spcPct val="102000"/>
              </a:lnSpc>
              <a:buNone/>
            </a:pPr>
            <a:r>
              <a:rPr lang="en-US" sz="3000" b="1" dirty="0">
                <a:solidFill>
                  <a:srgbClr val="23272E"/>
                </a:solidFill>
                <a:latin typeface="Arial" pitchFamily="34" charset="0"/>
                <a:ea typeface="Arial" pitchFamily="34" charset="-122"/>
                <a:cs typeface="Arial" pitchFamily="34" charset="-120"/>
              </a:rPr>
              <a:t>Write it once. It goes everywhere it’s needed.</a:t>
            </a:r>
            <a:endParaRPr lang="en-US" sz="3000" dirty="0"/>
          </a:p>
        </p:txBody>
      </p:sp>
      <p:sp>
        <p:nvSpPr>
          <p:cNvPr id="5" name="Text 3"/>
          <p:cNvSpPr/>
          <p:nvPr/>
        </p:nvSpPr>
        <p:spPr>
          <a:xfrm>
            <a:off x="640080" y="1938528"/>
            <a:ext cx="5532120" cy="731520"/>
          </a:xfrm>
          <a:prstGeom prst="rect">
            <a:avLst/>
          </a:prstGeom>
          <a:noFill/>
          <a:ln/>
        </p:spPr>
        <p:txBody>
          <a:bodyPr wrap="square" lIns="0" tIns="0" rIns="0" bIns="0" rtlCol="0" anchor="ctr"/>
          <a:lstStyle/>
          <a:p>
            <a:pPr indent="0" marL="0">
              <a:lnSpc>
                <a:spcPct val="115000"/>
              </a:lnSpc>
              <a:buNone/>
            </a:pPr>
            <a:r>
              <a:rPr lang="en-US" sz="1450" dirty="0">
                <a:solidFill>
                  <a:srgbClr val="596069"/>
                </a:solidFill>
                <a:latin typeface="Arial" pitchFamily="34" charset="0"/>
                <a:ea typeface="Arial" pitchFamily="34" charset="-122"/>
                <a:cs typeface="Arial" pitchFamily="34" charset="-120"/>
              </a:rPr>
              <a:t>A voice note becomes a structured progress note, a claim line and a piece of evidence — from a single act of recording.</a:t>
            </a:r>
            <a:endParaRPr lang="en-US" sz="1450" dirty="0"/>
          </a:p>
        </p:txBody>
      </p:sp>
      <p:sp>
        <p:nvSpPr>
          <p:cNvPr id="6" name="Shape 4"/>
          <p:cNvSpPr/>
          <p:nvPr/>
        </p:nvSpPr>
        <p:spPr>
          <a:xfrm>
            <a:off x="640080" y="283464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2977286"/>
            <a:ext cx="263347" cy="263347"/>
          </a:xfrm>
          <a:prstGeom prst="rect">
            <a:avLst/>
          </a:prstGeom>
        </p:spPr>
      </p:pic>
      <p:sp>
        <p:nvSpPr>
          <p:cNvPr id="8" name="Text 5"/>
          <p:cNvSpPr/>
          <p:nvPr/>
        </p:nvSpPr>
        <p:spPr>
          <a:xfrm>
            <a:off x="1389888" y="27980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Voice-to-notes</a:t>
            </a:r>
            <a:endParaRPr lang="en-US" sz="1550" dirty="0"/>
          </a:p>
        </p:txBody>
      </p:sp>
      <p:sp>
        <p:nvSpPr>
          <p:cNvPr id="9" name="Text 6"/>
          <p:cNvSpPr/>
          <p:nvPr/>
        </p:nvSpPr>
        <p:spPr>
          <a:xfrm>
            <a:off x="1389888" y="31638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Speak naturally; CareOS drafts a clear, structured note.</a:t>
            </a:r>
            <a:endParaRPr lang="en-US" sz="1250" dirty="0"/>
          </a:p>
        </p:txBody>
      </p:sp>
      <p:sp>
        <p:nvSpPr>
          <p:cNvPr id="10" name="Shape 7"/>
          <p:cNvSpPr/>
          <p:nvPr/>
        </p:nvSpPr>
        <p:spPr>
          <a:xfrm>
            <a:off x="640080" y="3749040"/>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3891686"/>
            <a:ext cx="263347" cy="263347"/>
          </a:xfrm>
          <a:prstGeom prst="rect">
            <a:avLst/>
          </a:prstGeom>
        </p:spPr>
      </p:pic>
      <p:sp>
        <p:nvSpPr>
          <p:cNvPr id="12" name="Text 8"/>
          <p:cNvSpPr/>
          <p:nvPr/>
        </p:nvSpPr>
        <p:spPr>
          <a:xfrm>
            <a:off x="1389888" y="37124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No double entry</a:t>
            </a:r>
            <a:endParaRPr lang="en-US" sz="1550" dirty="0"/>
          </a:p>
        </p:txBody>
      </p:sp>
      <p:sp>
        <p:nvSpPr>
          <p:cNvPr id="13" name="Text 9"/>
          <p:cNvSpPr/>
          <p:nvPr/>
        </p:nvSpPr>
        <p:spPr>
          <a:xfrm>
            <a:off x="1389888" y="40782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One record flows to claims, reports and the timeline.</a:t>
            </a:r>
            <a:endParaRPr lang="en-US" sz="1250" dirty="0"/>
          </a:p>
        </p:txBody>
      </p:sp>
      <p:sp>
        <p:nvSpPr>
          <p:cNvPr id="14" name="Shape 10"/>
          <p:cNvSpPr/>
          <p:nvPr/>
        </p:nvSpPr>
        <p:spPr>
          <a:xfrm>
            <a:off x="640080" y="4663440"/>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4806086"/>
            <a:ext cx="263347" cy="263347"/>
          </a:xfrm>
          <a:prstGeom prst="rect">
            <a:avLst/>
          </a:prstGeom>
        </p:spPr>
      </p:pic>
      <p:sp>
        <p:nvSpPr>
          <p:cNvPr id="16" name="Text 11"/>
          <p:cNvSpPr/>
          <p:nvPr/>
        </p:nvSpPr>
        <p:spPr>
          <a:xfrm>
            <a:off x="1389888" y="46268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Find anything</a:t>
            </a:r>
            <a:endParaRPr lang="en-US" sz="1550" dirty="0"/>
          </a:p>
        </p:txBody>
      </p:sp>
      <p:sp>
        <p:nvSpPr>
          <p:cNvPr id="17" name="Text 12"/>
          <p:cNvSpPr/>
          <p:nvPr/>
        </p:nvSpPr>
        <p:spPr>
          <a:xfrm>
            <a:off x="1389888" y="49926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Search across every note, plan and document instantly.</a:t>
            </a:r>
            <a:endParaRPr lang="en-US" sz="1250" dirty="0"/>
          </a:p>
        </p:txBody>
      </p:sp>
      <p:sp>
        <p:nvSpPr>
          <p:cNvPr id="18" name="Shape 13"/>
          <p:cNvSpPr/>
          <p:nvPr/>
        </p:nvSpPr>
        <p:spPr>
          <a:xfrm>
            <a:off x="640080" y="5532120"/>
            <a:ext cx="5760720" cy="566928"/>
          </a:xfrm>
          <a:prstGeom prst="roundRect">
            <a:avLst>
              <a:gd name="adj" fmla="val 16129"/>
            </a:avLst>
          </a:prstGeom>
          <a:solidFill>
            <a:srgbClr val="FBEDE1"/>
          </a:solidFill>
          <a:ln/>
        </p:spPr>
      </p:sp>
      <p:pic>
        <p:nvPicPr>
          <p:cNvPr id="19" name="Image 3" descr="preencoded.png">    </p:cNvPr>
          <p:cNvPicPr>
            <a:picLocks noChangeAspect="1"/>
          </p:cNvPicPr>
          <p:nvPr/>
        </p:nvPicPr>
        <p:blipFill>
          <a:blip r:embed="rId4"/>
          <a:stretch>
            <a:fillRect/>
          </a:stretch>
        </p:blipFill>
        <p:spPr>
          <a:xfrm>
            <a:off x="786384" y="5660136"/>
            <a:ext cx="310896" cy="310896"/>
          </a:xfrm>
          <a:prstGeom prst="rect">
            <a:avLst/>
          </a:prstGeom>
        </p:spPr>
      </p:pic>
      <p:sp>
        <p:nvSpPr>
          <p:cNvPr id="20" name="Text 14"/>
          <p:cNvSpPr/>
          <p:nvPr/>
        </p:nvSpPr>
        <p:spPr>
          <a:xfrm>
            <a:off x="1207008" y="5532120"/>
            <a:ext cx="5120640" cy="566928"/>
          </a:xfrm>
          <a:prstGeom prst="rect">
            <a:avLst/>
          </a:prstGeom>
          <a:noFill/>
          <a:ln/>
        </p:spPr>
        <p:txBody>
          <a:bodyPr wrap="square" lIns="0" tIns="0" rIns="0" bIns="0" rtlCol="0" anchor="ctr"/>
          <a:lstStyle/>
          <a:p>
            <a:pPr indent="0" marL="0">
              <a:buNone/>
            </a:pPr>
            <a:r>
              <a:rPr lang="en-US" sz="1150" b="1" dirty="0">
                <a:solidFill>
                  <a:srgbClr val="B14E14"/>
                </a:solidFill>
                <a:latin typeface="Arial" pitchFamily="34" charset="0"/>
                <a:ea typeface="Arial" pitchFamily="34" charset="-122"/>
                <a:cs typeface="Arial" pitchFamily="34" charset="-120"/>
              </a:rPr>
              <a:t>AI drafts. The worker reviews and confirms. People stay in control.</a:t>
            </a:r>
            <a:endParaRPr lang="en-US" sz="1150" dirty="0"/>
          </a:p>
        </p:txBody>
      </p:sp>
      <p:sp>
        <p:nvSpPr>
          <p:cNvPr id="21" name="Shape 15"/>
          <p:cNvSpPr/>
          <p:nvPr/>
        </p:nvSpPr>
        <p:spPr>
          <a:xfrm>
            <a:off x="7040880" y="1417320"/>
            <a:ext cx="4526280" cy="4114800"/>
          </a:xfrm>
          <a:prstGeom prst="roundRect">
            <a:avLst>
              <a:gd name="adj" fmla="val 2667"/>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22" name="Shape 16"/>
          <p:cNvSpPr/>
          <p:nvPr/>
        </p:nvSpPr>
        <p:spPr>
          <a:xfrm>
            <a:off x="7040880" y="1417320"/>
            <a:ext cx="4526280" cy="457200"/>
          </a:xfrm>
          <a:prstGeom prst="roundRect">
            <a:avLst>
              <a:gd name="adj" fmla="val 24000"/>
            </a:avLst>
          </a:prstGeom>
          <a:solidFill>
            <a:srgbClr val="F5F6F8"/>
          </a:solidFill>
          <a:ln/>
        </p:spPr>
      </p:sp>
      <p:sp>
        <p:nvSpPr>
          <p:cNvPr id="23" name="Shape 17"/>
          <p:cNvSpPr/>
          <p:nvPr/>
        </p:nvSpPr>
        <p:spPr>
          <a:xfrm>
            <a:off x="7040880" y="1737360"/>
            <a:ext cx="4526280" cy="146304"/>
          </a:xfrm>
          <a:prstGeom prst="rect">
            <a:avLst/>
          </a:prstGeom>
          <a:solidFill>
            <a:srgbClr val="F5F6F8"/>
          </a:solidFill>
          <a:ln/>
        </p:spPr>
      </p:sp>
      <p:sp>
        <p:nvSpPr>
          <p:cNvPr id="24" name="Shape 18"/>
          <p:cNvSpPr/>
          <p:nvPr/>
        </p:nvSpPr>
        <p:spPr>
          <a:xfrm>
            <a:off x="7242048" y="1581912"/>
            <a:ext cx="118872" cy="118872"/>
          </a:xfrm>
          <a:prstGeom prst="ellipse">
            <a:avLst/>
          </a:prstGeom>
          <a:solidFill>
            <a:srgbClr val="E06B5A"/>
          </a:solidFill>
          <a:ln/>
        </p:spPr>
      </p:sp>
      <p:sp>
        <p:nvSpPr>
          <p:cNvPr id="25" name="Shape 19"/>
          <p:cNvSpPr/>
          <p:nvPr/>
        </p:nvSpPr>
        <p:spPr>
          <a:xfrm>
            <a:off x="7443216" y="1581912"/>
            <a:ext cx="118872" cy="118872"/>
          </a:xfrm>
          <a:prstGeom prst="ellipse">
            <a:avLst/>
          </a:prstGeom>
          <a:solidFill>
            <a:srgbClr val="E7B54D"/>
          </a:solidFill>
          <a:ln/>
        </p:spPr>
      </p:sp>
      <p:sp>
        <p:nvSpPr>
          <p:cNvPr id="26" name="Shape 20"/>
          <p:cNvSpPr/>
          <p:nvPr/>
        </p:nvSpPr>
        <p:spPr>
          <a:xfrm>
            <a:off x="7644384" y="1581912"/>
            <a:ext cx="118872" cy="118872"/>
          </a:xfrm>
          <a:prstGeom prst="ellipse">
            <a:avLst/>
          </a:prstGeom>
          <a:solidFill>
            <a:srgbClr val="5FB97A"/>
          </a:solidFill>
          <a:ln/>
        </p:spPr>
      </p:sp>
      <p:sp>
        <p:nvSpPr>
          <p:cNvPr id="27" name="Text 21"/>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Progress note</a:t>
            </a:r>
            <a:endParaRPr lang="en-US" sz="1050" dirty="0"/>
          </a:p>
        </p:txBody>
      </p:sp>
      <p:sp>
        <p:nvSpPr>
          <p:cNvPr id="28" name="Shape 22"/>
          <p:cNvSpPr/>
          <p:nvPr/>
        </p:nvSpPr>
        <p:spPr>
          <a:xfrm>
            <a:off x="7406640" y="2148840"/>
            <a:ext cx="3794760" cy="548640"/>
          </a:xfrm>
          <a:prstGeom prst="roundRect">
            <a:avLst>
              <a:gd name="adj" fmla="val 50000"/>
            </a:avLst>
          </a:prstGeom>
          <a:solidFill>
            <a:srgbClr val="FBEDE1"/>
          </a:solidFill>
          <a:ln/>
        </p:spPr>
      </p:sp>
      <p:pic>
        <p:nvPicPr>
          <p:cNvPr id="29" name="Image 4" descr="preencoded.png">    </p:cNvPr>
          <p:cNvPicPr>
            <a:picLocks noChangeAspect="1"/>
          </p:cNvPicPr>
          <p:nvPr/>
        </p:nvPicPr>
        <p:blipFill>
          <a:blip r:embed="rId5"/>
          <a:stretch>
            <a:fillRect/>
          </a:stretch>
        </p:blipFill>
        <p:spPr>
          <a:xfrm>
            <a:off x="7543800" y="2286000"/>
            <a:ext cx="274320" cy="274320"/>
          </a:xfrm>
          <a:prstGeom prst="rect">
            <a:avLst/>
          </a:prstGeom>
        </p:spPr>
      </p:pic>
      <p:sp>
        <p:nvSpPr>
          <p:cNvPr id="30" name="Text 23"/>
          <p:cNvSpPr/>
          <p:nvPr/>
        </p:nvSpPr>
        <p:spPr>
          <a:xfrm>
            <a:off x="7909560" y="2148840"/>
            <a:ext cx="3246120" cy="548640"/>
          </a:xfrm>
          <a:prstGeom prst="rect">
            <a:avLst/>
          </a:prstGeom>
          <a:noFill/>
          <a:ln/>
        </p:spPr>
        <p:txBody>
          <a:bodyPr wrap="square" lIns="0" tIns="0" rIns="0" bIns="0" rtlCol="0" anchor="ctr"/>
          <a:lstStyle/>
          <a:p>
            <a:pPr indent="0" marL="0">
              <a:buNone/>
            </a:pPr>
            <a:r>
              <a:rPr lang="en-US" sz="1100" b="1" dirty="0">
                <a:solidFill>
                  <a:srgbClr val="B14E14"/>
                </a:solidFill>
                <a:latin typeface="Arial" pitchFamily="34" charset="0"/>
                <a:ea typeface="Arial" pitchFamily="34" charset="-122"/>
                <a:cs typeface="Arial" pitchFamily="34" charset="-120"/>
              </a:rPr>
              <a:t>Voice note  ·  0:42</a:t>
            </a:r>
            <a:endParaRPr lang="en-US" sz="1100" dirty="0"/>
          </a:p>
        </p:txBody>
      </p:sp>
      <p:sp>
        <p:nvSpPr>
          <p:cNvPr id="31" name="Shape 24"/>
          <p:cNvSpPr/>
          <p:nvPr/>
        </p:nvSpPr>
        <p:spPr>
          <a:xfrm>
            <a:off x="7406640" y="2926080"/>
            <a:ext cx="3794760" cy="0"/>
          </a:xfrm>
          <a:prstGeom prst="line">
            <a:avLst/>
          </a:prstGeom>
          <a:noFill/>
          <a:ln w="12700">
            <a:solidFill>
              <a:srgbClr val="E6E9ED"/>
            </a:solidFill>
            <a:prstDash val="solid"/>
          </a:ln>
        </p:spPr>
      </p:sp>
      <p:sp>
        <p:nvSpPr>
          <p:cNvPr id="32" name="Text 25"/>
          <p:cNvSpPr/>
          <p:nvPr/>
        </p:nvSpPr>
        <p:spPr>
          <a:xfrm>
            <a:off x="7406640" y="3044952"/>
            <a:ext cx="3794760" cy="228600"/>
          </a:xfrm>
          <a:prstGeom prst="rect">
            <a:avLst/>
          </a:prstGeom>
          <a:noFill/>
          <a:ln/>
        </p:spPr>
        <p:txBody>
          <a:bodyPr wrap="square" lIns="0" tIns="0" rIns="0" bIns="0" rtlCol="0" anchor="ctr"/>
          <a:lstStyle/>
          <a:p>
            <a:pPr indent="0" marL="0">
              <a:buNone/>
            </a:pPr>
            <a:r>
              <a:rPr lang="en-US" sz="900" b="1" spc="150" kern="0" dirty="0">
                <a:solidFill>
                  <a:srgbClr val="9AA1A9"/>
                </a:solidFill>
                <a:latin typeface="Arial" pitchFamily="34" charset="0"/>
                <a:ea typeface="Arial" pitchFamily="34" charset="-122"/>
                <a:cs typeface="Arial" pitchFamily="34" charset="-120"/>
              </a:rPr>
              <a:t>DRAFTED NOTE</a:t>
            </a:r>
            <a:endParaRPr lang="en-US" sz="900" dirty="0"/>
          </a:p>
        </p:txBody>
      </p:sp>
      <p:sp>
        <p:nvSpPr>
          <p:cNvPr id="33" name="Text 26"/>
          <p:cNvSpPr/>
          <p:nvPr/>
        </p:nvSpPr>
        <p:spPr>
          <a:xfrm>
            <a:off x="7406640" y="3291840"/>
            <a:ext cx="3794760" cy="1005840"/>
          </a:xfrm>
          <a:prstGeom prst="rect">
            <a:avLst/>
          </a:prstGeom>
          <a:noFill/>
          <a:ln/>
        </p:spPr>
        <p:txBody>
          <a:bodyPr wrap="square" lIns="0" tIns="0" rIns="0" bIns="0" rtlCol="0" anchor="ctr"/>
          <a:lstStyle/>
          <a:p>
            <a:pPr indent="0" marL="0">
              <a:lnSpc>
                <a:spcPct val="115000"/>
              </a:lnSpc>
              <a:buNone/>
            </a:pPr>
            <a:r>
              <a:rPr lang="en-US" sz="1200" dirty="0">
                <a:solidFill>
                  <a:srgbClr val="23272E"/>
                </a:solidFill>
                <a:latin typeface="Arial" pitchFamily="34" charset="0"/>
                <a:ea typeface="Arial" pitchFamily="34" charset="-122"/>
                <a:cs typeface="Arial" pitchFamily="34" charset="-120"/>
              </a:rPr>
              <a:t>Zayd had a settled morning. He used his AAC device to request breakfast independently — a first. Completed 4 of 6 routine steps with verbal prompting.</a:t>
            </a:r>
            <a:endParaRPr lang="en-US" sz="1200" dirty="0"/>
          </a:p>
        </p:txBody>
      </p:sp>
      <p:sp>
        <p:nvSpPr>
          <p:cNvPr id="34" name="Shape 27"/>
          <p:cNvSpPr/>
          <p:nvPr/>
        </p:nvSpPr>
        <p:spPr>
          <a:xfrm>
            <a:off x="7406640" y="4480560"/>
            <a:ext cx="1280160" cy="411480"/>
          </a:xfrm>
          <a:prstGeom prst="roundRect">
            <a:avLst>
              <a:gd name="adj" fmla="val 48889"/>
            </a:avLst>
          </a:prstGeom>
          <a:solidFill>
            <a:srgbClr val="F5F6F8"/>
          </a:solidFill>
          <a:ln/>
        </p:spPr>
      </p:sp>
      <p:sp>
        <p:nvSpPr>
          <p:cNvPr id="35" name="Text 28"/>
          <p:cNvSpPr/>
          <p:nvPr/>
        </p:nvSpPr>
        <p:spPr>
          <a:xfrm>
            <a:off x="7406640" y="4480560"/>
            <a:ext cx="1280160" cy="411480"/>
          </a:xfrm>
          <a:prstGeom prst="rect">
            <a:avLst/>
          </a:prstGeom>
          <a:noFill/>
          <a:ln/>
        </p:spPr>
        <p:txBody>
          <a:bodyPr wrap="square" lIns="0" tIns="0" rIns="0" bIns="0" rtlCol="0" anchor="ctr"/>
          <a:lstStyle/>
          <a:p>
            <a:pPr algn="ctr" indent="0" marL="0">
              <a:buNone/>
            </a:pPr>
            <a:r>
              <a:rPr lang="en-US" sz="850" b="1" dirty="0">
                <a:solidFill>
                  <a:srgbClr val="3B8A57"/>
                </a:solidFill>
                <a:latin typeface="Arial" pitchFamily="34" charset="0"/>
                <a:ea typeface="Arial" pitchFamily="34" charset="-122"/>
                <a:cs typeface="Arial" pitchFamily="34" charset="-120"/>
              </a:rPr>
              <a:t>✓ Progress note</a:t>
            </a:r>
            <a:endParaRPr lang="en-US" sz="850" dirty="0"/>
          </a:p>
        </p:txBody>
      </p:sp>
      <p:sp>
        <p:nvSpPr>
          <p:cNvPr id="36" name="Shape 29"/>
          <p:cNvSpPr/>
          <p:nvPr/>
        </p:nvSpPr>
        <p:spPr>
          <a:xfrm>
            <a:off x="8778240" y="4480560"/>
            <a:ext cx="1280160" cy="411480"/>
          </a:xfrm>
          <a:prstGeom prst="roundRect">
            <a:avLst>
              <a:gd name="adj" fmla="val 48889"/>
            </a:avLst>
          </a:prstGeom>
          <a:solidFill>
            <a:srgbClr val="F5F6F8"/>
          </a:solidFill>
          <a:ln/>
        </p:spPr>
      </p:sp>
      <p:sp>
        <p:nvSpPr>
          <p:cNvPr id="37" name="Text 30"/>
          <p:cNvSpPr/>
          <p:nvPr/>
        </p:nvSpPr>
        <p:spPr>
          <a:xfrm>
            <a:off x="8778240" y="4480560"/>
            <a:ext cx="1280160" cy="411480"/>
          </a:xfrm>
          <a:prstGeom prst="rect">
            <a:avLst/>
          </a:prstGeom>
          <a:noFill/>
          <a:ln/>
        </p:spPr>
        <p:txBody>
          <a:bodyPr wrap="square" lIns="0" tIns="0" rIns="0" bIns="0" rtlCol="0" anchor="ctr"/>
          <a:lstStyle/>
          <a:p>
            <a:pPr algn="ctr" indent="0" marL="0">
              <a:buNone/>
            </a:pPr>
            <a:r>
              <a:rPr lang="en-US" sz="850" b="1" dirty="0">
                <a:solidFill>
                  <a:srgbClr val="3B8A57"/>
                </a:solidFill>
                <a:latin typeface="Arial" pitchFamily="34" charset="0"/>
                <a:ea typeface="Arial" pitchFamily="34" charset="-122"/>
                <a:cs typeface="Arial" pitchFamily="34" charset="-120"/>
              </a:rPr>
              <a:t>✓ Goal update</a:t>
            </a:r>
            <a:endParaRPr lang="en-US" sz="850" dirty="0"/>
          </a:p>
        </p:txBody>
      </p:sp>
      <p:sp>
        <p:nvSpPr>
          <p:cNvPr id="38" name="Shape 31"/>
          <p:cNvSpPr/>
          <p:nvPr/>
        </p:nvSpPr>
        <p:spPr>
          <a:xfrm>
            <a:off x="10149840" y="4480560"/>
            <a:ext cx="1280160" cy="411480"/>
          </a:xfrm>
          <a:prstGeom prst="roundRect">
            <a:avLst>
              <a:gd name="adj" fmla="val 48889"/>
            </a:avLst>
          </a:prstGeom>
          <a:solidFill>
            <a:srgbClr val="F5F6F8"/>
          </a:solidFill>
          <a:ln/>
        </p:spPr>
      </p:sp>
      <p:sp>
        <p:nvSpPr>
          <p:cNvPr id="39" name="Text 32"/>
          <p:cNvSpPr/>
          <p:nvPr/>
        </p:nvSpPr>
        <p:spPr>
          <a:xfrm>
            <a:off x="10149840" y="4480560"/>
            <a:ext cx="1280160" cy="411480"/>
          </a:xfrm>
          <a:prstGeom prst="rect">
            <a:avLst/>
          </a:prstGeom>
          <a:noFill/>
          <a:ln/>
        </p:spPr>
        <p:txBody>
          <a:bodyPr wrap="square" lIns="0" tIns="0" rIns="0" bIns="0" rtlCol="0" anchor="ctr"/>
          <a:lstStyle/>
          <a:p>
            <a:pPr algn="ctr" indent="0" marL="0">
              <a:buNone/>
            </a:pPr>
            <a:r>
              <a:rPr lang="en-US" sz="850" b="1" dirty="0">
                <a:solidFill>
                  <a:srgbClr val="3B8A57"/>
                </a:solidFill>
                <a:latin typeface="Arial" pitchFamily="34" charset="0"/>
                <a:ea typeface="Arial" pitchFamily="34" charset="-122"/>
                <a:cs typeface="Arial" pitchFamily="34" charset="-120"/>
              </a:rPr>
              <a:t>✓ Claim line</a:t>
            </a:r>
            <a:endParaRPr lang="en-US" sz="850" dirty="0"/>
          </a:p>
        </p:txBody>
      </p:sp>
      <p:sp>
        <p:nvSpPr>
          <p:cNvPr id="40" name="Text 33"/>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41" name="Text 34"/>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13 / 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14   </a:t>
            </a:r>
            <a:pPr algn="l" indent="0" marL="0">
              <a:buNone/>
            </a:pPr>
            <a:r>
              <a:rPr lang="en-US" sz="1150" b="1" spc="200" kern="0" dirty="0">
                <a:solidFill>
                  <a:srgbClr val="596069"/>
                </a:solidFill>
                <a:latin typeface="Arial" pitchFamily="34" charset="0"/>
                <a:ea typeface="Arial" pitchFamily="34" charset="-122"/>
                <a:cs typeface="Arial" pitchFamily="34" charset="-120"/>
              </a:rPr>
              <a:t>CAPABILITY · COMPLIANCE</a:t>
            </a:r>
            <a:endParaRPr lang="en-US" sz="1150" dirty="0"/>
          </a:p>
        </p:txBody>
      </p:sp>
      <p:sp>
        <p:nvSpPr>
          <p:cNvPr id="4" name="Text 2"/>
          <p:cNvSpPr/>
          <p:nvPr/>
        </p:nvSpPr>
        <p:spPr>
          <a:xfrm>
            <a:off x="640080" y="932688"/>
            <a:ext cx="5943600" cy="960120"/>
          </a:xfrm>
          <a:prstGeom prst="rect">
            <a:avLst/>
          </a:prstGeom>
          <a:noFill/>
          <a:ln/>
        </p:spPr>
        <p:txBody>
          <a:bodyPr wrap="square" lIns="0" tIns="0" rIns="0" bIns="0" rtlCol="0" anchor="ctr"/>
          <a:lstStyle/>
          <a:p>
            <a:pPr indent="0" marL="0">
              <a:lnSpc>
                <a:spcPct val="102000"/>
              </a:lnSpc>
              <a:buNone/>
            </a:pPr>
            <a:r>
              <a:rPr lang="en-US" sz="3000" b="1" dirty="0">
                <a:solidFill>
                  <a:srgbClr val="23272E"/>
                </a:solidFill>
                <a:latin typeface="Arial" pitchFamily="34" charset="0"/>
                <a:ea typeface="Arial" pitchFamily="34" charset="-122"/>
                <a:cs typeface="Arial" pitchFamily="34" charset="-120"/>
              </a:rPr>
              <a:t>Audit-ready every day — not the week before.</a:t>
            </a:r>
            <a:endParaRPr lang="en-US" sz="3000" dirty="0"/>
          </a:p>
        </p:txBody>
      </p:sp>
      <p:sp>
        <p:nvSpPr>
          <p:cNvPr id="5" name="Text 3"/>
          <p:cNvSpPr/>
          <p:nvPr/>
        </p:nvSpPr>
        <p:spPr>
          <a:xfrm>
            <a:off x="640080" y="1938528"/>
            <a:ext cx="5532120" cy="731520"/>
          </a:xfrm>
          <a:prstGeom prst="rect">
            <a:avLst/>
          </a:prstGeom>
          <a:noFill/>
          <a:ln/>
        </p:spPr>
        <p:txBody>
          <a:bodyPr wrap="square" lIns="0" tIns="0" rIns="0" bIns="0" rtlCol="0" anchor="ctr"/>
          <a:lstStyle/>
          <a:p>
            <a:pPr indent="0" marL="0">
              <a:lnSpc>
                <a:spcPct val="115000"/>
              </a:lnSpc>
              <a:buNone/>
            </a:pPr>
            <a:r>
              <a:rPr lang="en-US" sz="1450" dirty="0">
                <a:solidFill>
                  <a:srgbClr val="596069"/>
                </a:solidFill>
                <a:latin typeface="Arial" pitchFamily="34" charset="0"/>
                <a:ea typeface="Arial" pitchFamily="34" charset="-122"/>
                <a:cs typeface="Arial" pitchFamily="34" charset="-120"/>
              </a:rPr>
              <a:t>Compliance becomes a by-product of everyday care: the evidence generates itself as work is recorded.</a:t>
            </a:r>
            <a:endParaRPr lang="en-US" sz="1450" dirty="0"/>
          </a:p>
        </p:txBody>
      </p:sp>
      <p:sp>
        <p:nvSpPr>
          <p:cNvPr id="6" name="Shape 4"/>
          <p:cNvSpPr/>
          <p:nvPr/>
        </p:nvSpPr>
        <p:spPr>
          <a:xfrm>
            <a:off x="640080" y="283464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2977286"/>
            <a:ext cx="263347" cy="263347"/>
          </a:xfrm>
          <a:prstGeom prst="rect">
            <a:avLst/>
          </a:prstGeom>
        </p:spPr>
      </p:pic>
      <p:sp>
        <p:nvSpPr>
          <p:cNvPr id="8" name="Text 5"/>
          <p:cNvSpPr/>
          <p:nvPr/>
        </p:nvSpPr>
        <p:spPr>
          <a:xfrm>
            <a:off x="1389888" y="27980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Live audit-readiness</a:t>
            </a:r>
            <a:endParaRPr lang="en-US" sz="1550" dirty="0"/>
          </a:p>
        </p:txBody>
      </p:sp>
      <p:sp>
        <p:nvSpPr>
          <p:cNvPr id="9" name="Text 6"/>
          <p:cNvSpPr/>
          <p:nvPr/>
        </p:nvSpPr>
        <p:spPr>
          <a:xfrm>
            <a:off x="1389888" y="31638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A readiness score you can trust, always current.</a:t>
            </a:r>
            <a:endParaRPr lang="en-US" sz="1250" dirty="0"/>
          </a:p>
        </p:txBody>
      </p:sp>
      <p:sp>
        <p:nvSpPr>
          <p:cNvPr id="10" name="Shape 7"/>
          <p:cNvSpPr/>
          <p:nvPr/>
        </p:nvSpPr>
        <p:spPr>
          <a:xfrm>
            <a:off x="640080" y="3749040"/>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3891686"/>
            <a:ext cx="263347" cy="263347"/>
          </a:xfrm>
          <a:prstGeom prst="rect">
            <a:avLst/>
          </a:prstGeom>
        </p:spPr>
      </p:pic>
      <p:sp>
        <p:nvSpPr>
          <p:cNvPr id="12" name="Text 8"/>
          <p:cNvSpPr/>
          <p:nvPr/>
        </p:nvSpPr>
        <p:spPr>
          <a:xfrm>
            <a:off x="1389888" y="37124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Evidence, auto-linked</a:t>
            </a:r>
            <a:endParaRPr lang="en-US" sz="1550" dirty="0"/>
          </a:p>
        </p:txBody>
      </p:sp>
      <p:sp>
        <p:nvSpPr>
          <p:cNvPr id="13" name="Text 9"/>
          <p:cNvSpPr/>
          <p:nvPr/>
        </p:nvSpPr>
        <p:spPr>
          <a:xfrm>
            <a:off x="1389888" y="40782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Standards map to real records, not a scramble of folders.</a:t>
            </a:r>
            <a:endParaRPr lang="en-US" sz="1250" dirty="0"/>
          </a:p>
        </p:txBody>
      </p:sp>
      <p:sp>
        <p:nvSpPr>
          <p:cNvPr id="14" name="Shape 10"/>
          <p:cNvSpPr/>
          <p:nvPr/>
        </p:nvSpPr>
        <p:spPr>
          <a:xfrm>
            <a:off x="640080" y="4663440"/>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4806086"/>
            <a:ext cx="263347" cy="263347"/>
          </a:xfrm>
          <a:prstGeom prst="rect">
            <a:avLst/>
          </a:prstGeom>
        </p:spPr>
      </p:pic>
      <p:sp>
        <p:nvSpPr>
          <p:cNvPr id="16" name="Text 11"/>
          <p:cNvSpPr/>
          <p:nvPr/>
        </p:nvSpPr>
        <p:spPr>
          <a:xfrm>
            <a:off x="1389888" y="46268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Nothing lapses quietly</a:t>
            </a:r>
            <a:endParaRPr lang="en-US" sz="1550" dirty="0"/>
          </a:p>
        </p:txBody>
      </p:sp>
      <p:sp>
        <p:nvSpPr>
          <p:cNvPr id="17" name="Text 12"/>
          <p:cNvSpPr/>
          <p:nvPr/>
        </p:nvSpPr>
        <p:spPr>
          <a:xfrm>
            <a:off x="1389888" y="49926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Expiring checks and renewals are flagged in advance.</a:t>
            </a:r>
            <a:endParaRPr lang="en-US" sz="1250" dirty="0"/>
          </a:p>
        </p:txBody>
      </p:sp>
      <p:sp>
        <p:nvSpPr>
          <p:cNvPr id="18" name="Shape 13"/>
          <p:cNvSpPr/>
          <p:nvPr/>
        </p:nvSpPr>
        <p:spPr>
          <a:xfrm>
            <a:off x="640080" y="5532120"/>
            <a:ext cx="5760720" cy="566928"/>
          </a:xfrm>
          <a:prstGeom prst="roundRect">
            <a:avLst>
              <a:gd name="adj" fmla="val 16129"/>
            </a:avLst>
          </a:prstGeom>
          <a:solidFill>
            <a:srgbClr val="FBEDE1"/>
          </a:solidFill>
          <a:ln/>
        </p:spPr>
      </p:sp>
      <p:pic>
        <p:nvPicPr>
          <p:cNvPr id="19" name="Image 3" descr="preencoded.png">    </p:cNvPr>
          <p:cNvPicPr>
            <a:picLocks noChangeAspect="1"/>
          </p:cNvPicPr>
          <p:nvPr/>
        </p:nvPicPr>
        <p:blipFill>
          <a:blip r:embed="rId4"/>
          <a:stretch>
            <a:fillRect/>
          </a:stretch>
        </p:blipFill>
        <p:spPr>
          <a:xfrm>
            <a:off x="786384" y="5660136"/>
            <a:ext cx="310896" cy="310896"/>
          </a:xfrm>
          <a:prstGeom prst="rect">
            <a:avLst/>
          </a:prstGeom>
        </p:spPr>
      </p:pic>
      <p:sp>
        <p:nvSpPr>
          <p:cNvPr id="20" name="Text 14"/>
          <p:cNvSpPr/>
          <p:nvPr/>
        </p:nvSpPr>
        <p:spPr>
          <a:xfrm>
            <a:off x="1207008" y="5532120"/>
            <a:ext cx="5120640" cy="566928"/>
          </a:xfrm>
          <a:prstGeom prst="rect">
            <a:avLst/>
          </a:prstGeom>
          <a:noFill/>
          <a:ln/>
        </p:spPr>
        <p:txBody>
          <a:bodyPr wrap="square" lIns="0" tIns="0" rIns="0" bIns="0" rtlCol="0" anchor="ctr"/>
          <a:lstStyle/>
          <a:p>
            <a:pPr indent="0" marL="0">
              <a:buNone/>
            </a:pPr>
            <a:r>
              <a:rPr lang="en-US" sz="1150" b="1" dirty="0">
                <a:solidFill>
                  <a:srgbClr val="B14E14"/>
                </a:solidFill>
                <a:latin typeface="Arial" pitchFamily="34" charset="0"/>
                <a:ea typeface="Arial" pitchFamily="34" charset="-122"/>
                <a:cs typeface="Arial" pitchFamily="34" charset="-120"/>
              </a:rPr>
              <a:t>AI reminds. It never signs off — accountability stays with people.</a:t>
            </a:r>
            <a:endParaRPr lang="en-US" sz="1150" dirty="0"/>
          </a:p>
        </p:txBody>
      </p:sp>
      <p:sp>
        <p:nvSpPr>
          <p:cNvPr id="21" name="Shape 15"/>
          <p:cNvSpPr/>
          <p:nvPr/>
        </p:nvSpPr>
        <p:spPr>
          <a:xfrm>
            <a:off x="7040880" y="1417320"/>
            <a:ext cx="4526280" cy="4114800"/>
          </a:xfrm>
          <a:prstGeom prst="roundRect">
            <a:avLst>
              <a:gd name="adj" fmla="val 2667"/>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22" name="Shape 16"/>
          <p:cNvSpPr/>
          <p:nvPr/>
        </p:nvSpPr>
        <p:spPr>
          <a:xfrm>
            <a:off x="7040880" y="1417320"/>
            <a:ext cx="4526280" cy="457200"/>
          </a:xfrm>
          <a:prstGeom prst="roundRect">
            <a:avLst>
              <a:gd name="adj" fmla="val 24000"/>
            </a:avLst>
          </a:prstGeom>
          <a:solidFill>
            <a:srgbClr val="F5F6F8"/>
          </a:solidFill>
          <a:ln/>
        </p:spPr>
      </p:sp>
      <p:sp>
        <p:nvSpPr>
          <p:cNvPr id="23" name="Shape 17"/>
          <p:cNvSpPr/>
          <p:nvPr/>
        </p:nvSpPr>
        <p:spPr>
          <a:xfrm>
            <a:off x="7040880" y="1737360"/>
            <a:ext cx="4526280" cy="146304"/>
          </a:xfrm>
          <a:prstGeom prst="rect">
            <a:avLst/>
          </a:prstGeom>
          <a:solidFill>
            <a:srgbClr val="F5F6F8"/>
          </a:solidFill>
          <a:ln/>
        </p:spPr>
      </p:sp>
      <p:sp>
        <p:nvSpPr>
          <p:cNvPr id="24" name="Shape 18"/>
          <p:cNvSpPr/>
          <p:nvPr/>
        </p:nvSpPr>
        <p:spPr>
          <a:xfrm>
            <a:off x="7242048" y="1581912"/>
            <a:ext cx="118872" cy="118872"/>
          </a:xfrm>
          <a:prstGeom prst="ellipse">
            <a:avLst/>
          </a:prstGeom>
          <a:solidFill>
            <a:srgbClr val="E06B5A"/>
          </a:solidFill>
          <a:ln/>
        </p:spPr>
      </p:sp>
      <p:sp>
        <p:nvSpPr>
          <p:cNvPr id="25" name="Shape 19"/>
          <p:cNvSpPr/>
          <p:nvPr/>
        </p:nvSpPr>
        <p:spPr>
          <a:xfrm>
            <a:off x="7443216" y="1581912"/>
            <a:ext cx="118872" cy="118872"/>
          </a:xfrm>
          <a:prstGeom prst="ellipse">
            <a:avLst/>
          </a:prstGeom>
          <a:solidFill>
            <a:srgbClr val="E7B54D"/>
          </a:solidFill>
          <a:ln/>
        </p:spPr>
      </p:sp>
      <p:sp>
        <p:nvSpPr>
          <p:cNvPr id="26" name="Shape 20"/>
          <p:cNvSpPr/>
          <p:nvPr/>
        </p:nvSpPr>
        <p:spPr>
          <a:xfrm>
            <a:off x="7644384" y="1581912"/>
            <a:ext cx="118872" cy="118872"/>
          </a:xfrm>
          <a:prstGeom prst="ellipse">
            <a:avLst/>
          </a:prstGeom>
          <a:solidFill>
            <a:srgbClr val="5FB97A"/>
          </a:solidFill>
          <a:ln/>
        </p:spPr>
      </p:sp>
      <p:sp>
        <p:nvSpPr>
          <p:cNvPr id="27" name="Text 21"/>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Compliance</a:t>
            </a:r>
            <a:endParaRPr lang="en-US" sz="1050" dirty="0"/>
          </a:p>
        </p:txBody>
      </p:sp>
      <p:sp>
        <p:nvSpPr>
          <p:cNvPr id="28" name="Shape 22"/>
          <p:cNvSpPr/>
          <p:nvPr/>
        </p:nvSpPr>
        <p:spPr>
          <a:xfrm>
            <a:off x="7498080" y="2194560"/>
            <a:ext cx="1371600" cy="1371600"/>
          </a:xfrm>
          <a:prstGeom prst="ellipse">
            <a:avLst/>
          </a:prstGeom>
          <a:solidFill>
            <a:srgbClr val="F5F6F8"/>
          </a:solidFill>
          <a:ln w="12700">
            <a:solidFill>
              <a:srgbClr val="E6E9ED"/>
            </a:solidFill>
            <a:prstDash val="solid"/>
          </a:ln>
        </p:spPr>
      </p:sp>
      <p:sp>
        <p:nvSpPr>
          <p:cNvPr id="29" name="Text 23"/>
          <p:cNvSpPr/>
          <p:nvPr/>
        </p:nvSpPr>
        <p:spPr>
          <a:xfrm>
            <a:off x="7498080" y="2560320"/>
            <a:ext cx="1371600" cy="457200"/>
          </a:xfrm>
          <a:prstGeom prst="rect">
            <a:avLst/>
          </a:prstGeom>
          <a:noFill/>
          <a:ln/>
        </p:spPr>
        <p:txBody>
          <a:bodyPr wrap="square" lIns="0" tIns="0" rIns="0" bIns="0" rtlCol="0" anchor="ctr"/>
          <a:lstStyle/>
          <a:p>
            <a:pPr algn="ctr" indent="0" marL="0">
              <a:buNone/>
            </a:pPr>
            <a:r>
              <a:rPr lang="en-US" sz="2400" b="1" dirty="0">
                <a:solidFill>
                  <a:srgbClr val="DC661F"/>
                </a:solidFill>
                <a:latin typeface="Arial" pitchFamily="34" charset="0"/>
                <a:ea typeface="Arial" pitchFamily="34" charset="-122"/>
                <a:cs typeface="Arial" pitchFamily="34" charset="-120"/>
              </a:rPr>
              <a:t>96%</a:t>
            </a:r>
            <a:endParaRPr lang="en-US" sz="2400" dirty="0"/>
          </a:p>
        </p:txBody>
      </p:sp>
      <p:sp>
        <p:nvSpPr>
          <p:cNvPr id="30" name="Text 24"/>
          <p:cNvSpPr/>
          <p:nvPr/>
        </p:nvSpPr>
        <p:spPr>
          <a:xfrm>
            <a:off x="7498080" y="3611880"/>
            <a:ext cx="1371600" cy="274320"/>
          </a:xfrm>
          <a:prstGeom prst="rect">
            <a:avLst/>
          </a:prstGeom>
          <a:noFill/>
          <a:ln/>
        </p:spPr>
        <p:txBody>
          <a:bodyPr wrap="square" lIns="0" tIns="0" rIns="0" bIns="0" rtlCol="0" anchor="ctr"/>
          <a:lstStyle/>
          <a:p>
            <a:pPr algn="ctr" indent="0" marL="0">
              <a:buNone/>
            </a:pPr>
            <a:r>
              <a:rPr lang="en-US" sz="1000" dirty="0">
                <a:solidFill>
                  <a:srgbClr val="596069"/>
                </a:solidFill>
                <a:latin typeface="Arial" pitchFamily="34" charset="0"/>
                <a:ea typeface="Arial" pitchFamily="34" charset="-122"/>
                <a:cs typeface="Arial" pitchFamily="34" charset="-120"/>
              </a:rPr>
              <a:t>Audit-ready</a:t>
            </a:r>
            <a:endParaRPr lang="en-US" sz="1000" dirty="0"/>
          </a:p>
        </p:txBody>
      </p:sp>
      <p:sp>
        <p:nvSpPr>
          <p:cNvPr id="31" name="Text 25"/>
          <p:cNvSpPr/>
          <p:nvPr/>
        </p:nvSpPr>
        <p:spPr>
          <a:xfrm>
            <a:off x="9189720" y="2240280"/>
            <a:ext cx="1737360" cy="365760"/>
          </a:xfrm>
          <a:prstGeom prst="rect">
            <a:avLst/>
          </a:prstGeom>
          <a:noFill/>
          <a:ln/>
        </p:spPr>
        <p:txBody>
          <a:bodyPr wrap="square" lIns="0" tIns="0" rIns="0" bIns="0" rtlCol="0" anchor="ctr"/>
          <a:lstStyle/>
          <a:p>
            <a:pPr indent="0" marL="0">
              <a:buNone/>
            </a:pPr>
            <a:r>
              <a:rPr lang="en-US" sz="1100" b="1" dirty="0">
                <a:solidFill>
                  <a:srgbClr val="23272E"/>
                </a:solidFill>
                <a:latin typeface="Arial" pitchFamily="34" charset="0"/>
                <a:ea typeface="Arial" pitchFamily="34" charset="-122"/>
                <a:cs typeface="Arial" pitchFamily="34" charset="-120"/>
              </a:rPr>
              <a:t>Practice Standards</a:t>
            </a:r>
            <a:endParaRPr lang="en-US" sz="1100" dirty="0"/>
          </a:p>
        </p:txBody>
      </p:sp>
      <p:sp>
        <p:nvSpPr>
          <p:cNvPr id="32" name="Shape 26"/>
          <p:cNvSpPr/>
          <p:nvPr/>
        </p:nvSpPr>
        <p:spPr>
          <a:xfrm>
            <a:off x="10698480" y="2267712"/>
            <a:ext cx="502920" cy="310896"/>
          </a:xfrm>
          <a:prstGeom prst="roundRect">
            <a:avLst>
              <a:gd name="adj" fmla="val 50000"/>
            </a:avLst>
          </a:prstGeom>
          <a:solidFill>
            <a:srgbClr val="E8F5EC"/>
          </a:solidFill>
          <a:ln/>
        </p:spPr>
      </p:sp>
      <p:sp>
        <p:nvSpPr>
          <p:cNvPr id="33" name="Text 27"/>
          <p:cNvSpPr/>
          <p:nvPr/>
        </p:nvSpPr>
        <p:spPr>
          <a:xfrm>
            <a:off x="10698480" y="2267712"/>
            <a:ext cx="502920" cy="310896"/>
          </a:xfrm>
          <a:prstGeom prst="rect">
            <a:avLst/>
          </a:prstGeom>
          <a:noFill/>
          <a:ln/>
        </p:spPr>
        <p:txBody>
          <a:bodyPr wrap="square" lIns="0" tIns="0" rIns="0" bIns="0" rtlCol="0" anchor="ctr"/>
          <a:lstStyle/>
          <a:p>
            <a:pPr algn="ctr" indent="0" marL="0">
              <a:buNone/>
            </a:pPr>
            <a:r>
              <a:rPr lang="en-US" sz="800" b="1" dirty="0">
                <a:solidFill>
                  <a:srgbClr val="3B8A57"/>
                </a:solidFill>
                <a:latin typeface="Arial" pitchFamily="34" charset="0"/>
                <a:ea typeface="Arial" pitchFamily="34" charset="-122"/>
                <a:cs typeface="Arial" pitchFamily="34" charset="-120"/>
              </a:rPr>
              <a:t>OK</a:t>
            </a:r>
            <a:endParaRPr lang="en-US" sz="800" dirty="0"/>
          </a:p>
        </p:txBody>
      </p:sp>
      <p:sp>
        <p:nvSpPr>
          <p:cNvPr id="34" name="Text 28"/>
          <p:cNvSpPr/>
          <p:nvPr/>
        </p:nvSpPr>
        <p:spPr>
          <a:xfrm>
            <a:off x="9189720" y="2898648"/>
            <a:ext cx="1737360" cy="365760"/>
          </a:xfrm>
          <a:prstGeom prst="rect">
            <a:avLst/>
          </a:prstGeom>
          <a:noFill/>
          <a:ln/>
        </p:spPr>
        <p:txBody>
          <a:bodyPr wrap="square" lIns="0" tIns="0" rIns="0" bIns="0" rtlCol="0" anchor="ctr"/>
          <a:lstStyle/>
          <a:p>
            <a:pPr indent="0" marL="0">
              <a:buNone/>
            </a:pPr>
            <a:r>
              <a:rPr lang="en-US" sz="1100" b="1" dirty="0">
                <a:solidFill>
                  <a:srgbClr val="23272E"/>
                </a:solidFill>
                <a:latin typeface="Arial" pitchFamily="34" charset="0"/>
                <a:ea typeface="Arial" pitchFamily="34" charset="-122"/>
                <a:cs typeface="Arial" pitchFamily="34" charset="-120"/>
              </a:rPr>
              <a:t>Worker screening</a:t>
            </a:r>
            <a:endParaRPr lang="en-US" sz="1100" dirty="0"/>
          </a:p>
        </p:txBody>
      </p:sp>
      <p:sp>
        <p:nvSpPr>
          <p:cNvPr id="35" name="Shape 29"/>
          <p:cNvSpPr/>
          <p:nvPr/>
        </p:nvSpPr>
        <p:spPr>
          <a:xfrm>
            <a:off x="10698480" y="2926080"/>
            <a:ext cx="502920" cy="310896"/>
          </a:xfrm>
          <a:prstGeom prst="roundRect">
            <a:avLst>
              <a:gd name="adj" fmla="val 50000"/>
            </a:avLst>
          </a:prstGeom>
          <a:solidFill>
            <a:srgbClr val="E8F5EC"/>
          </a:solidFill>
          <a:ln/>
        </p:spPr>
      </p:sp>
      <p:sp>
        <p:nvSpPr>
          <p:cNvPr id="36" name="Text 30"/>
          <p:cNvSpPr/>
          <p:nvPr/>
        </p:nvSpPr>
        <p:spPr>
          <a:xfrm>
            <a:off x="10698480" y="2926080"/>
            <a:ext cx="502920" cy="310896"/>
          </a:xfrm>
          <a:prstGeom prst="rect">
            <a:avLst/>
          </a:prstGeom>
          <a:noFill/>
          <a:ln/>
        </p:spPr>
        <p:txBody>
          <a:bodyPr wrap="square" lIns="0" tIns="0" rIns="0" bIns="0" rtlCol="0" anchor="ctr"/>
          <a:lstStyle/>
          <a:p>
            <a:pPr algn="ctr" indent="0" marL="0">
              <a:buNone/>
            </a:pPr>
            <a:r>
              <a:rPr lang="en-US" sz="800" b="1" dirty="0">
                <a:solidFill>
                  <a:srgbClr val="3B8A57"/>
                </a:solidFill>
                <a:latin typeface="Arial" pitchFamily="34" charset="0"/>
                <a:ea typeface="Arial" pitchFamily="34" charset="-122"/>
                <a:cs typeface="Arial" pitchFamily="34" charset="-120"/>
              </a:rPr>
              <a:t>OK</a:t>
            </a:r>
            <a:endParaRPr lang="en-US" sz="800" dirty="0"/>
          </a:p>
        </p:txBody>
      </p:sp>
      <p:sp>
        <p:nvSpPr>
          <p:cNvPr id="37" name="Text 31"/>
          <p:cNvSpPr/>
          <p:nvPr/>
        </p:nvSpPr>
        <p:spPr>
          <a:xfrm>
            <a:off x="9189720" y="3557016"/>
            <a:ext cx="1737360" cy="365760"/>
          </a:xfrm>
          <a:prstGeom prst="rect">
            <a:avLst/>
          </a:prstGeom>
          <a:noFill/>
          <a:ln/>
        </p:spPr>
        <p:txBody>
          <a:bodyPr wrap="square" lIns="0" tIns="0" rIns="0" bIns="0" rtlCol="0" anchor="ctr"/>
          <a:lstStyle/>
          <a:p>
            <a:pPr indent="0" marL="0">
              <a:buNone/>
            </a:pPr>
            <a:r>
              <a:rPr lang="en-US" sz="1100" b="1" dirty="0">
                <a:solidFill>
                  <a:srgbClr val="23272E"/>
                </a:solidFill>
                <a:latin typeface="Arial" pitchFamily="34" charset="0"/>
                <a:ea typeface="Arial" pitchFamily="34" charset="-122"/>
                <a:cs typeface="Arial" pitchFamily="34" charset="-120"/>
              </a:rPr>
              <a:t>Restrictive practices</a:t>
            </a:r>
            <a:endParaRPr lang="en-US" sz="1100" dirty="0"/>
          </a:p>
        </p:txBody>
      </p:sp>
      <p:sp>
        <p:nvSpPr>
          <p:cNvPr id="38" name="Shape 32"/>
          <p:cNvSpPr/>
          <p:nvPr/>
        </p:nvSpPr>
        <p:spPr>
          <a:xfrm>
            <a:off x="10698480" y="3584448"/>
            <a:ext cx="502920" cy="310896"/>
          </a:xfrm>
          <a:prstGeom prst="roundRect">
            <a:avLst>
              <a:gd name="adj" fmla="val 50000"/>
            </a:avLst>
          </a:prstGeom>
          <a:solidFill>
            <a:srgbClr val="E8F5EC"/>
          </a:solidFill>
          <a:ln/>
        </p:spPr>
      </p:sp>
      <p:sp>
        <p:nvSpPr>
          <p:cNvPr id="39" name="Text 33"/>
          <p:cNvSpPr/>
          <p:nvPr/>
        </p:nvSpPr>
        <p:spPr>
          <a:xfrm>
            <a:off x="10698480" y="3584448"/>
            <a:ext cx="502920" cy="310896"/>
          </a:xfrm>
          <a:prstGeom prst="rect">
            <a:avLst/>
          </a:prstGeom>
          <a:noFill/>
          <a:ln/>
        </p:spPr>
        <p:txBody>
          <a:bodyPr wrap="square" lIns="0" tIns="0" rIns="0" bIns="0" rtlCol="0" anchor="ctr"/>
          <a:lstStyle/>
          <a:p>
            <a:pPr algn="ctr" indent="0" marL="0">
              <a:buNone/>
            </a:pPr>
            <a:r>
              <a:rPr lang="en-US" sz="800" b="1" dirty="0">
                <a:solidFill>
                  <a:srgbClr val="3B8A57"/>
                </a:solidFill>
                <a:latin typeface="Arial" pitchFamily="34" charset="0"/>
                <a:ea typeface="Arial" pitchFamily="34" charset="-122"/>
                <a:cs typeface="Arial" pitchFamily="34" charset="-120"/>
              </a:rPr>
              <a:t>OK</a:t>
            </a:r>
            <a:endParaRPr lang="en-US" sz="800" dirty="0"/>
          </a:p>
        </p:txBody>
      </p:sp>
      <p:sp>
        <p:nvSpPr>
          <p:cNvPr id="40" name="Text 34"/>
          <p:cNvSpPr/>
          <p:nvPr/>
        </p:nvSpPr>
        <p:spPr>
          <a:xfrm>
            <a:off x="9189720" y="4215384"/>
            <a:ext cx="1737360" cy="365760"/>
          </a:xfrm>
          <a:prstGeom prst="rect">
            <a:avLst/>
          </a:prstGeom>
          <a:noFill/>
          <a:ln/>
        </p:spPr>
        <p:txBody>
          <a:bodyPr wrap="square" lIns="0" tIns="0" rIns="0" bIns="0" rtlCol="0" anchor="ctr"/>
          <a:lstStyle/>
          <a:p>
            <a:pPr indent="0" marL="0">
              <a:buNone/>
            </a:pPr>
            <a:r>
              <a:rPr lang="en-US" sz="1100" b="1" dirty="0">
                <a:solidFill>
                  <a:srgbClr val="23272E"/>
                </a:solidFill>
                <a:latin typeface="Arial" pitchFamily="34" charset="0"/>
                <a:ea typeface="Arial" pitchFamily="34" charset="-122"/>
                <a:cs typeface="Arial" pitchFamily="34" charset="-120"/>
              </a:rPr>
              <a:t>First aid — 2 due</a:t>
            </a:r>
            <a:endParaRPr lang="en-US" sz="1100" dirty="0"/>
          </a:p>
        </p:txBody>
      </p:sp>
      <p:sp>
        <p:nvSpPr>
          <p:cNvPr id="41" name="Shape 35"/>
          <p:cNvSpPr/>
          <p:nvPr/>
        </p:nvSpPr>
        <p:spPr>
          <a:xfrm>
            <a:off x="10698480" y="4242816"/>
            <a:ext cx="502920" cy="310896"/>
          </a:xfrm>
          <a:prstGeom prst="roundRect">
            <a:avLst>
              <a:gd name="adj" fmla="val 50000"/>
            </a:avLst>
          </a:prstGeom>
          <a:solidFill>
            <a:srgbClr val="FCEBEA"/>
          </a:solidFill>
          <a:ln/>
        </p:spPr>
      </p:sp>
      <p:sp>
        <p:nvSpPr>
          <p:cNvPr id="42" name="Text 36"/>
          <p:cNvSpPr/>
          <p:nvPr/>
        </p:nvSpPr>
        <p:spPr>
          <a:xfrm>
            <a:off x="10698480" y="4242816"/>
            <a:ext cx="502920" cy="310896"/>
          </a:xfrm>
          <a:prstGeom prst="rect">
            <a:avLst/>
          </a:prstGeom>
          <a:noFill/>
          <a:ln/>
        </p:spPr>
        <p:txBody>
          <a:bodyPr wrap="square" lIns="0" tIns="0" rIns="0" bIns="0" rtlCol="0" anchor="ctr"/>
          <a:lstStyle/>
          <a:p>
            <a:pPr algn="ctr" indent="0" marL="0">
              <a:buNone/>
            </a:pPr>
            <a:r>
              <a:rPr lang="en-US" sz="800" b="1" dirty="0">
                <a:solidFill>
                  <a:srgbClr val="B23A2E"/>
                </a:solidFill>
                <a:latin typeface="Arial" pitchFamily="34" charset="0"/>
                <a:ea typeface="Arial" pitchFamily="34" charset="-122"/>
                <a:cs typeface="Arial" pitchFamily="34" charset="-120"/>
              </a:rPr>
              <a:t>DUE</a:t>
            </a:r>
            <a:endParaRPr lang="en-US" sz="800" dirty="0"/>
          </a:p>
        </p:txBody>
      </p:sp>
      <p:sp>
        <p:nvSpPr>
          <p:cNvPr id="43" name="Text 37"/>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44" name="Text 38"/>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14 / 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15   </a:t>
            </a:r>
            <a:pPr algn="l" indent="0" marL="0">
              <a:buNone/>
            </a:pPr>
            <a:r>
              <a:rPr lang="en-US" sz="1150" b="1" spc="200" kern="0" dirty="0">
                <a:solidFill>
                  <a:srgbClr val="596069"/>
                </a:solidFill>
                <a:latin typeface="Arial" pitchFamily="34" charset="0"/>
                <a:ea typeface="Arial" pitchFamily="34" charset="-122"/>
                <a:cs typeface="Arial" pitchFamily="34" charset="-120"/>
              </a:rPr>
              <a:t>CAPABILITY · INCIDENT MANAGEMENT</a:t>
            </a:r>
            <a:endParaRPr lang="en-US" sz="1150" dirty="0"/>
          </a:p>
        </p:txBody>
      </p:sp>
      <p:sp>
        <p:nvSpPr>
          <p:cNvPr id="4" name="Text 2"/>
          <p:cNvSpPr/>
          <p:nvPr/>
        </p:nvSpPr>
        <p:spPr>
          <a:xfrm>
            <a:off x="640080" y="932688"/>
            <a:ext cx="5943600" cy="960120"/>
          </a:xfrm>
          <a:prstGeom prst="rect">
            <a:avLst/>
          </a:prstGeom>
          <a:noFill/>
          <a:ln/>
        </p:spPr>
        <p:txBody>
          <a:bodyPr wrap="square" lIns="0" tIns="0" rIns="0" bIns="0" rtlCol="0" anchor="ctr"/>
          <a:lstStyle/>
          <a:p>
            <a:pPr indent="0" marL="0">
              <a:lnSpc>
                <a:spcPct val="102000"/>
              </a:lnSpc>
              <a:buNone/>
            </a:pPr>
            <a:r>
              <a:rPr lang="en-US" sz="3000" b="1" dirty="0">
                <a:solidFill>
                  <a:srgbClr val="23272E"/>
                </a:solidFill>
                <a:latin typeface="Arial" pitchFamily="34" charset="0"/>
                <a:ea typeface="Arial" pitchFamily="34" charset="-122"/>
                <a:cs typeface="Arial" pitchFamily="34" charset="-120"/>
              </a:rPr>
              <a:t>When it matters most, the clock is on your side.</a:t>
            </a:r>
            <a:endParaRPr lang="en-US" sz="3000" dirty="0"/>
          </a:p>
        </p:txBody>
      </p:sp>
      <p:sp>
        <p:nvSpPr>
          <p:cNvPr id="5" name="Text 3"/>
          <p:cNvSpPr/>
          <p:nvPr/>
        </p:nvSpPr>
        <p:spPr>
          <a:xfrm>
            <a:off x="640080" y="1938528"/>
            <a:ext cx="5532120" cy="731520"/>
          </a:xfrm>
          <a:prstGeom prst="rect">
            <a:avLst/>
          </a:prstGeom>
          <a:noFill/>
          <a:ln/>
        </p:spPr>
        <p:txBody>
          <a:bodyPr wrap="square" lIns="0" tIns="0" rIns="0" bIns="0" rtlCol="0" anchor="ctr"/>
          <a:lstStyle/>
          <a:p>
            <a:pPr indent="0" marL="0">
              <a:lnSpc>
                <a:spcPct val="115000"/>
              </a:lnSpc>
              <a:buNone/>
            </a:pPr>
            <a:r>
              <a:rPr lang="en-US" sz="1450" dirty="0">
                <a:solidFill>
                  <a:srgbClr val="596069"/>
                </a:solidFill>
                <a:latin typeface="Arial" pitchFamily="34" charset="0"/>
                <a:ea typeface="Arial" pitchFamily="34" charset="-122"/>
                <a:cs typeface="Arial" pitchFamily="34" charset="-120"/>
              </a:rPr>
              <a:t>The Commission’s 24-hour reporting window starts the moment a worker becomes aware. CareOS starts there too.</a:t>
            </a:r>
            <a:endParaRPr lang="en-US" sz="1450" dirty="0"/>
          </a:p>
        </p:txBody>
      </p:sp>
      <p:sp>
        <p:nvSpPr>
          <p:cNvPr id="6" name="Shape 4"/>
          <p:cNvSpPr/>
          <p:nvPr/>
        </p:nvSpPr>
        <p:spPr>
          <a:xfrm>
            <a:off x="640080" y="283464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2977286"/>
            <a:ext cx="263347" cy="263347"/>
          </a:xfrm>
          <a:prstGeom prst="rect">
            <a:avLst/>
          </a:prstGeom>
        </p:spPr>
      </p:pic>
      <p:sp>
        <p:nvSpPr>
          <p:cNvPr id="8" name="Text 5"/>
          <p:cNvSpPr/>
          <p:nvPr/>
        </p:nvSpPr>
        <p:spPr>
          <a:xfrm>
            <a:off x="1389888" y="27980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Capture is awareness</a:t>
            </a:r>
            <a:endParaRPr lang="en-US" sz="1550" dirty="0"/>
          </a:p>
        </p:txBody>
      </p:sp>
      <p:sp>
        <p:nvSpPr>
          <p:cNvPr id="9" name="Text 6"/>
          <p:cNvSpPr/>
          <p:nvPr/>
        </p:nvSpPr>
        <p:spPr>
          <a:xfrm>
            <a:off x="1389888" y="31638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Two taps at the point of care start the record and the clock.</a:t>
            </a:r>
            <a:endParaRPr lang="en-US" sz="1250" dirty="0"/>
          </a:p>
        </p:txBody>
      </p:sp>
      <p:sp>
        <p:nvSpPr>
          <p:cNvPr id="10" name="Shape 7"/>
          <p:cNvSpPr/>
          <p:nvPr/>
        </p:nvSpPr>
        <p:spPr>
          <a:xfrm>
            <a:off x="640080" y="3749040"/>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3891686"/>
            <a:ext cx="263347" cy="263347"/>
          </a:xfrm>
          <a:prstGeom prst="rect">
            <a:avLst/>
          </a:prstGeom>
        </p:spPr>
      </p:pic>
      <p:sp>
        <p:nvSpPr>
          <p:cNvPr id="12" name="Text 8"/>
          <p:cNvSpPr/>
          <p:nvPr/>
        </p:nvSpPr>
        <p:spPr>
          <a:xfrm>
            <a:off x="1389888" y="37124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The deadline stays visible</a:t>
            </a:r>
            <a:endParaRPr lang="en-US" sz="1550" dirty="0"/>
          </a:p>
        </p:txBody>
      </p:sp>
      <p:sp>
        <p:nvSpPr>
          <p:cNvPr id="13" name="Text 9"/>
          <p:cNvSpPr/>
          <p:nvPr/>
        </p:nvSpPr>
        <p:spPr>
          <a:xfrm>
            <a:off x="1389888" y="40782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A countdown everyone who must act can see.</a:t>
            </a:r>
            <a:endParaRPr lang="en-US" sz="1250" dirty="0"/>
          </a:p>
        </p:txBody>
      </p:sp>
      <p:sp>
        <p:nvSpPr>
          <p:cNvPr id="14" name="Shape 10"/>
          <p:cNvSpPr/>
          <p:nvPr/>
        </p:nvSpPr>
        <p:spPr>
          <a:xfrm>
            <a:off x="640080" y="4663440"/>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4806086"/>
            <a:ext cx="263347" cy="263347"/>
          </a:xfrm>
          <a:prstGeom prst="rect">
            <a:avLst/>
          </a:prstGeom>
        </p:spPr>
      </p:pic>
      <p:sp>
        <p:nvSpPr>
          <p:cNvPr id="16" name="Text 11"/>
          <p:cNvSpPr/>
          <p:nvPr/>
        </p:nvSpPr>
        <p:spPr>
          <a:xfrm>
            <a:off x="1389888" y="46268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The notification, drafted</a:t>
            </a:r>
            <a:endParaRPr lang="en-US" sz="1550" dirty="0"/>
          </a:p>
        </p:txBody>
      </p:sp>
      <p:sp>
        <p:nvSpPr>
          <p:cNvPr id="17" name="Text 12"/>
          <p:cNvSpPr/>
          <p:nvPr/>
        </p:nvSpPr>
        <p:spPr>
          <a:xfrm>
            <a:off x="1389888" y="49926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The report writes itself from records that already exist.</a:t>
            </a:r>
            <a:endParaRPr lang="en-US" sz="1250" dirty="0"/>
          </a:p>
        </p:txBody>
      </p:sp>
      <p:sp>
        <p:nvSpPr>
          <p:cNvPr id="18" name="Shape 13"/>
          <p:cNvSpPr/>
          <p:nvPr/>
        </p:nvSpPr>
        <p:spPr>
          <a:xfrm>
            <a:off x="640080" y="5532120"/>
            <a:ext cx="5760720" cy="566928"/>
          </a:xfrm>
          <a:prstGeom prst="roundRect">
            <a:avLst>
              <a:gd name="adj" fmla="val 16129"/>
            </a:avLst>
          </a:prstGeom>
          <a:solidFill>
            <a:srgbClr val="FBEDE1"/>
          </a:solidFill>
          <a:ln/>
        </p:spPr>
      </p:sp>
      <p:pic>
        <p:nvPicPr>
          <p:cNvPr id="19" name="Image 3" descr="preencoded.png">    </p:cNvPr>
          <p:cNvPicPr>
            <a:picLocks noChangeAspect="1"/>
          </p:cNvPicPr>
          <p:nvPr/>
        </p:nvPicPr>
        <p:blipFill>
          <a:blip r:embed="rId4"/>
          <a:stretch>
            <a:fillRect/>
          </a:stretch>
        </p:blipFill>
        <p:spPr>
          <a:xfrm>
            <a:off x="786384" y="5660136"/>
            <a:ext cx="310896" cy="310896"/>
          </a:xfrm>
          <a:prstGeom prst="rect">
            <a:avLst/>
          </a:prstGeom>
        </p:spPr>
      </p:pic>
      <p:sp>
        <p:nvSpPr>
          <p:cNvPr id="20" name="Text 14"/>
          <p:cNvSpPr/>
          <p:nvPr/>
        </p:nvSpPr>
        <p:spPr>
          <a:xfrm>
            <a:off x="1207008" y="5532120"/>
            <a:ext cx="5120640" cy="566928"/>
          </a:xfrm>
          <a:prstGeom prst="rect">
            <a:avLst/>
          </a:prstGeom>
          <a:noFill/>
          <a:ln/>
        </p:spPr>
        <p:txBody>
          <a:bodyPr wrap="square" lIns="0" tIns="0" rIns="0" bIns="0" rtlCol="0" anchor="ctr"/>
          <a:lstStyle/>
          <a:p>
            <a:pPr indent="0" marL="0">
              <a:buNone/>
            </a:pPr>
            <a:r>
              <a:rPr lang="en-US" sz="1150" b="1" dirty="0">
                <a:solidFill>
                  <a:srgbClr val="B14E14"/>
                </a:solidFill>
                <a:latin typeface="Arial" pitchFamily="34" charset="0"/>
                <a:ea typeface="Arial" pitchFamily="34" charset="-122"/>
                <a:cs typeface="Arial" pitchFamily="34" charset="-120"/>
              </a:rPr>
              <a:t>AI drafts the notification. A person reviews and submits.</a:t>
            </a:r>
            <a:endParaRPr lang="en-US" sz="1150" dirty="0"/>
          </a:p>
        </p:txBody>
      </p:sp>
      <p:sp>
        <p:nvSpPr>
          <p:cNvPr id="21" name="Shape 15"/>
          <p:cNvSpPr/>
          <p:nvPr/>
        </p:nvSpPr>
        <p:spPr>
          <a:xfrm>
            <a:off x="7040880" y="1417320"/>
            <a:ext cx="4526280" cy="4114800"/>
          </a:xfrm>
          <a:prstGeom prst="roundRect">
            <a:avLst>
              <a:gd name="adj" fmla="val 2667"/>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22" name="Shape 16"/>
          <p:cNvSpPr/>
          <p:nvPr/>
        </p:nvSpPr>
        <p:spPr>
          <a:xfrm>
            <a:off x="7040880" y="1417320"/>
            <a:ext cx="4526280" cy="457200"/>
          </a:xfrm>
          <a:prstGeom prst="roundRect">
            <a:avLst>
              <a:gd name="adj" fmla="val 24000"/>
            </a:avLst>
          </a:prstGeom>
          <a:solidFill>
            <a:srgbClr val="F5F6F8"/>
          </a:solidFill>
          <a:ln/>
        </p:spPr>
      </p:sp>
      <p:sp>
        <p:nvSpPr>
          <p:cNvPr id="23" name="Shape 17"/>
          <p:cNvSpPr/>
          <p:nvPr/>
        </p:nvSpPr>
        <p:spPr>
          <a:xfrm>
            <a:off x="7040880" y="1737360"/>
            <a:ext cx="4526280" cy="146304"/>
          </a:xfrm>
          <a:prstGeom prst="rect">
            <a:avLst/>
          </a:prstGeom>
          <a:solidFill>
            <a:srgbClr val="F5F6F8"/>
          </a:solidFill>
          <a:ln/>
        </p:spPr>
      </p:sp>
      <p:sp>
        <p:nvSpPr>
          <p:cNvPr id="24" name="Shape 18"/>
          <p:cNvSpPr/>
          <p:nvPr/>
        </p:nvSpPr>
        <p:spPr>
          <a:xfrm>
            <a:off x="7242048" y="1581912"/>
            <a:ext cx="118872" cy="118872"/>
          </a:xfrm>
          <a:prstGeom prst="ellipse">
            <a:avLst/>
          </a:prstGeom>
          <a:solidFill>
            <a:srgbClr val="E06B5A"/>
          </a:solidFill>
          <a:ln/>
        </p:spPr>
      </p:sp>
      <p:sp>
        <p:nvSpPr>
          <p:cNvPr id="25" name="Shape 19"/>
          <p:cNvSpPr/>
          <p:nvPr/>
        </p:nvSpPr>
        <p:spPr>
          <a:xfrm>
            <a:off x="7443216" y="1581912"/>
            <a:ext cx="118872" cy="118872"/>
          </a:xfrm>
          <a:prstGeom prst="ellipse">
            <a:avLst/>
          </a:prstGeom>
          <a:solidFill>
            <a:srgbClr val="E7B54D"/>
          </a:solidFill>
          <a:ln/>
        </p:spPr>
      </p:sp>
      <p:sp>
        <p:nvSpPr>
          <p:cNvPr id="26" name="Shape 20"/>
          <p:cNvSpPr/>
          <p:nvPr/>
        </p:nvSpPr>
        <p:spPr>
          <a:xfrm>
            <a:off x="7644384" y="1581912"/>
            <a:ext cx="118872" cy="118872"/>
          </a:xfrm>
          <a:prstGeom prst="ellipse">
            <a:avLst/>
          </a:prstGeom>
          <a:solidFill>
            <a:srgbClr val="5FB97A"/>
          </a:solidFill>
          <a:ln/>
        </p:spPr>
      </p:sp>
      <p:sp>
        <p:nvSpPr>
          <p:cNvPr id="27" name="Text 21"/>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Incident</a:t>
            </a:r>
            <a:endParaRPr lang="en-US" sz="1050" dirty="0"/>
          </a:p>
        </p:txBody>
      </p:sp>
      <p:sp>
        <p:nvSpPr>
          <p:cNvPr id="28" name="Shape 22"/>
          <p:cNvSpPr/>
          <p:nvPr/>
        </p:nvSpPr>
        <p:spPr>
          <a:xfrm>
            <a:off x="7406640" y="2148840"/>
            <a:ext cx="3794760" cy="822960"/>
          </a:xfrm>
          <a:prstGeom prst="roundRect">
            <a:avLst>
              <a:gd name="adj" fmla="val 11111"/>
            </a:avLst>
          </a:prstGeom>
          <a:solidFill>
            <a:srgbClr val="FCEBEA"/>
          </a:solidFill>
          <a:ln/>
        </p:spPr>
      </p:sp>
      <p:sp>
        <p:nvSpPr>
          <p:cNvPr id="29" name="Text 23"/>
          <p:cNvSpPr/>
          <p:nvPr/>
        </p:nvSpPr>
        <p:spPr>
          <a:xfrm>
            <a:off x="7589520" y="2286000"/>
            <a:ext cx="3429000" cy="274320"/>
          </a:xfrm>
          <a:prstGeom prst="rect">
            <a:avLst/>
          </a:prstGeom>
          <a:noFill/>
          <a:ln/>
        </p:spPr>
        <p:txBody>
          <a:bodyPr wrap="square" lIns="0" tIns="0" rIns="0" bIns="0" rtlCol="0" anchor="ctr"/>
          <a:lstStyle/>
          <a:p>
            <a:pPr indent="0" marL="0">
              <a:buNone/>
            </a:pPr>
            <a:r>
              <a:rPr lang="en-US" sz="1100" b="1" dirty="0">
                <a:solidFill>
                  <a:srgbClr val="B23A2E"/>
                </a:solidFill>
                <a:latin typeface="Arial" pitchFamily="34" charset="0"/>
                <a:ea typeface="Arial" pitchFamily="34" charset="-122"/>
                <a:cs typeface="Arial" pitchFamily="34" charset="-120"/>
              </a:rPr>
              <a:t>Reportable  ·  24-hour clock</a:t>
            </a:r>
            <a:endParaRPr lang="en-US" sz="1100" dirty="0"/>
          </a:p>
        </p:txBody>
      </p:sp>
      <p:sp>
        <p:nvSpPr>
          <p:cNvPr id="30" name="Text 24"/>
          <p:cNvSpPr/>
          <p:nvPr/>
        </p:nvSpPr>
        <p:spPr>
          <a:xfrm>
            <a:off x="7589520" y="2551176"/>
            <a:ext cx="3429000" cy="365760"/>
          </a:xfrm>
          <a:prstGeom prst="rect">
            <a:avLst/>
          </a:prstGeom>
          <a:noFill/>
          <a:ln/>
        </p:spPr>
        <p:txBody>
          <a:bodyPr wrap="square" lIns="0" tIns="0" rIns="0" bIns="0" rtlCol="0" anchor="ctr"/>
          <a:lstStyle/>
          <a:p>
            <a:pPr indent="0" marL="0">
              <a:buNone/>
            </a:pPr>
            <a:r>
              <a:rPr lang="en-US" sz="1800" b="1" dirty="0">
                <a:solidFill>
                  <a:srgbClr val="23272E"/>
                </a:solidFill>
                <a:latin typeface="Arial" pitchFamily="34" charset="0"/>
                <a:ea typeface="Arial" pitchFamily="34" charset="-122"/>
                <a:cs typeface="Arial" pitchFamily="34" charset="-120"/>
              </a:rPr>
              <a:t>20h 48m remaining</a:t>
            </a:r>
            <a:endParaRPr lang="en-US" sz="1800" dirty="0"/>
          </a:p>
        </p:txBody>
      </p:sp>
      <p:sp>
        <p:nvSpPr>
          <p:cNvPr id="31" name="Shape 25"/>
          <p:cNvSpPr/>
          <p:nvPr/>
        </p:nvSpPr>
        <p:spPr>
          <a:xfrm>
            <a:off x="7406640" y="3200400"/>
            <a:ext cx="256032" cy="256032"/>
          </a:xfrm>
          <a:prstGeom prst="ellipse">
            <a:avLst/>
          </a:prstGeom>
          <a:solidFill>
            <a:srgbClr val="DC661F"/>
          </a:solidFill>
          <a:ln w="19050">
            <a:solidFill>
              <a:srgbClr val="DC661F"/>
            </a:solidFill>
            <a:prstDash val="solid"/>
          </a:ln>
        </p:spPr>
      </p:sp>
      <p:sp>
        <p:nvSpPr>
          <p:cNvPr id="32" name="Text 26"/>
          <p:cNvSpPr/>
          <p:nvPr/>
        </p:nvSpPr>
        <p:spPr>
          <a:xfrm>
            <a:off x="7406640" y="319125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3" name="Text 27"/>
          <p:cNvSpPr/>
          <p:nvPr/>
        </p:nvSpPr>
        <p:spPr>
          <a:xfrm>
            <a:off x="7790688" y="3154680"/>
            <a:ext cx="3429000" cy="347472"/>
          </a:xfrm>
          <a:prstGeom prst="rect">
            <a:avLst/>
          </a:prstGeom>
          <a:noFill/>
          <a:ln/>
        </p:spPr>
        <p:txBody>
          <a:bodyPr wrap="square" lIns="0" tIns="0" rIns="0" bIns="0" rtlCol="0" anchor="ctr"/>
          <a:lstStyle/>
          <a:p>
            <a:pPr indent="0" marL="0">
              <a:buNone/>
            </a:pPr>
            <a:r>
              <a:rPr lang="en-US" sz="1150" b="1" dirty="0">
                <a:solidFill>
                  <a:srgbClr val="23272E"/>
                </a:solidFill>
                <a:latin typeface="Arial" pitchFamily="34" charset="0"/>
                <a:ea typeface="Arial" pitchFamily="34" charset="-122"/>
                <a:cs typeface="Arial" pitchFamily="34" charset="-120"/>
              </a:rPr>
              <a:t>Logged at point of care</a:t>
            </a:r>
            <a:endParaRPr lang="en-US" sz="1150" dirty="0"/>
          </a:p>
        </p:txBody>
      </p:sp>
      <p:sp>
        <p:nvSpPr>
          <p:cNvPr id="34" name="Shape 28"/>
          <p:cNvSpPr/>
          <p:nvPr/>
        </p:nvSpPr>
        <p:spPr>
          <a:xfrm>
            <a:off x="7406640" y="3749040"/>
            <a:ext cx="256032" cy="256032"/>
          </a:xfrm>
          <a:prstGeom prst="ellipse">
            <a:avLst/>
          </a:prstGeom>
          <a:solidFill>
            <a:srgbClr val="DC661F"/>
          </a:solidFill>
          <a:ln w="19050">
            <a:solidFill>
              <a:srgbClr val="DC661F"/>
            </a:solidFill>
            <a:prstDash val="solid"/>
          </a:ln>
        </p:spPr>
      </p:sp>
      <p:sp>
        <p:nvSpPr>
          <p:cNvPr id="35" name="Text 29"/>
          <p:cNvSpPr/>
          <p:nvPr/>
        </p:nvSpPr>
        <p:spPr>
          <a:xfrm>
            <a:off x="7406640" y="373989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6" name="Text 30"/>
          <p:cNvSpPr/>
          <p:nvPr/>
        </p:nvSpPr>
        <p:spPr>
          <a:xfrm>
            <a:off x="7790688" y="3703320"/>
            <a:ext cx="3429000" cy="347472"/>
          </a:xfrm>
          <a:prstGeom prst="rect">
            <a:avLst/>
          </a:prstGeom>
          <a:noFill/>
          <a:ln/>
        </p:spPr>
        <p:txBody>
          <a:bodyPr wrap="square" lIns="0" tIns="0" rIns="0" bIns="0" rtlCol="0" anchor="ctr"/>
          <a:lstStyle/>
          <a:p>
            <a:pPr indent="0" marL="0">
              <a:buNone/>
            </a:pPr>
            <a:r>
              <a:rPr lang="en-US" sz="1150" b="1" dirty="0">
                <a:solidFill>
                  <a:srgbClr val="23272E"/>
                </a:solidFill>
                <a:latin typeface="Arial" pitchFamily="34" charset="0"/>
                <a:ea typeface="Arial" pitchFamily="34" charset="-122"/>
                <a:cs typeface="Arial" pitchFamily="34" charset="-120"/>
              </a:rPr>
              <a:t>Auto-classified as reportable</a:t>
            </a:r>
            <a:endParaRPr lang="en-US" sz="1150" dirty="0"/>
          </a:p>
        </p:txBody>
      </p:sp>
      <p:sp>
        <p:nvSpPr>
          <p:cNvPr id="37" name="Shape 31"/>
          <p:cNvSpPr/>
          <p:nvPr/>
        </p:nvSpPr>
        <p:spPr>
          <a:xfrm>
            <a:off x="7406640" y="4297680"/>
            <a:ext cx="256032" cy="256032"/>
          </a:xfrm>
          <a:prstGeom prst="ellipse">
            <a:avLst/>
          </a:prstGeom>
          <a:solidFill>
            <a:srgbClr val="DC661F"/>
          </a:solidFill>
          <a:ln w="19050">
            <a:solidFill>
              <a:srgbClr val="DC661F"/>
            </a:solidFill>
            <a:prstDash val="solid"/>
          </a:ln>
        </p:spPr>
      </p:sp>
      <p:sp>
        <p:nvSpPr>
          <p:cNvPr id="38" name="Text 32"/>
          <p:cNvSpPr/>
          <p:nvPr/>
        </p:nvSpPr>
        <p:spPr>
          <a:xfrm>
            <a:off x="7406640" y="428853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39" name="Text 33"/>
          <p:cNvSpPr/>
          <p:nvPr/>
        </p:nvSpPr>
        <p:spPr>
          <a:xfrm>
            <a:off x="7790688" y="4251960"/>
            <a:ext cx="3429000" cy="347472"/>
          </a:xfrm>
          <a:prstGeom prst="rect">
            <a:avLst/>
          </a:prstGeom>
          <a:noFill/>
          <a:ln/>
        </p:spPr>
        <p:txBody>
          <a:bodyPr wrap="square" lIns="0" tIns="0" rIns="0" bIns="0" rtlCol="0" anchor="ctr"/>
          <a:lstStyle/>
          <a:p>
            <a:pPr indent="0" marL="0">
              <a:buNone/>
            </a:pPr>
            <a:r>
              <a:rPr lang="en-US" sz="1150" b="1" dirty="0">
                <a:solidFill>
                  <a:srgbClr val="23272E"/>
                </a:solidFill>
                <a:latin typeface="Arial" pitchFamily="34" charset="0"/>
                <a:ea typeface="Arial" pitchFamily="34" charset="-122"/>
                <a:cs typeface="Arial" pitchFamily="34" charset="-120"/>
              </a:rPr>
              <a:t>Notification drafted</a:t>
            </a:r>
            <a:endParaRPr lang="en-US" sz="1150" dirty="0"/>
          </a:p>
        </p:txBody>
      </p:sp>
      <p:sp>
        <p:nvSpPr>
          <p:cNvPr id="40" name="Shape 34"/>
          <p:cNvSpPr/>
          <p:nvPr/>
        </p:nvSpPr>
        <p:spPr>
          <a:xfrm>
            <a:off x="7406640" y="4846320"/>
            <a:ext cx="256032" cy="256032"/>
          </a:xfrm>
          <a:prstGeom prst="ellipse">
            <a:avLst/>
          </a:prstGeom>
          <a:solidFill>
            <a:srgbClr val="FFFFFF"/>
          </a:solidFill>
          <a:ln w="19050">
            <a:solidFill>
              <a:srgbClr val="E6E9ED"/>
            </a:solidFill>
            <a:prstDash val="solid"/>
          </a:ln>
        </p:spPr>
      </p:sp>
      <p:sp>
        <p:nvSpPr>
          <p:cNvPr id="41" name="Text 35"/>
          <p:cNvSpPr/>
          <p:nvPr/>
        </p:nvSpPr>
        <p:spPr>
          <a:xfrm>
            <a:off x="7790688" y="4800600"/>
            <a:ext cx="3429000" cy="347472"/>
          </a:xfrm>
          <a:prstGeom prst="rect">
            <a:avLst/>
          </a:prstGeom>
          <a:noFill/>
          <a:ln/>
        </p:spPr>
        <p:txBody>
          <a:bodyPr wrap="square" lIns="0" tIns="0" rIns="0" bIns="0" rtlCol="0" anchor="ctr"/>
          <a:lstStyle/>
          <a:p>
            <a:pPr indent="0" marL="0">
              <a:buNone/>
            </a:pPr>
            <a:r>
              <a:rPr lang="en-US" sz="1150" dirty="0">
                <a:solidFill>
                  <a:srgbClr val="596069"/>
                </a:solidFill>
                <a:latin typeface="Arial" pitchFamily="34" charset="0"/>
                <a:ea typeface="Arial" pitchFamily="34" charset="-122"/>
                <a:cs typeface="Arial" pitchFamily="34" charset="-120"/>
              </a:rPr>
              <a:t>Reviewed &amp; submitted</a:t>
            </a:r>
            <a:endParaRPr lang="en-US" sz="1150" dirty="0"/>
          </a:p>
        </p:txBody>
      </p:sp>
      <p:sp>
        <p:nvSpPr>
          <p:cNvPr id="42" name="Text 36"/>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43" name="Text 37"/>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15 / 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16   </a:t>
            </a:r>
            <a:pPr algn="l" indent="0" marL="0">
              <a:buNone/>
            </a:pPr>
            <a:r>
              <a:rPr lang="en-US" sz="1150" b="1" spc="200" kern="0" dirty="0">
                <a:solidFill>
                  <a:srgbClr val="596069"/>
                </a:solidFill>
                <a:latin typeface="Arial" pitchFamily="34" charset="0"/>
                <a:ea typeface="Arial" pitchFamily="34" charset="-122"/>
                <a:cs typeface="Arial" pitchFamily="34" charset="-120"/>
              </a:rPr>
              <a:t>CAPABILITY · MEDICATION</a:t>
            </a:r>
            <a:endParaRPr lang="en-US" sz="1150" dirty="0"/>
          </a:p>
        </p:txBody>
      </p:sp>
      <p:sp>
        <p:nvSpPr>
          <p:cNvPr id="4" name="Text 2"/>
          <p:cNvSpPr/>
          <p:nvPr/>
        </p:nvSpPr>
        <p:spPr>
          <a:xfrm>
            <a:off x="640080" y="932688"/>
            <a:ext cx="5943600" cy="960120"/>
          </a:xfrm>
          <a:prstGeom prst="rect">
            <a:avLst/>
          </a:prstGeom>
          <a:noFill/>
          <a:ln/>
        </p:spPr>
        <p:txBody>
          <a:bodyPr wrap="square" lIns="0" tIns="0" rIns="0" bIns="0" rtlCol="0" anchor="ctr"/>
          <a:lstStyle/>
          <a:p>
            <a:pPr indent="0" marL="0">
              <a:lnSpc>
                <a:spcPct val="102000"/>
              </a:lnSpc>
              <a:buNone/>
            </a:pPr>
            <a:r>
              <a:rPr lang="en-US" sz="3000" b="1" dirty="0">
                <a:solidFill>
                  <a:srgbClr val="23272E"/>
                </a:solidFill>
                <a:latin typeface="Arial" pitchFamily="34" charset="0"/>
                <a:ea typeface="Arial" pitchFamily="34" charset="-122"/>
                <a:cs typeface="Arial" pitchFamily="34" charset="-120"/>
              </a:rPr>
              <a:t>Safer medication, with less mental load.</a:t>
            </a:r>
            <a:endParaRPr lang="en-US" sz="3000" dirty="0"/>
          </a:p>
        </p:txBody>
      </p:sp>
      <p:sp>
        <p:nvSpPr>
          <p:cNvPr id="5" name="Text 3"/>
          <p:cNvSpPr/>
          <p:nvPr/>
        </p:nvSpPr>
        <p:spPr>
          <a:xfrm>
            <a:off x="640080" y="1938528"/>
            <a:ext cx="5532120" cy="731520"/>
          </a:xfrm>
          <a:prstGeom prst="rect">
            <a:avLst/>
          </a:prstGeom>
          <a:noFill/>
          <a:ln/>
        </p:spPr>
        <p:txBody>
          <a:bodyPr wrap="square" lIns="0" tIns="0" rIns="0" bIns="0" rtlCol="0" anchor="ctr"/>
          <a:lstStyle/>
          <a:p>
            <a:pPr indent="0" marL="0">
              <a:lnSpc>
                <a:spcPct val="115000"/>
              </a:lnSpc>
              <a:buNone/>
            </a:pPr>
            <a:r>
              <a:rPr lang="en-US" sz="1450" dirty="0">
                <a:solidFill>
                  <a:srgbClr val="596069"/>
                </a:solidFill>
                <a:latin typeface="Arial" pitchFamily="34" charset="0"/>
                <a:ea typeface="Arial" pitchFamily="34" charset="-122"/>
                <a:cs typeface="Arial" pitchFamily="34" charset="-120"/>
              </a:rPr>
              <a:t>The right support, at the right time, recorded cleanly — with gentle prompts that reduce the chance of a miss.</a:t>
            </a:r>
            <a:endParaRPr lang="en-US" sz="1450" dirty="0"/>
          </a:p>
        </p:txBody>
      </p:sp>
      <p:sp>
        <p:nvSpPr>
          <p:cNvPr id="6" name="Shape 4"/>
          <p:cNvSpPr/>
          <p:nvPr/>
        </p:nvSpPr>
        <p:spPr>
          <a:xfrm>
            <a:off x="640080" y="283464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2977286"/>
            <a:ext cx="263347" cy="263347"/>
          </a:xfrm>
          <a:prstGeom prst="rect">
            <a:avLst/>
          </a:prstGeom>
        </p:spPr>
      </p:pic>
      <p:sp>
        <p:nvSpPr>
          <p:cNvPr id="8" name="Text 5"/>
          <p:cNvSpPr/>
          <p:nvPr/>
        </p:nvSpPr>
        <p:spPr>
          <a:xfrm>
            <a:off x="1389888" y="27980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Timely prompts</a:t>
            </a:r>
            <a:endParaRPr lang="en-US" sz="1550" dirty="0"/>
          </a:p>
        </p:txBody>
      </p:sp>
      <p:sp>
        <p:nvSpPr>
          <p:cNvPr id="9" name="Text 6"/>
          <p:cNvSpPr/>
          <p:nvPr/>
        </p:nvSpPr>
        <p:spPr>
          <a:xfrm>
            <a:off x="1389888" y="31638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Scheduled support is surfaced at the moment it’s due.</a:t>
            </a:r>
            <a:endParaRPr lang="en-US" sz="1250" dirty="0"/>
          </a:p>
        </p:txBody>
      </p:sp>
      <p:sp>
        <p:nvSpPr>
          <p:cNvPr id="10" name="Shape 7"/>
          <p:cNvSpPr/>
          <p:nvPr/>
        </p:nvSpPr>
        <p:spPr>
          <a:xfrm>
            <a:off x="640080" y="3749040"/>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3891686"/>
            <a:ext cx="263347" cy="263347"/>
          </a:xfrm>
          <a:prstGeom prst="rect">
            <a:avLst/>
          </a:prstGeom>
        </p:spPr>
      </p:pic>
      <p:sp>
        <p:nvSpPr>
          <p:cNvPr id="12" name="Text 8"/>
          <p:cNvSpPr/>
          <p:nvPr/>
        </p:nvSpPr>
        <p:spPr>
          <a:xfrm>
            <a:off x="1389888" y="37124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Clean records</a:t>
            </a:r>
            <a:endParaRPr lang="en-US" sz="1550" dirty="0"/>
          </a:p>
        </p:txBody>
      </p:sp>
      <p:sp>
        <p:nvSpPr>
          <p:cNvPr id="13" name="Text 9"/>
          <p:cNvSpPr/>
          <p:nvPr/>
        </p:nvSpPr>
        <p:spPr>
          <a:xfrm>
            <a:off x="1389888" y="40782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Given, missed or refused — captured simply and clearly.</a:t>
            </a:r>
            <a:endParaRPr lang="en-US" sz="1250" dirty="0"/>
          </a:p>
        </p:txBody>
      </p:sp>
      <p:sp>
        <p:nvSpPr>
          <p:cNvPr id="14" name="Shape 10"/>
          <p:cNvSpPr/>
          <p:nvPr/>
        </p:nvSpPr>
        <p:spPr>
          <a:xfrm>
            <a:off x="640080" y="4663440"/>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4806086"/>
            <a:ext cx="263347" cy="263347"/>
          </a:xfrm>
          <a:prstGeom prst="rect">
            <a:avLst/>
          </a:prstGeom>
        </p:spPr>
      </p:pic>
      <p:sp>
        <p:nvSpPr>
          <p:cNvPr id="16" name="Text 11"/>
          <p:cNvSpPr/>
          <p:nvPr/>
        </p:nvSpPr>
        <p:spPr>
          <a:xfrm>
            <a:off x="1389888" y="46268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Exceptions escalate</a:t>
            </a:r>
            <a:endParaRPr lang="en-US" sz="1550" dirty="0"/>
          </a:p>
        </p:txBody>
      </p:sp>
      <p:sp>
        <p:nvSpPr>
          <p:cNvPr id="17" name="Text 12"/>
          <p:cNvSpPr/>
          <p:nvPr/>
        </p:nvSpPr>
        <p:spPr>
          <a:xfrm>
            <a:off x="1389888" y="49926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A missed dose is flagged, not buried.</a:t>
            </a:r>
            <a:endParaRPr lang="en-US" sz="1250" dirty="0"/>
          </a:p>
        </p:txBody>
      </p:sp>
      <p:sp>
        <p:nvSpPr>
          <p:cNvPr id="18" name="Shape 13"/>
          <p:cNvSpPr/>
          <p:nvPr/>
        </p:nvSpPr>
        <p:spPr>
          <a:xfrm>
            <a:off x="640080" y="5532120"/>
            <a:ext cx="5760720" cy="566928"/>
          </a:xfrm>
          <a:prstGeom prst="roundRect">
            <a:avLst>
              <a:gd name="adj" fmla="val 16129"/>
            </a:avLst>
          </a:prstGeom>
          <a:solidFill>
            <a:srgbClr val="FBEDE1"/>
          </a:solidFill>
          <a:ln/>
        </p:spPr>
      </p:sp>
      <p:pic>
        <p:nvPicPr>
          <p:cNvPr id="19" name="Image 3" descr="preencoded.png">    </p:cNvPr>
          <p:cNvPicPr>
            <a:picLocks noChangeAspect="1"/>
          </p:cNvPicPr>
          <p:nvPr/>
        </p:nvPicPr>
        <p:blipFill>
          <a:blip r:embed="rId4"/>
          <a:stretch>
            <a:fillRect/>
          </a:stretch>
        </p:blipFill>
        <p:spPr>
          <a:xfrm>
            <a:off x="786384" y="5660136"/>
            <a:ext cx="310896" cy="310896"/>
          </a:xfrm>
          <a:prstGeom prst="rect">
            <a:avLst/>
          </a:prstGeom>
        </p:spPr>
      </p:pic>
      <p:sp>
        <p:nvSpPr>
          <p:cNvPr id="20" name="Text 14"/>
          <p:cNvSpPr/>
          <p:nvPr/>
        </p:nvSpPr>
        <p:spPr>
          <a:xfrm>
            <a:off x="1207008" y="5532120"/>
            <a:ext cx="5120640" cy="566928"/>
          </a:xfrm>
          <a:prstGeom prst="rect">
            <a:avLst/>
          </a:prstGeom>
          <a:noFill/>
          <a:ln/>
        </p:spPr>
        <p:txBody>
          <a:bodyPr wrap="square" lIns="0" tIns="0" rIns="0" bIns="0" rtlCol="0" anchor="ctr"/>
          <a:lstStyle/>
          <a:p>
            <a:pPr indent="0" marL="0">
              <a:buNone/>
            </a:pPr>
            <a:r>
              <a:rPr lang="en-US" sz="1150" b="1" dirty="0">
                <a:solidFill>
                  <a:srgbClr val="B14E14"/>
                </a:solidFill>
                <a:latin typeface="Arial" pitchFamily="34" charset="0"/>
                <a:ea typeface="Arial" pitchFamily="34" charset="-122"/>
                <a:cs typeface="Arial" pitchFamily="34" charset="-120"/>
              </a:rPr>
              <a:t>AI reminds and flags. It never makes a clinical decision.</a:t>
            </a:r>
            <a:endParaRPr lang="en-US" sz="1150" dirty="0"/>
          </a:p>
        </p:txBody>
      </p:sp>
      <p:sp>
        <p:nvSpPr>
          <p:cNvPr id="21" name="Shape 15"/>
          <p:cNvSpPr/>
          <p:nvPr/>
        </p:nvSpPr>
        <p:spPr>
          <a:xfrm>
            <a:off x="7040880" y="1417320"/>
            <a:ext cx="4526280" cy="4114800"/>
          </a:xfrm>
          <a:prstGeom prst="roundRect">
            <a:avLst>
              <a:gd name="adj" fmla="val 2667"/>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22" name="Shape 16"/>
          <p:cNvSpPr/>
          <p:nvPr/>
        </p:nvSpPr>
        <p:spPr>
          <a:xfrm>
            <a:off x="7040880" y="1417320"/>
            <a:ext cx="4526280" cy="457200"/>
          </a:xfrm>
          <a:prstGeom prst="roundRect">
            <a:avLst>
              <a:gd name="adj" fmla="val 24000"/>
            </a:avLst>
          </a:prstGeom>
          <a:solidFill>
            <a:srgbClr val="F5F6F8"/>
          </a:solidFill>
          <a:ln/>
        </p:spPr>
      </p:sp>
      <p:sp>
        <p:nvSpPr>
          <p:cNvPr id="23" name="Shape 17"/>
          <p:cNvSpPr/>
          <p:nvPr/>
        </p:nvSpPr>
        <p:spPr>
          <a:xfrm>
            <a:off x="7040880" y="1737360"/>
            <a:ext cx="4526280" cy="146304"/>
          </a:xfrm>
          <a:prstGeom prst="rect">
            <a:avLst/>
          </a:prstGeom>
          <a:solidFill>
            <a:srgbClr val="F5F6F8"/>
          </a:solidFill>
          <a:ln/>
        </p:spPr>
      </p:sp>
      <p:sp>
        <p:nvSpPr>
          <p:cNvPr id="24" name="Shape 18"/>
          <p:cNvSpPr/>
          <p:nvPr/>
        </p:nvSpPr>
        <p:spPr>
          <a:xfrm>
            <a:off x="7242048" y="1581912"/>
            <a:ext cx="118872" cy="118872"/>
          </a:xfrm>
          <a:prstGeom prst="ellipse">
            <a:avLst/>
          </a:prstGeom>
          <a:solidFill>
            <a:srgbClr val="E06B5A"/>
          </a:solidFill>
          <a:ln/>
        </p:spPr>
      </p:sp>
      <p:sp>
        <p:nvSpPr>
          <p:cNvPr id="25" name="Shape 19"/>
          <p:cNvSpPr/>
          <p:nvPr/>
        </p:nvSpPr>
        <p:spPr>
          <a:xfrm>
            <a:off x="7443216" y="1581912"/>
            <a:ext cx="118872" cy="118872"/>
          </a:xfrm>
          <a:prstGeom prst="ellipse">
            <a:avLst/>
          </a:prstGeom>
          <a:solidFill>
            <a:srgbClr val="E7B54D"/>
          </a:solidFill>
          <a:ln/>
        </p:spPr>
      </p:sp>
      <p:sp>
        <p:nvSpPr>
          <p:cNvPr id="26" name="Shape 20"/>
          <p:cNvSpPr/>
          <p:nvPr/>
        </p:nvSpPr>
        <p:spPr>
          <a:xfrm>
            <a:off x="7644384" y="1581912"/>
            <a:ext cx="118872" cy="118872"/>
          </a:xfrm>
          <a:prstGeom prst="ellipse">
            <a:avLst/>
          </a:prstGeom>
          <a:solidFill>
            <a:srgbClr val="5FB97A"/>
          </a:solidFill>
          <a:ln/>
        </p:spPr>
      </p:sp>
      <p:sp>
        <p:nvSpPr>
          <p:cNvPr id="27" name="Text 21"/>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Medication</a:t>
            </a:r>
            <a:endParaRPr lang="en-US" sz="1050" dirty="0"/>
          </a:p>
        </p:txBody>
      </p:sp>
      <p:sp>
        <p:nvSpPr>
          <p:cNvPr id="28" name="Shape 22"/>
          <p:cNvSpPr/>
          <p:nvPr/>
        </p:nvSpPr>
        <p:spPr>
          <a:xfrm>
            <a:off x="7406640" y="2194560"/>
            <a:ext cx="3794760" cy="749808"/>
          </a:xfrm>
          <a:prstGeom prst="roundRect">
            <a:avLst>
              <a:gd name="adj" fmla="val 10976"/>
            </a:avLst>
          </a:prstGeom>
          <a:solidFill>
            <a:srgbClr val="F5F6F8"/>
          </a:solidFill>
          <a:ln/>
        </p:spPr>
      </p:sp>
      <p:sp>
        <p:nvSpPr>
          <p:cNvPr id="29" name="Text 23"/>
          <p:cNvSpPr/>
          <p:nvPr/>
        </p:nvSpPr>
        <p:spPr>
          <a:xfrm>
            <a:off x="7589520" y="2322576"/>
            <a:ext cx="1097280" cy="274320"/>
          </a:xfrm>
          <a:prstGeom prst="rect">
            <a:avLst/>
          </a:prstGeom>
          <a:noFill/>
          <a:ln/>
        </p:spPr>
        <p:txBody>
          <a:bodyPr wrap="square" lIns="0" tIns="0" rIns="0" bIns="0" rtlCol="0" anchor="ctr"/>
          <a:lstStyle/>
          <a:p>
            <a:pPr indent="0" marL="0">
              <a:buNone/>
            </a:pPr>
            <a:r>
              <a:rPr lang="en-US" sz="1100" b="1" dirty="0">
                <a:solidFill>
                  <a:srgbClr val="DC661F"/>
                </a:solidFill>
                <a:latin typeface="Arial" pitchFamily="34" charset="0"/>
                <a:ea typeface="Arial" pitchFamily="34" charset="-122"/>
                <a:cs typeface="Arial" pitchFamily="34" charset="-120"/>
              </a:rPr>
              <a:t>8:00am</a:t>
            </a:r>
            <a:endParaRPr lang="en-US" sz="1100" dirty="0"/>
          </a:p>
        </p:txBody>
      </p:sp>
      <p:sp>
        <p:nvSpPr>
          <p:cNvPr id="30" name="Text 24"/>
          <p:cNvSpPr/>
          <p:nvPr/>
        </p:nvSpPr>
        <p:spPr>
          <a:xfrm>
            <a:off x="7589520" y="2578608"/>
            <a:ext cx="2194560" cy="274320"/>
          </a:xfrm>
          <a:prstGeom prst="rect">
            <a:avLst/>
          </a:prstGeom>
          <a:noFill/>
          <a:ln/>
        </p:spPr>
        <p:txBody>
          <a:bodyPr wrap="square" lIns="0" tIns="0" rIns="0" bIns="0" rtlCol="0" anchor="ctr"/>
          <a:lstStyle/>
          <a:p>
            <a:pPr indent="0" marL="0">
              <a:buNone/>
            </a:pPr>
            <a:r>
              <a:rPr lang="en-US" sz="1250" b="1" dirty="0">
                <a:solidFill>
                  <a:srgbClr val="23272E"/>
                </a:solidFill>
                <a:latin typeface="Arial" pitchFamily="34" charset="0"/>
                <a:ea typeface="Arial" pitchFamily="34" charset="-122"/>
                <a:cs typeface="Arial" pitchFamily="34" charset="-120"/>
              </a:rPr>
              <a:t>Melatonin</a:t>
            </a:r>
            <a:endParaRPr lang="en-US" sz="1250" dirty="0"/>
          </a:p>
        </p:txBody>
      </p:sp>
      <p:sp>
        <p:nvSpPr>
          <p:cNvPr id="31" name="Shape 25"/>
          <p:cNvSpPr/>
          <p:nvPr/>
        </p:nvSpPr>
        <p:spPr>
          <a:xfrm>
            <a:off x="10012680" y="2414016"/>
            <a:ext cx="1097280" cy="329184"/>
          </a:xfrm>
          <a:prstGeom prst="roundRect">
            <a:avLst>
              <a:gd name="adj" fmla="val 50000"/>
            </a:avLst>
          </a:prstGeom>
          <a:solidFill>
            <a:srgbClr val="E8F5EC"/>
          </a:solidFill>
          <a:ln/>
        </p:spPr>
      </p:sp>
      <p:sp>
        <p:nvSpPr>
          <p:cNvPr id="32" name="Text 26"/>
          <p:cNvSpPr/>
          <p:nvPr/>
        </p:nvSpPr>
        <p:spPr>
          <a:xfrm>
            <a:off x="10012680" y="2414016"/>
            <a:ext cx="1097280" cy="329184"/>
          </a:xfrm>
          <a:prstGeom prst="rect">
            <a:avLst/>
          </a:prstGeom>
          <a:noFill/>
          <a:ln/>
        </p:spPr>
        <p:txBody>
          <a:bodyPr wrap="square" lIns="0" tIns="0" rIns="0" bIns="0" rtlCol="0" anchor="ctr"/>
          <a:lstStyle/>
          <a:p>
            <a:pPr algn="ctr" indent="0" marL="0">
              <a:buNone/>
            </a:pPr>
            <a:r>
              <a:rPr lang="en-US" sz="900" b="1" dirty="0">
                <a:solidFill>
                  <a:srgbClr val="3B8A57"/>
                </a:solidFill>
                <a:latin typeface="Arial" pitchFamily="34" charset="0"/>
                <a:ea typeface="Arial" pitchFamily="34" charset="-122"/>
                <a:cs typeface="Arial" pitchFamily="34" charset="-120"/>
              </a:rPr>
              <a:t>Given</a:t>
            </a:r>
            <a:endParaRPr lang="en-US" sz="900" dirty="0"/>
          </a:p>
        </p:txBody>
      </p:sp>
      <p:sp>
        <p:nvSpPr>
          <p:cNvPr id="33" name="Shape 27"/>
          <p:cNvSpPr/>
          <p:nvPr/>
        </p:nvSpPr>
        <p:spPr>
          <a:xfrm>
            <a:off x="7406640" y="3108960"/>
            <a:ext cx="3794760" cy="749808"/>
          </a:xfrm>
          <a:prstGeom prst="roundRect">
            <a:avLst>
              <a:gd name="adj" fmla="val 10976"/>
            </a:avLst>
          </a:prstGeom>
          <a:solidFill>
            <a:srgbClr val="F5F6F8"/>
          </a:solidFill>
          <a:ln/>
        </p:spPr>
      </p:sp>
      <p:sp>
        <p:nvSpPr>
          <p:cNvPr id="34" name="Text 28"/>
          <p:cNvSpPr/>
          <p:nvPr/>
        </p:nvSpPr>
        <p:spPr>
          <a:xfrm>
            <a:off x="7589520" y="3236976"/>
            <a:ext cx="1097280" cy="274320"/>
          </a:xfrm>
          <a:prstGeom prst="rect">
            <a:avLst/>
          </a:prstGeom>
          <a:noFill/>
          <a:ln/>
        </p:spPr>
        <p:txBody>
          <a:bodyPr wrap="square" lIns="0" tIns="0" rIns="0" bIns="0" rtlCol="0" anchor="ctr"/>
          <a:lstStyle/>
          <a:p>
            <a:pPr indent="0" marL="0">
              <a:buNone/>
            </a:pPr>
            <a:r>
              <a:rPr lang="en-US" sz="1100" b="1" dirty="0">
                <a:solidFill>
                  <a:srgbClr val="DC661F"/>
                </a:solidFill>
                <a:latin typeface="Arial" pitchFamily="34" charset="0"/>
                <a:ea typeface="Arial" pitchFamily="34" charset="-122"/>
                <a:cs typeface="Arial" pitchFamily="34" charset="-120"/>
              </a:rPr>
              <a:t>1:00pm</a:t>
            </a:r>
            <a:endParaRPr lang="en-US" sz="1100" dirty="0"/>
          </a:p>
        </p:txBody>
      </p:sp>
      <p:sp>
        <p:nvSpPr>
          <p:cNvPr id="35" name="Text 29"/>
          <p:cNvSpPr/>
          <p:nvPr/>
        </p:nvSpPr>
        <p:spPr>
          <a:xfrm>
            <a:off x="7589520" y="3493008"/>
            <a:ext cx="2194560" cy="274320"/>
          </a:xfrm>
          <a:prstGeom prst="rect">
            <a:avLst/>
          </a:prstGeom>
          <a:noFill/>
          <a:ln/>
        </p:spPr>
        <p:txBody>
          <a:bodyPr wrap="square" lIns="0" tIns="0" rIns="0" bIns="0" rtlCol="0" anchor="ctr"/>
          <a:lstStyle/>
          <a:p>
            <a:pPr indent="0" marL="0">
              <a:buNone/>
            </a:pPr>
            <a:r>
              <a:rPr lang="en-US" sz="1250" b="1" dirty="0">
                <a:solidFill>
                  <a:srgbClr val="23272E"/>
                </a:solidFill>
                <a:latin typeface="Arial" pitchFamily="34" charset="0"/>
                <a:ea typeface="Arial" pitchFamily="34" charset="-122"/>
                <a:cs typeface="Arial" pitchFamily="34" charset="-120"/>
              </a:rPr>
              <a:t>Multivitamin</a:t>
            </a:r>
            <a:endParaRPr lang="en-US" sz="1250" dirty="0"/>
          </a:p>
        </p:txBody>
      </p:sp>
      <p:sp>
        <p:nvSpPr>
          <p:cNvPr id="36" name="Shape 30"/>
          <p:cNvSpPr/>
          <p:nvPr/>
        </p:nvSpPr>
        <p:spPr>
          <a:xfrm>
            <a:off x="10012680" y="3328416"/>
            <a:ext cx="1097280" cy="329184"/>
          </a:xfrm>
          <a:prstGeom prst="roundRect">
            <a:avLst>
              <a:gd name="adj" fmla="val 50000"/>
            </a:avLst>
          </a:prstGeom>
          <a:solidFill>
            <a:srgbClr val="E8F5EC"/>
          </a:solidFill>
          <a:ln/>
        </p:spPr>
      </p:sp>
      <p:sp>
        <p:nvSpPr>
          <p:cNvPr id="37" name="Text 31"/>
          <p:cNvSpPr/>
          <p:nvPr/>
        </p:nvSpPr>
        <p:spPr>
          <a:xfrm>
            <a:off x="10012680" y="3328416"/>
            <a:ext cx="1097280" cy="329184"/>
          </a:xfrm>
          <a:prstGeom prst="rect">
            <a:avLst/>
          </a:prstGeom>
          <a:noFill/>
          <a:ln/>
        </p:spPr>
        <p:txBody>
          <a:bodyPr wrap="square" lIns="0" tIns="0" rIns="0" bIns="0" rtlCol="0" anchor="ctr"/>
          <a:lstStyle/>
          <a:p>
            <a:pPr algn="ctr" indent="0" marL="0">
              <a:buNone/>
            </a:pPr>
            <a:r>
              <a:rPr lang="en-US" sz="900" b="1" dirty="0">
                <a:solidFill>
                  <a:srgbClr val="3B8A57"/>
                </a:solidFill>
                <a:latin typeface="Arial" pitchFamily="34" charset="0"/>
                <a:ea typeface="Arial" pitchFamily="34" charset="-122"/>
                <a:cs typeface="Arial" pitchFamily="34" charset="-120"/>
              </a:rPr>
              <a:t>Given</a:t>
            </a:r>
            <a:endParaRPr lang="en-US" sz="900" dirty="0"/>
          </a:p>
        </p:txBody>
      </p:sp>
      <p:sp>
        <p:nvSpPr>
          <p:cNvPr id="38" name="Shape 32"/>
          <p:cNvSpPr/>
          <p:nvPr/>
        </p:nvSpPr>
        <p:spPr>
          <a:xfrm>
            <a:off x="7406640" y="4023360"/>
            <a:ext cx="3794760" cy="749808"/>
          </a:xfrm>
          <a:prstGeom prst="roundRect">
            <a:avLst>
              <a:gd name="adj" fmla="val 10976"/>
            </a:avLst>
          </a:prstGeom>
          <a:solidFill>
            <a:srgbClr val="F5F6F8"/>
          </a:solidFill>
          <a:ln/>
        </p:spPr>
      </p:sp>
      <p:sp>
        <p:nvSpPr>
          <p:cNvPr id="39" name="Text 33"/>
          <p:cNvSpPr/>
          <p:nvPr/>
        </p:nvSpPr>
        <p:spPr>
          <a:xfrm>
            <a:off x="7589520" y="4151376"/>
            <a:ext cx="1097280" cy="274320"/>
          </a:xfrm>
          <a:prstGeom prst="rect">
            <a:avLst/>
          </a:prstGeom>
          <a:noFill/>
          <a:ln/>
        </p:spPr>
        <p:txBody>
          <a:bodyPr wrap="square" lIns="0" tIns="0" rIns="0" bIns="0" rtlCol="0" anchor="ctr"/>
          <a:lstStyle/>
          <a:p>
            <a:pPr indent="0" marL="0">
              <a:buNone/>
            </a:pPr>
            <a:r>
              <a:rPr lang="en-US" sz="1100" b="1" dirty="0">
                <a:solidFill>
                  <a:srgbClr val="DC661F"/>
                </a:solidFill>
                <a:latin typeface="Arial" pitchFamily="34" charset="0"/>
                <a:ea typeface="Arial" pitchFamily="34" charset="-122"/>
                <a:cs typeface="Arial" pitchFamily="34" charset="-120"/>
              </a:rPr>
              <a:t>6:00pm</a:t>
            </a:r>
            <a:endParaRPr lang="en-US" sz="1100" dirty="0"/>
          </a:p>
        </p:txBody>
      </p:sp>
      <p:sp>
        <p:nvSpPr>
          <p:cNvPr id="40" name="Text 34"/>
          <p:cNvSpPr/>
          <p:nvPr/>
        </p:nvSpPr>
        <p:spPr>
          <a:xfrm>
            <a:off x="7589520" y="4407408"/>
            <a:ext cx="2194560" cy="274320"/>
          </a:xfrm>
          <a:prstGeom prst="rect">
            <a:avLst/>
          </a:prstGeom>
          <a:noFill/>
          <a:ln/>
        </p:spPr>
        <p:txBody>
          <a:bodyPr wrap="square" lIns="0" tIns="0" rIns="0" bIns="0" rtlCol="0" anchor="ctr"/>
          <a:lstStyle/>
          <a:p>
            <a:pPr indent="0" marL="0">
              <a:buNone/>
            </a:pPr>
            <a:r>
              <a:rPr lang="en-US" sz="1250" b="1" dirty="0">
                <a:solidFill>
                  <a:srgbClr val="23272E"/>
                </a:solidFill>
                <a:latin typeface="Arial" pitchFamily="34" charset="0"/>
                <a:ea typeface="Arial" pitchFamily="34" charset="-122"/>
                <a:cs typeface="Arial" pitchFamily="34" charset="-120"/>
              </a:rPr>
              <a:t>Melatonin</a:t>
            </a:r>
            <a:endParaRPr lang="en-US" sz="1250" dirty="0"/>
          </a:p>
        </p:txBody>
      </p:sp>
      <p:sp>
        <p:nvSpPr>
          <p:cNvPr id="41" name="Shape 35"/>
          <p:cNvSpPr/>
          <p:nvPr/>
        </p:nvSpPr>
        <p:spPr>
          <a:xfrm>
            <a:off x="10012680" y="4242816"/>
            <a:ext cx="1097280" cy="329184"/>
          </a:xfrm>
          <a:prstGeom prst="roundRect">
            <a:avLst>
              <a:gd name="adj" fmla="val 50000"/>
            </a:avLst>
          </a:prstGeom>
          <a:solidFill>
            <a:srgbClr val="FBEDE1"/>
          </a:solidFill>
          <a:ln/>
        </p:spPr>
      </p:sp>
      <p:sp>
        <p:nvSpPr>
          <p:cNvPr id="42" name="Text 36"/>
          <p:cNvSpPr/>
          <p:nvPr/>
        </p:nvSpPr>
        <p:spPr>
          <a:xfrm>
            <a:off x="10012680" y="4242816"/>
            <a:ext cx="1097280" cy="329184"/>
          </a:xfrm>
          <a:prstGeom prst="rect">
            <a:avLst/>
          </a:prstGeom>
          <a:noFill/>
          <a:ln/>
        </p:spPr>
        <p:txBody>
          <a:bodyPr wrap="square" lIns="0" tIns="0" rIns="0" bIns="0" rtlCol="0" anchor="ctr"/>
          <a:lstStyle/>
          <a:p>
            <a:pPr algn="ctr" indent="0" marL="0">
              <a:buNone/>
            </a:pPr>
            <a:r>
              <a:rPr lang="en-US" sz="900" b="1" dirty="0">
                <a:solidFill>
                  <a:srgbClr val="B14E14"/>
                </a:solidFill>
                <a:latin typeface="Arial" pitchFamily="34" charset="0"/>
                <a:ea typeface="Arial" pitchFamily="34" charset="-122"/>
                <a:cs typeface="Arial" pitchFamily="34" charset="-120"/>
              </a:rPr>
              <a:t>Due 6:00pm</a:t>
            </a:r>
            <a:endParaRPr lang="en-US" sz="900" dirty="0"/>
          </a:p>
        </p:txBody>
      </p:sp>
      <p:sp>
        <p:nvSpPr>
          <p:cNvPr id="43" name="Text 37"/>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44" name="Text 38"/>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16 /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17   </a:t>
            </a:r>
            <a:pPr algn="l" indent="0" marL="0">
              <a:buNone/>
            </a:pPr>
            <a:r>
              <a:rPr lang="en-US" sz="1150" b="1" spc="200" kern="0" dirty="0">
                <a:solidFill>
                  <a:srgbClr val="596069"/>
                </a:solidFill>
                <a:latin typeface="Arial" pitchFamily="34" charset="0"/>
                <a:ea typeface="Arial" pitchFamily="34" charset="-122"/>
                <a:cs typeface="Arial" pitchFamily="34" charset="-120"/>
              </a:rPr>
              <a:t>CAPABILITY · SCHEDULING</a:t>
            </a:r>
            <a:endParaRPr lang="en-US" sz="1150" dirty="0"/>
          </a:p>
        </p:txBody>
      </p:sp>
      <p:sp>
        <p:nvSpPr>
          <p:cNvPr id="4" name="Text 2"/>
          <p:cNvSpPr/>
          <p:nvPr/>
        </p:nvSpPr>
        <p:spPr>
          <a:xfrm>
            <a:off x="640080" y="932688"/>
            <a:ext cx="5943600" cy="960120"/>
          </a:xfrm>
          <a:prstGeom prst="rect">
            <a:avLst/>
          </a:prstGeom>
          <a:noFill/>
          <a:ln/>
        </p:spPr>
        <p:txBody>
          <a:bodyPr wrap="square" lIns="0" tIns="0" rIns="0" bIns="0" rtlCol="0" anchor="ctr"/>
          <a:lstStyle/>
          <a:p>
            <a:pPr indent="0" marL="0">
              <a:lnSpc>
                <a:spcPct val="102000"/>
              </a:lnSpc>
              <a:buNone/>
            </a:pPr>
            <a:r>
              <a:rPr lang="en-US" sz="3000" b="1" dirty="0">
                <a:solidFill>
                  <a:srgbClr val="23272E"/>
                </a:solidFill>
                <a:latin typeface="Arial" pitchFamily="34" charset="0"/>
                <a:ea typeface="Arial" pitchFamily="34" charset="-122"/>
                <a:cs typeface="Arial" pitchFamily="34" charset="-120"/>
              </a:rPr>
              <a:t>Rosters that respect people — on both sides.</a:t>
            </a:r>
            <a:endParaRPr lang="en-US" sz="3000" dirty="0"/>
          </a:p>
        </p:txBody>
      </p:sp>
      <p:sp>
        <p:nvSpPr>
          <p:cNvPr id="5" name="Text 3"/>
          <p:cNvSpPr/>
          <p:nvPr/>
        </p:nvSpPr>
        <p:spPr>
          <a:xfrm>
            <a:off x="640080" y="1938528"/>
            <a:ext cx="5532120" cy="731520"/>
          </a:xfrm>
          <a:prstGeom prst="rect">
            <a:avLst/>
          </a:prstGeom>
          <a:noFill/>
          <a:ln/>
        </p:spPr>
        <p:txBody>
          <a:bodyPr wrap="square" lIns="0" tIns="0" rIns="0" bIns="0" rtlCol="0" anchor="ctr"/>
          <a:lstStyle/>
          <a:p>
            <a:pPr indent="0" marL="0">
              <a:lnSpc>
                <a:spcPct val="115000"/>
              </a:lnSpc>
              <a:buNone/>
            </a:pPr>
            <a:r>
              <a:rPr lang="en-US" sz="1450" dirty="0">
                <a:solidFill>
                  <a:srgbClr val="596069"/>
                </a:solidFill>
                <a:latin typeface="Arial" pitchFamily="34" charset="0"/>
                <a:ea typeface="Arial" pitchFamily="34" charset="-122"/>
                <a:cs typeface="Arial" pitchFamily="34" charset="-120"/>
              </a:rPr>
              <a:t>Match the right worker to the right participant, honour preferences and availability, and let one change flow everywhere.</a:t>
            </a:r>
            <a:endParaRPr lang="en-US" sz="1450" dirty="0"/>
          </a:p>
        </p:txBody>
      </p:sp>
      <p:sp>
        <p:nvSpPr>
          <p:cNvPr id="6" name="Shape 4"/>
          <p:cNvSpPr/>
          <p:nvPr/>
        </p:nvSpPr>
        <p:spPr>
          <a:xfrm>
            <a:off x="640080" y="283464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2977286"/>
            <a:ext cx="263347" cy="263347"/>
          </a:xfrm>
          <a:prstGeom prst="rect">
            <a:avLst/>
          </a:prstGeom>
        </p:spPr>
      </p:pic>
      <p:sp>
        <p:nvSpPr>
          <p:cNvPr id="8" name="Text 5"/>
          <p:cNvSpPr/>
          <p:nvPr/>
        </p:nvSpPr>
        <p:spPr>
          <a:xfrm>
            <a:off x="1389888" y="27980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Matched, not just filled</a:t>
            </a:r>
            <a:endParaRPr lang="en-US" sz="1550" dirty="0"/>
          </a:p>
        </p:txBody>
      </p:sp>
      <p:sp>
        <p:nvSpPr>
          <p:cNvPr id="9" name="Text 6"/>
          <p:cNvSpPr/>
          <p:nvPr/>
        </p:nvSpPr>
        <p:spPr>
          <a:xfrm>
            <a:off x="1389888" y="31638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Skills, continuity and rapport, not only a free slot.</a:t>
            </a:r>
            <a:endParaRPr lang="en-US" sz="1250" dirty="0"/>
          </a:p>
        </p:txBody>
      </p:sp>
      <p:sp>
        <p:nvSpPr>
          <p:cNvPr id="10" name="Shape 7"/>
          <p:cNvSpPr/>
          <p:nvPr/>
        </p:nvSpPr>
        <p:spPr>
          <a:xfrm>
            <a:off x="640080" y="3749040"/>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3891686"/>
            <a:ext cx="263347" cy="263347"/>
          </a:xfrm>
          <a:prstGeom prst="rect">
            <a:avLst/>
          </a:prstGeom>
        </p:spPr>
      </p:pic>
      <p:sp>
        <p:nvSpPr>
          <p:cNvPr id="12" name="Text 8"/>
          <p:cNvSpPr/>
          <p:nvPr/>
        </p:nvSpPr>
        <p:spPr>
          <a:xfrm>
            <a:off x="1389888" y="37124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Fairness, visible</a:t>
            </a:r>
            <a:endParaRPr lang="en-US" sz="1550" dirty="0"/>
          </a:p>
        </p:txBody>
      </p:sp>
      <p:sp>
        <p:nvSpPr>
          <p:cNvPr id="13" name="Text 9"/>
          <p:cNvSpPr/>
          <p:nvPr/>
        </p:nvSpPr>
        <p:spPr>
          <a:xfrm>
            <a:off x="1389888" y="40782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Hours, rest and preferences balanced across the team.</a:t>
            </a:r>
            <a:endParaRPr lang="en-US" sz="1250" dirty="0"/>
          </a:p>
        </p:txBody>
      </p:sp>
      <p:sp>
        <p:nvSpPr>
          <p:cNvPr id="14" name="Shape 10"/>
          <p:cNvSpPr/>
          <p:nvPr/>
        </p:nvSpPr>
        <p:spPr>
          <a:xfrm>
            <a:off x="640080" y="4663440"/>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4806086"/>
            <a:ext cx="263347" cy="263347"/>
          </a:xfrm>
          <a:prstGeom prst="rect">
            <a:avLst/>
          </a:prstGeom>
        </p:spPr>
      </p:pic>
      <p:sp>
        <p:nvSpPr>
          <p:cNvPr id="16" name="Text 11"/>
          <p:cNvSpPr/>
          <p:nvPr/>
        </p:nvSpPr>
        <p:spPr>
          <a:xfrm>
            <a:off x="1389888" y="4626864"/>
            <a:ext cx="493776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One change, everywhere</a:t>
            </a:r>
            <a:endParaRPr lang="en-US" sz="1550" dirty="0"/>
          </a:p>
        </p:txBody>
      </p:sp>
      <p:sp>
        <p:nvSpPr>
          <p:cNvPr id="17" name="Text 12"/>
          <p:cNvSpPr/>
          <p:nvPr/>
        </p:nvSpPr>
        <p:spPr>
          <a:xfrm>
            <a:off x="1389888" y="4992624"/>
            <a:ext cx="5029200" cy="502920"/>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Updates ripple to pay, claims and the family view.</a:t>
            </a:r>
            <a:endParaRPr lang="en-US" sz="1250" dirty="0"/>
          </a:p>
        </p:txBody>
      </p:sp>
      <p:sp>
        <p:nvSpPr>
          <p:cNvPr id="18" name="Shape 13"/>
          <p:cNvSpPr/>
          <p:nvPr/>
        </p:nvSpPr>
        <p:spPr>
          <a:xfrm>
            <a:off x="640080" y="5532120"/>
            <a:ext cx="5760720" cy="566928"/>
          </a:xfrm>
          <a:prstGeom prst="roundRect">
            <a:avLst>
              <a:gd name="adj" fmla="val 16129"/>
            </a:avLst>
          </a:prstGeom>
          <a:solidFill>
            <a:srgbClr val="FBEDE1"/>
          </a:solidFill>
          <a:ln/>
        </p:spPr>
      </p:sp>
      <p:pic>
        <p:nvPicPr>
          <p:cNvPr id="19" name="Image 3" descr="preencoded.png">    </p:cNvPr>
          <p:cNvPicPr>
            <a:picLocks noChangeAspect="1"/>
          </p:cNvPicPr>
          <p:nvPr/>
        </p:nvPicPr>
        <p:blipFill>
          <a:blip r:embed="rId4"/>
          <a:stretch>
            <a:fillRect/>
          </a:stretch>
        </p:blipFill>
        <p:spPr>
          <a:xfrm>
            <a:off x="786384" y="5660136"/>
            <a:ext cx="310896" cy="310896"/>
          </a:xfrm>
          <a:prstGeom prst="rect">
            <a:avLst/>
          </a:prstGeom>
        </p:spPr>
      </p:pic>
      <p:sp>
        <p:nvSpPr>
          <p:cNvPr id="20" name="Text 14"/>
          <p:cNvSpPr/>
          <p:nvPr/>
        </p:nvSpPr>
        <p:spPr>
          <a:xfrm>
            <a:off x="1207008" y="5532120"/>
            <a:ext cx="5120640" cy="566928"/>
          </a:xfrm>
          <a:prstGeom prst="rect">
            <a:avLst/>
          </a:prstGeom>
          <a:noFill/>
          <a:ln/>
        </p:spPr>
        <p:txBody>
          <a:bodyPr wrap="square" lIns="0" tIns="0" rIns="0" bIns="0" rtlCol="0" anchor="ctr"/>
          <a:lstStyle/>
          <a:p>
            <a:pPr indent="0" marL="0">
              <a:buNone/>
            </a:pPr>
            <a:r>
              <a:rPr lang="en-US" sz="1150" b="1" dirty="0">
                <a:solidFill>
                  <a:srgbClr val="B14E14"/>
                </a:solidFill>
                <a:latin typeface="Arial" pitchFamily="34" charset="0"/>
                <a:ea typeface="Arial" pitchFamily="34" charset="-122"/>
                <a:cs typeface="Arial" pitchFamily="34" charset="-120"/>
              </a:rPr>
              <a:t>AI suggests optimal fills. Coordinators decide.</a:t>
            </a:r>
            <a:endParaRPr lang="en-US" sz="1150" dirty="0"/>
          </a:p>
        </p:txBody>
      </p:sp>
      <p:sp>
        <p:nvSpPr>
          <p:cNvPr id="21" name="Shape 15"/>
          <p:cNvSpPr/>
          <p:nvPr/>
        </p:nvSpPr>
        <p:spPr>
          <a:xfrm>
            <a:off x="7040880" y="1417320"/>
            <a:ext cx="4526280" cy="4114800"/>
          </a:xfrm>
          <a:prstGeom prst="roundRect">
            <a:avLst>
              <a:gd name="adj" fmla="val 2667"/>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22" name="Shape 16"/>
          <p:cNvSpPr/>
          <p:nvPr/>
        </p:nvSpPr>
        <p:spPr>
          <a:xfrm>
            <a:off x="7040880" y="1417320"/>
            <a:ext cx="4526280" cy="457200"/>
          </a:xfrm>
          <a:prstGeom prst="roundRect">
            <a:avLst>
              <a:gd name="adj" fmla="val 24000"/>
            </a:avLst>
          </a:prstGeom>
          <a:solidFill>
            <a:srgbClr val="F5F6F8"/>
          </a:solidFill>
          <a:ln/>
        </p:spPr>
      </p:sp>
      <p:sp>
        <p:nvSpPr>
          <p:cNvPr id="23" name="Shape 17"/>
          <p:cNvSpPr/>
          <p:nvPr/>
        </p:nvSpPr>
        <p:spPr>
          <a:xfrm>
            <a:off x="7040880" y="1737360"/>
            <a:ext cx="4526280" cy="146304"/>
          </a:xfrm>
          <a:prstGeom prst="rect">
            <a:avLst/>
          </a:prstGeom>
          <a:solidFill>
            <a:srgbClr val="F5F6F8"/>
          </a:solidFill>
          <a:ln/>
        </p:spPr>
      </p:sp>
      <p:sp>
        <p:nvSpPr>
          <p:cNvPr id="24" name="Shape 18"/>
          <p:cNvSpPr/>
          <p:nvPr/>
        </p:nvSpPr>
        <p:spPr>
          <a:xfrm>
            <a:off x="7242048" y="1581912"/>
            <a:ext cx="118872" cy="118872"/>
          </a:xfrm>
          <a:prstGeom prst="ellipse">
            <a:avLst/>
          </a:prstGeom>
          <a:solidFill>
            <a:srgbClr val="E06B5A"/>
          </a:solidFill>
          <a:ln/>
        </p:spPr>
      </p:sp>
      <p:sp>
        <p:nvSpPr>
          <p:cNvPr id="25" name="Shape 19"/>
          <p:cNvSpPr/>
          <p:nvPr/>
        </p:nvSpPr>
        <p:spPr>
          <a:xfrm>
            <a:off x="7443216" y="1581912"/>
            <a:ext cx="118872" cy="118872"/>
          </a:xfrm>
          <a:prstGeom prst="ellipse">
            <a:avLst/>
          </a:prstGeom>
          <a:solidFill>
            <a:srgbClr val="E7B54D"/>
          </a:solidFill>
          <a:ln/>
        </p:spPr>
      </p:sp>
      <p:sp>
        <p:nvSpPr>
          <p:cNvPr id="26" name="Shape 20"/>
          <p:cNvSpPr/>
          <p:nvPr/>
        </p:nvSpPr>
        <p:spPr>
          <a:xfrm>
            <a:off x="7644384" y="1581912"/>
            <a:ext cx="118872" cy="118872"/>
          </a:xfrm>
          <a:prstGeom prst="ellipse">
            <a:avLst/>
          </a:prstGeom>
          <a:solidFill>
            <a:srgbClr val="5FB97A"/>
          </a:solidFill>
          <a:ln/>
        </p:spPr>
      </p:sp>
      <p:sp>
        <p:nvSpPr>
          <p:cNvPr id="27" name="Text 21"/>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Roster — match</a:t>
            </a:r>
            <a:endParaRPr lang="en-US" sz="1050" dirty="0"/>
          </a:p>
        </p:txBody>
      </p:sp>
      <p:sp>
        <p:nvSpPr>
          <p:cNvPr id="28" name="Text 22"/>
          <p:cNvSpPr/>
          <p:nvPr/>
        </p:nvSpPr>
        <p:spPr>
          <a:xfrm>
            <a:off x="7406640" y="2130552"/>
            <a:ext cx="3794760" cy="274320"/>
          </a:xfrm>
          <a:prstGeom prst="rect">
            <a:avLst/>
          </a:prstGeom>
          <a:noFill/>
          <a:ln/>
        </p:spPr>
        <p:txBody>
          <a:bodyPr wrap="square" lIns="0" tIns="0" rIns="0" bIns="0" rtlCol="0" anchor="ctr"/>
          <a:lstStyle/>
          <a:p>
            <a:pPr indent="0" marL="0">
              <a:buNone/>
            </a:pPr>
            <a:r>
              <a:rPr lang="en-US" sz="1150" b="1" dirty="0">
                <a:solidFill>
                  <a:srgbClr val="23272E"/>
                </a:solidFill>
                <a:latin typeface="Arial" pitchFamily="34" charset="0"/>
                <a:ea typeface="Arial" pitchFamily="34" charset="-122"/>
                <a:cs typeface="Arial" pitchFamily="34" charset="-120"/>
              </a:rPr>
              <a:t>Open shift  ·  Thu 1:30pm  ·  Idris</a:t>
            </a:r>
            <a:endParaRPr lang="en-US" sz="1150" dirty="0"/>
          </a:p>
        </p:txBody>
      </p:sp>
      <p:sp>
        <p:nvSpPr>
          <p:cNvPr id="29" name="Shape 23"/>
          <p:cNvSpPr/>
          <p:nvPr/>
        </p:nvSpPr>
        <p:spPr>
          <a:xfrm>
            <a:off x="7406640" y="2560320"/>
            <a:ext cx="3794760" cy="713232"/>
          </a:xfrm>
          <a:prstGeom prst="roundRect">
            <a:avLst>
              <a:gd name="adj" fmla="val 11538"/>
            </a:avLst>
          </a:prstGeom>
          <a:solidFill>
            <a:srgbClr val="FBEDE1"/>
          </a:solidFill>
          <a:ln/>
        </p:spPr>
      </p:sp>
      <p:sp>
        <p:nvSpPr>
          <p:cNvPr id="30" name="Shape 24"/>
          <p:cNvSpPr/>
          <p:nvPr/>
        </p:nvSpPr>
        <p:spPr>
          <a:xfrm>
            <a:off x="7543800" y="2734056"/>
            <a:ext cx="365760" cy="365760"/>
          </a:xfrm>
          <a:prstGeom prst="ellipse">
            <a:avLst/>
          </a:prstGeom>
          <a:solidFill>
            <a:srgbClr val="FFFFFF"/>
          </a:solidFill>
          <a:ln w="12700">
            <a:solidFill>
              <a:srgbClr val="E6E9ED"/>
            </a:solidFill>
            <a:prstDash val="solid"/>
          </a:ln>
        </p:spPr>
      </p:sp>
      <p:sp>
        <p:nvSpPr>
          <p:cNvPr id="31" name="Text 25"/>
          <p:cNvSpPr/>
          <p:nvPr/>
        </p:nvSpPr>
        <p:spPr>
          <a:xfrm>
            <a:off x="7543800" y="2734056"/>
            <a:ext cx="365760" cy="365760"/>
          </a:xfrm>
          <a:prstGeom prst="rect">
            <a:avLst/>
          </a:prstGeom>
          <a:noFill/>
          <a:ln/>
        </p:spPr>
        <p:txBody>
          <a:bodyPr wrap="square" lIns="0" tIns="0" rIns="0" bIns="0" rtlCol="0" anchor="ctr"/>
          <a:lstStyle/>
          <a:p>
            <a:pPr algn="ctr" indent="0" marL="0">
              <a:buNone/>
            </a:pPr>
            <a:r>
              <a:rPr lang="en-US" sz="1000" b="1" dirty="0">
                <a:solidFill>
                  <a:srgbClr val="DC661F"/>
                </a:solidFill>
                <a:latin typeface="Arial" pitchFamily="34" charset="0"/>
                <a:ea typeface="Arial" pitchFamily="34" charset="-122"/>
                <a:cs typeface="Arial" pitchFamily="34" charset="-120"/>
              </a:rPr>
              <a:t>AC</a:t>
            </a:r>
            <a:endParaRPr lang="en-US" sz="1000" dirty="0"/>
          </a:p>
        </p:txBody>
      </p:sp>
      <p:sp>
        <p:nvSpPr>
          <p:cNvPr id="32" name="Text 26"/>
          <p:cNvSpPr/>
          <p:nvPr/>
        </p:nvSpPr>
        <p:spPr>
          <a:xfrm>
            <a:off x="8046720" y="2688336"/>
            <a:ext cx="1645920" cy="274320"/>
          </a:xfrm>
          <a:prstGeom prst="rect">
            <a:avLst/>
          </a:prstGeom>
          <a:noFill/>
          <a:ln/>
        </p:spPr>
        <p:txBody>
          <a:bodyPr wrap="square" lIns="0" tIns="0" rIns="0" bIns="0" rtlCol="0" anchor="ctr"/>
          <a:lstStyle/>
          <a:p>
            <a:pPr indent="0" marL="0">
              <a:buNone/>
            </a:pPr>
            <a:r>
              <a:rPr lang="en-US" sz="1200" b="1" dirty="0">
                <a:solidFill>
                  <a:srgbClr val="23272E"/>
                </a:solidFill>
                <a:latin typeface="Arial" pitchFamily="34" charset="0"/>
                <a:ea typeface="Arial" pitchFamily="34" charset="-122"/>
                <a:cs typeface="Arial" pitchFamily="34" charset="-120"/>
              </a:rPr>
              <a:t>Amira C.</a:t>
            </a:r>
            <a:endParaRPr lang="en-US" sz="1200" dirty="0"/>
          </a:p>
        </p:txBody>
      </p:sp>
      <p:sp>
        <p:nvSpPr>
          <p:cNvPr id="33" name="Text 27"/>
          <p:cNvSpPr/>
          <p:nvPr/>
        </p:nvSpPr>
        <p:spPr>
          <a:xfrm>
            <a:off x="8046720" y="2944368"/>
            <a:ext cx="1828800" cy="237744"/>
          </a:xfrm>
          <a:prstGeom prst="rect">
            <a:avLst/>
          </a:prstGeom>
          <a:noFill/>
          <a:ln/>
        </p:spPr>
        <p:txBody>
          <a:bodyPr wrap="square" lIns="0" tIns="0" rIns="0" bIns="0" rtlCol="0" anchor="ctr"/>
          <a:lstStyle/>
          <a:p>
            <a:pPr indent="0" marL="0">
              <a:buNone/>
            </a:pPr>
            <a:r>
              <a:rPr lang="en-US" sz="850" dirty="0">
                <a:solidFill>
                  <a:srgbClr val="596069"/>
                </a:solidFill>
                <a:latin typeface="Arial" pitchFamily="34" charset="0"/>
                <a:ea typeface="Arial" pitchFamily="34" charset="-122"/>
                <a:cs typeface="Arial" pitchFamily="34" charset="-120"/>
              </a:rPr>
              <a:t>Continuity + skills match</a:t>
            </a:r>
            <a:endParaRPr lang="en-US" sz="850" dirty="0"/>
          </a:p>
        </p:txBody>
      </p:sp>
      <p:sp>
        <p:nvSpPr>
          <p:cNvPr id="34" name="Text 28"/>
          <p:cNvSpPr/>
          <p:nvPr/>
        </p:nvSpPr>
        <p:spPr>
          <a:xfrm>
            <a:off x="10378440" y="2743200"/>
            <a:ext cx="822960" cy="365760"/>
          </a:xfrm>
          <a:prstGeom prst="rect">
            <a:avLst/>
          </a:prstGeom>
          <a:noFill/>
          <a:ln/>
        </p:spPr>
        <p:txBody>
          <a:bodyPr wrap="square" lIns="0" tIns="0" rIns="0" bIns="0" rtlCol="0" anchor="ctr"/>
          <a:lstStyle/>
          <a:p>
            <a:pPr algn="r" indent="0" marL="0">
              <a:buNone/>
            </a:pPr>
            <a:r>
              <a:rPr lang="en-US" sz="1600" b="1" dirty="0">
                <a:solidFill>
                  <a:srgbClr val="DC661F"/>
                </a:solidFill>
                <a:latin typeface="Arial" pitchFamily="34" charset="0"/>
                <a:ea typeface="Arial" pitchFamily="34" charset="-122"/>
                <a:cs typeface="Arial" pitchFamily="34" charset="-120"/>
              </a:rPr>
              <a:t>94%</a:t>
            </a:r>
            <a:endParaRPr lang="en-US" sz="1600" dirty="0"/>
          </a:p>
        </p:txBody>
      </p:sp>
      <p:sp>
        <p:nvSpPr>
          <p:cNvPr id="35" name="Shape 29"/>
          <p:cNvSpPr/>
          <p:nvPr/>
        </p:nvSpPr>
        <p:spPr>
          <a:xfrm>
            <a:off x="7406640" y="3401568"/>
            <a:ext cx="3794760" cy="713232"/>
          </a:xfrm>
          <a:prstGeom prst="roundRect">
            <a:avLst>
              <a:gd name="adj" fmla="val 11538"/>
            </a:avLst>
          </a:prstGeom>
          <a:solidFill>
            <a:srgbClr val="F5F6F8"/>
          </a:solidFill>
          <a:ln/>
        </p:spPr>
      </p:sp>
      <p:sp>
        <p:nvSpPr>
          <p:cNvPr id="36" name="Shape 30"/>
          <p:cNvSpPr/>
          <p:nvPr/>
        </p:nvSpPr>
        <p:spPr>
          <a:xfrm>
            <a:off x="7543800" y="3575304"/>
            <a:ext cx="365760" cy="365760"/>
          </a:xfrm>
          <a:prstGeom prst="ellipse">
            <a:avLst/>
          </a:prstGeom>
          <a:solidFill>
            <a:srgbClr val="FFFFFF"/>
          </a:solidFill>
          <a:ln w="12700">
            <a:solidFill>
              <a:srgbClr val="E6E9ED"/>
            </a:solidFill>
            <a:prstDash val="solid"/>
          </a:ln>
        </p:spPr>
      </p:sp>
      <p:sp>
        <p:nvSpPr>
          <p:cNvPr id="37" name="Text 31"/>
          <p:cNvSpPr/>
          <p:nvPr/>
        </p:nvSpPr>
        <p:spPr>
          <a:xfrm>
            <a:off x="7543800" y="3575304"/>
            <a:ext cx="365760" cy="365760"/>
          </a:xfrm>
          <a:prstGeom prst="rect">
            <a:avLst/>
          </a:prstGeom>
          <a:noFill/>
          <a:ln/>
        </p:spPr>
        <p:txBody>
          <a:bodyPr wrap="square" lIns="0" tIns="0" rIns="0" bIns="0" rtlCol="0" anchor="ctr"/>
          <a:lstStyle/>
          <a:p>
            <a:pPr algn="ctr" indent="0" marL="0">
              <a:buNone/>
            </a:pPr>
            <a:r>
              <a:rPr lang="en-US" sz="1000" b="1" dirty="0">
                <a:solidFill>
                  <a:srgbClr val="DC661F"/>
                </a:solidFill>
                <a:latin typeface="Arial" pitchFamily="34" charset="0"/>
                <a:ea typeface="Arial" pitchFamily="34" charset="-122"/>
                <a:cs typeface="Arial" pitchFamily="34" charset="-120"/>
              </a:rPr>
              <a:t>LH</a:t>
            </a:r>
            <a:endParaRPr lang="en-US" sz="1000" dirty="0"/>
          </a:p>
        </p:txBody>
      </p:sp>
      <p:sp>
        <p:nvSpPr>
          <p:cNvPr id="38" name="Text 32"/>
          <p:cNvSpPr/>
          <p:nvPr/>
        </p:nvSpPr>
        <p:spPr>
          <a:xfrm>
            <a:off x="8046720" y="3529584"/>
            <a:ext cx="1645920" cy="274320"/>
          </a:xfrm>
          <a:prstGeom prst="rect">
            <a:avLst/>
          </a:prstGeom>
          <a:noFill/>
          <a:ln/>
        </p:spPr>
        <p:txBody>
          <a:bodyPr wrap="square" lIns="0" tIns="0" rIns="0" bIns="0" rtlCol="0" anchor="ctr"/>
          <a:lstStyle/>
          <a:p>
            <a:pPr indent="0" marL="0">
              <a:buNone/>
            </a:pPr>
            <a:r>
              <a:rPr lang="en-US" sz="1200" b="1" dirty="0">
                <a:solidFill>
                  <a:srgbClr val="23272E"/>
                </a:solidFill>
                <a:latin typeface="Arial" pitchFamily="34" charset="0"/>
                <a:ea typeface="Arial" pitchFamily="34" charset="-122"/>
                <a:cs typeface="Arial" pitchFamily="34" charset="-120"/>
              </a:rPr>
              <a:t>Leila H.</a:t>
            </a:r>
            <a:endParaRPr lang="en-US" sz="1200" dirty="0"/>
          </a:p>
        </p:txBody>
      </p:sp>
      <p:sp>
        <p:nvSpPr>
          <p:cNvPr id="39" name="Text 33"/>
          <p:cNvSpPr/>
          <p:nvPr/>
        </p:nvSpPr>
        <p:spPr>
          <a:xfrm>
            <a:off x="8046720" y="3785616"/>
            <a:ext cx="1828800" cy="237744"/>
          </a:xfrm>
          <a:prstGeom prst="rect">
            <a:avLst/>
          </a:prstGeom>
          <a:noFill/>
          <a:ln/>
        </p:spPr>
        <p:txBody>
          <a:bodyPr wrap="square" lIns="0" tIns="0" rIns="0" bIns="0" rtlCol="0" anchor="ctr"/>
          <a:lstStyle/>
          <a:p>
            <a:pPr indent="0" marL="0">
              <a:buNone/>
            </a:pPr>
            <a:r>
              <a:rPr lang="en-US" sz="850" dirty="0">
                <a:solidFill>
                  <a:srgbClr val="596069"/>
                </a:solidFill>
                <a:latin typeface="Arial" pitchFamily="34" charset="0"/>
                <a:ea typeface="Arial" pitchFamily="34" charset="-122"/>
                <a:cs typeface="Arial" pitchFamily="34" charset="-120"/>
              </a:rPr>
              <a:t>Continuity + skills match</a:t>
            </a:r>
            <a:endParaRPr lang="en-US" sz="850" dirty="0"/>
          </a:p>
        </p:txBody>
      </p:sp>
      <p:sp>
        <p:nvSpPr>
          <p:cNvPr id="40" name="Text 34"/>
          <p:cNvSpPr/>
          <p:nvPr/>
        </p:nvSpPr>
        <p:spPr>
          <a:xfrm>
            <a:off x="10378440" y="3584448"/>
            <a:ext cx="822960" cy="365760"/>
          </a:xfrm>
          <a:prstGeom prst="rect">
            <a:avLst/>
          </a:prstGeom>
          <a:noFill/>
          <a:ln/>
        </p:spPr>
        <p:txBody>
          <a:bodyPr wrap="square" lIns="0" tIns="0" rIns="0" bIns="0" rtlCol="0" anchor="ctr"/>
          <a:lstStyle/>
          <a:p>
            <a:pPr algn="r" indent="0" marL="0">
              <a:buNone/>
            </a:pPr>
            <a:r>
              <a:rPr lang="en-US" sz="1600" b="1" dirty="0">
                <a:solidFill>
                  <a:srgbClr val="596069"/>
                </a:solidFill>
                <a:latin typeface="Arial" pitchFamily="34" charset="0"/>
                <a:ea typeface="Arial" pitchFamily="34" charset="-122"/>
                <a:cs typeface="Arial" pitchFamily="34" charset="-120"/>
              </a:rPr>
              <a:t>88%</a:t>
            </a:r>
            <a:endParaRPr lang="en-US" sz="1600" dirty="0"/>
          </a:p>
        </p:txBody>
      </p:sp>
      <p:sp>
        <p:nvSpPr>
          <p:cNvPr id="41" name="Shape 35"/>
          <p:cNvSpPr/>
          <p:nvPr/>
        </p:nvSpPr>
        <p:spPr>
          <a:xfrm>
            <a:off x="7406640" y="4242816"/>
            <a:ext cx="3794760" cy="713232"/>
          </a:xfrm>
          <a:prstGeom prst="roundRect">
            <a:avLst>
              <a:gd name="adj" fmla="val 11538"/>
            </a:avLst>
          </a:prstGeom>
          <a:solidFill>
            <a:srgbClr val="F5F6F8"/>
          </a:solidFill>
          <a:ln/>
        </p:spPr>
      </p:sp>
      <p:sp>
        <p:nvSpPr>
          <p:cNvPr id="42" name="Shape 36"/>
          <p:cNvSpPr/>
          <p:nvPr/>
        </p:nvSpPr>
        <p:spPr>
          <a:xfrm>
            <a:off x="7543800" y="4416552"/>
            <a:ext cx="365760" cy="365760"/>
          </a:xfrm>
          <a:prstGeom prst="ellipse">
            <a:avLst/>
          </a:prstGeom>
          <a:solidFill>
            <a:srgbClr val="FFFFFF"/>
          </a:solidFill>
          <a:ln w="12700">
            <a:solidFill>
              <a:srgbClr val="E6E9ED"/>
            </a:solidFill>
            <a:prstDash val="solid"/>
          </a:ln>
        </p:spPr>
      </p:sp>
      <p:sp>
        <p:nvSpPr>
          <p:cNvPr id="43" name="Text 37"/>
          <p:cNvSpPr/>
          <p:nvPr/>
        </p:nvSpPr>
        <p:spPr>
          <a:xfrm>
            <a:off x="7543800" y="4416552"/>
            <a:ext cx="365760" cy="365760"/>
          </a:xfrm>
          <a:prstGeom prst="rect">
            <a:avLst/>
          </a:prstGeom>
          <a:noFill/>
          <a:ln/>
        </p:spPr>
        <p:txBody>
          <a:bodyPr wrap="square" lIns="0" tIns="0" rIns="0" bIns="0" rtlCol="0" anchor="ctr"/>
          <a:lstStyle/>
          <a:p>
            <a:pPr algn="ctr" indent="0" marL="0">
              <a:buNone/>
            </a:pPr>
            <a:r>
              <a:rPr lang="en-US" sz="1000" b="1" dirty="0">
                <a:solidFill>
                  <a:srgbClr val="DC661F"/>
                </a:solidFill>
                <a:latin typeface="Arial" pitchFamily="34" charset="0"/>
                <a:ea typeface="Arial" pitchFamily="34" charset="-122"/>
                <a:cs typeface="Arial" pitchFamily="34" charset="-120"/>
              </a:rPr>
              <a:t>DO</a:t>
            </a:r>
            <a:endParaRPr lang="en-US" sz="1000" dirty="0"/>
          </a:p>
        </p:txBody>
      </p:sp>
      <p:sp>
        <p:nvSpPr>
          <p:cNvPr id="44" name="Text 38"/>
          <p:cNvSpPr/>
          <p:nvPr/>
        </p:nvSpPr>
        <p:spPr>
          <a:xfrm>
            <a:off x="8046720" y="4370832"/>
            <a:ext cx="1645920" cy="274320"/>
          </a:xfrm>
          <a:prstGeom prst="rect">
            <a:avLst/>
          </a:prstGeom>
          <a:noFill/>
          <a:ln/>
        </p:spPr>
        <p:txBody>
          <a:bodyPr wrap="square" lIns="0" tIns="0" rIns="0" bIns="0" rtlCol="0" anchor="ctr"/>
          <a:lstStyle/>
          <a:p>
            <a:pPr indent="0" marL="0">
              <a:buNone/>
            </a:pPr>
            <a:r>
              <a:rPr lang="en-US" sz="1200" b="1" dirty="0">
                <a:solidFill>
                  <a:srgbClr val="23272E"/>
                </a:solidFill>
                <a:latin typeface="Arial" pitchFamily="34" charset="0"/>
                <a:ea typeface="Arial" pitchFamily="34" charset="-122"/>
                <a:cs typeface="Arial" pitchFamily="34" charset="-120"/>
              </a:rPr>
              <a:t>Daniel O.</a:t>
            </a:r>
            <a:endParaRPr lang="en-US" sz="1200" dirty="0"/>
          </a:p>
        </p:txBody>
      </p:sp>
      <p:sp>
        <p:nvSpPr>
          <p:cNvPr id="45" name="Text 39"/>
          <p:cNvSpPr/>
          <p:nvPr/>
        </p:nvSpPr>
        <p:spPr>
          <a:xfrm>
            <a:off x="8046720" y="4626864"/>
            <a:ext cx="1828800" cy="237744"/>
          </a:xfrm>
          <a:prstGeom prst="rect">
            <a:avLst/>
          </a:prstGeom>
          <a:noFill/>
          <a:ln/>
        </p:spPr>
        <p:txBody>
          <a:bodyPr wrap="square" lIns="0" tIns="0" rIns="0" bIns="0" rtlCol="0" anchor="ctr"/>
          <a:lstStyle/>
          <a:p>
            <a:pPr indent="0" marL="0">
              <a:buNone/>
            </a:pPr>
            <a:r>
              <a:rPr lang="en-US" sz="850" dirty="0">
                <a:solidFill>
                  <a:srgbClr val="596069"/>
                </a:solidFill>
                <a:latin typeface="Arial" pitchFamily="34" charset="0"/>
                <a:ea typeface="Arial" pitchFamily="34" charset="-122"/>
                <a:cs typeface="Arial" pitchFamily="34" charset="-120"/>
              </a:rPr>
              <a:t>Continuity + skills match</a:t>
            </a:r>
            <a:endParaRPr lang="en-US" sz="850" dirty="0"/>
          </a:p>
        </p:txBody>
      </p:sp>
      <p:sp>
        <p:nvSpPr>
          <p:cNvPr id="46" name="Text 40"/>
          <p:cNvSpPr/>
          <p:nvPr/>
        </p:nvSpPr>
        <p:spPr>
          <a:xfrm>
            <a:off x="10378440" y="4425696"/>
            <a:ext cx="822960" cy="365760"/>
          </a:xfrm>
          <a:prstGeom prst="rect">
            <a:avLst/>
          </a:prstGeom>
          <a:noFill/>
          <a:ln/>
        </p:spPr>
        <p:txBody>
          <a:bodyPr wrap="square" lIns="0" tIns="0" rIns="0" bIns="0" rtlCol="0" anchor="ctr"/>
          <a:lstStyle/>
          <a:p>
            <a:pPr algn="r" indent="0" marL="0">
              <a:buNone/>
            </a:pPr>
            <a:r>
              <a:rPr lang="en-US" sz="1600" b="1" dirty="0">
                <a:solidFill>
                  <a:srgbClr val="596069"/>
                </a:solidFill>
                <a:latin typeface="Arial" pitchFamily="34" charset="0"/>
                <a:ea typeface="Arial" pitchFamily="34" charset="-122"/>
                <a:cs typeface="Arial" pitchFamily="34" charset="-120"/>
              </a:rPr>
              <a:t>71%</a:t>
            </a:r>
            <a:endParaRPr lang="en-US" sz="1600" dirty="0"/>
          </a:p>
        </p:txBody>
      </p:sp>
      <p:sp>
        <p:nvSpPr>
          <p:cNvPr id="47" name="Text 41"/>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48" name="Text 42"/>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17 /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D22"/>
        </a:solidFill>
      </p:bgPr>
    </p:bg>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18   </a:t>
            </a:r>
            <a:pPr algn="l" indent="0" marL="0">
              <a:buNone/>
            </a:pPr>
            <a:r>
              <a:rPr lang="en-US" sz="1150" b="1" spc="200" kern="0" dirty="0">
                <a:solidFill>
                  <a:srgbClr val="AAB0B7"/>
                </a:solidFill>
                <a:latin typeface="Arial" pitchFamily="34" charset="0"/>
                <a:ea typeface="Arial" pitchFamily="34" charset="-122"/>
                <a:cs typeface="Arial" pitchFamily="34" charset="-120"/>
              </a:rPr>
              <a:t>HOW THE INTELLIGENCE WORKS</a:t>
            </a:r>
            <a:endParaRPr lang="en-US" sz="1150" dirty="0"/>
          </a:p>
        </p:txBody>
      </p:sp>
      <p:sp>
        <p:nvSpPr>
          <p:cNvPr id="4" name="Text 2"/>
          <p:cNvSpPr/>
          <p:nvPr/>
        </p:nvSpPr>
        <p:spPr>
          <a:xfrm>
            <a:off x="640080" y="2011680"/>
            <a:ext cx="10424160" cy="1645920"/>
          </a:xfrm>
          <a:prstGeom prst="rect">
            <a:avLst/>
          </a:prstGeom>
          <a:noFill/>
          <a:ln/>
        </p:spPr>
        <p:txBody>
          <a:bodyPr wrap="square" lIns="0" tIns="0" rIns="0" bIns="0" rtlCol="0" anchor="ctr"/>
          <a:lstStyle/>
          <a:p>
            <a:pPr indent="0" marL="0">
              <a:lnSpc>
                <a:spcPct val="108000"/>
              </a:lnSpc>
              <a:buNone/>
            </a:pPr>
            <a:r>
              <a:rPr lang="en-US" sz="4400" b="1" dirty="0">
                <a:solidFill>
                  <a:srgbClr val="FFFFFF"/>
                </a:solidFill>
                <a:latin typeface="Arial" pitchFamily="34" charset="0"/>
                <a:ea typeface="Arial" pitchFamily="34" charset="-122"/>
                <a:cs typeface="Arial" pitchFamily="34" charset="-120"/>
              </a:rPr>
              <a:t>People provide care.
</a:t>
            </a:r>
            <a:pPr indent="0" marL="0">
              <a:lnSpc>
                <a:spcPct val="108000"/>
              </a:lnSpc>
              <a:buNone/>
            </a:pPr>
            <a:r>
              <a:rPr lang="en-US" sz="4400" b="1" dirty="0">
                <a:solidFill>
                  <a:srgbClr val="DC661F"/>
                </a:solidFill>
                <a:latin typeface="Arial" pitchFamily="34" charset="0"/>
                <a:ea typeface="Arial" pitchFamily="34" charset="-122"/>
                <a:cs typeface="Arial" pitchFamily="34" charset="-120"/>
              </a:rPr>
              <a:t>AI removes the paperwork.</a:t>
            </a:r>
            <a:endParaRPr lang="en-US" sz="4400" dirty="0"/>
          </a:p>
        </p:txBody>
      </p:sp>
      <p:sp>
        <p:nvSpPr>
          <p:cNvPr id="5" name="Text 3"/>
          <p:cNvSpPr/>
          <p:nvPr/>
        </p:nvSpPr>
        <p:spPr>
          <a:xfrm>
            <a:off x="640080" y="3840480"/>
            <a:ext cx="7955280" cy="822960"/>
          </a:xfrm>
          <a:prstGeom prst="rect">
            <a:avLst/>
          </a:prstGeom>
          <a:noFill/>
          <a:ln/>
        </p:spPr>
        <p:txBody>
          <a:bodyPr wrap="square" lIns="0" tIns="0" rIns="0" bIns="0" rtlCol="0" anchor="ctr"/>
          <a:lstStyle/>
          <a:p>
            <a:pPr indent="0" marL="0">
              <a:lnSpc>
                <a:spcPct val="120000"/>
              </a:lnSpc>
              <a:buNone/>
            </a:pPr>
            <a:r>
              <a:rPr lang="en-US" sz="1550" dirty="0">
                <a:solidFill>
                  <a:srgbClr val="C2C7CD"/>
                </a:solidFill>
                <a:latin typeface="Arial" pitchFamily="34" charset="0"/>
                <a:ea typeface="Arial" pitchFamily="34" charset="-122"/>
                <a:cs typeface="Arial" pitchFamily="34" charset="-120"/>
              </a:rPr>
              <a:t>CareOS never makes a care decision. It does the repetitive work around care — so people are freed to do the part only people can.</a:t>
            </a:r>
            <a:endParaRPr lang="en-US" sz="1550" dirty="0"/>
          </a:p>
        </p:txBody>
      </p:sp>
      <p:sp>
        <p:nvSpPr>
          <p:cNvPr id="6" name="Shape 4"/>
          <p:cNvSpPr/>
          <p:nvPr/>
        </p:nvSpPr>
        <p:spPr>
          <a:xfrm>
            <a:off x="640080" y="4892040"/>
            <a:ext cx="3383280" cy="457200"/>
          </a:xfrm>
          <a:prstGeom prst="roundRect">
            <a:avLst>
              <a:gd name="adj" fmla="val 50000"/>
            </a:avLst>
          </a:prstGeom>
          <a:solidFill>
            <a:srgbClr val="262A30"/>
          </a:solidFill>
          <a:ln/>
        </p:spPr>
      </p:sp>
      <p:pic>
        <p:nvPicPr>
          <p:cNvPr id="7" name="Image 0" descr="preencoded.png">    </p:cNvPr>
          <p:cNvPicPr>
            <a:picLocks noChangeAspect="1"/>
          </p:cNvPicPr>
          <p:nvPr/>
        </p:nvPicPr>
        <p:blipFill>
          <a:blip r:embed="rId1"/>
          <a:stretch>
            <a:fillRect/>
          </a:stretch>
        </p:blipFill>
        <p:spPr>
          <a:xfrm>
            <a:off x="804672" y="5010912"/>
            <a:ext cx="219456" cy="219456"/>
          </a:xfrm>
          <a:prstGeom prst="rect">
            <a:avLst/>
          </a:prstGeom>
        </p:spPr>
      </p:pic>
      <p:sp>
        <p:nvSpPr>
          <p:cNvPr id="8" name="Text 5"/>
          <p:cNvSpPr/>
          <p:nvPr/>
        </p:nvSpPr>
        <p:spPr>
          <a:xfrm>
            <a:off x="1143000" y="4892040"/>
            <a:ext cx="2743200" cy="457200"/>
          </a:xfrm>
          <a:prstGeom prst="rect">
            <a:avLst/>
          </a:prstGeom>
          <a:noFill/>
          <a:ln/>
        </p:spPr>
        <p:txBody>
          <a:bodyPr wrap="square" lIns="0" tIns="0" rIns="0" bIns="0" rtlCol="0" anchor="ctr"/>
          <a:lstStyle/>
          <a:p>
            <a:pPr indent="0" marL="0">
              <a:buNone/>
            </a:pPr>
            <a:r>
              <a:rPr lang="en-US" sz="1200" b="1" dirty="0">
                <a:solidFill>
                  <a:srgbClr val="E4E7EB"/>
                </a:solidFill>
                <a:latin typeface="Arial" pitchFamily="34" charset="0"/>
                <a:ea typeface="Arial" pitchFamily="34" charset="-122"/>
                <a:cs typeface="Arial" pitchFamily="34" charset="-120"/>
              </a:rPr>
              <a:t>Voice-to-notes</a:t>
            </a:r>
            <a:endParaRPr lang="en-US" sz="1200" dirty="0"/>
          </a:p>
        </p:txBody>
      </p:sp>
      <p:sp>
        <p:nvSpPr>
          <p:cNvPr id="9" name="Shape 6"/>
          <p:cNvSpPr/>
          <p:nvPr/>
        </p:nvSpPr>
        <p:spPr>
          <a:xfrm>
            <a:off x="4279392" y="4892040"/>
            <a:ext cx="3383280" cy="457200"/>
          </a:xfrm>
          <a:prstGeom prst="roundRect">
            <a:avLst>
              <a:gd name="adj" fmla="val 50000"/>
            </a:avLst>
          </a:prstGeom>
          <a:solidFill>
            <a:srgbClr val="262A30"/>
          </a:solidFill>
          <a:ln/>
        </p:spPr>
      </p:sp>
      <p:pic>
        <p:nvPicPr>
          <p:cNvPr id="10" name="Image 1" descr="preencoded.png">    </p:cNvPr>
          <p:cNvPicPr>
            <a:picLocks noChangeAspect="1"/>
          </p:cNvPicPr>
          <p:nvPr/>
        </p:nvPicPr>
        <p:blipFill>
          <a:blip r:embed="rId2"/>
          <a:stretch>
            <a:fillRect/>
          </a:stretch>
        </p:blipFill>
        <p:spPr>
          <a:xfrm>
            <a:off x="4443984" y="5010912"/>
            <a:ext cx="219456" cy="219456"/>
          </a:xfrm>
          <a:prstGeom prst="rect">
            <a:avLst/>
          </a:prstGeom>
        </p:spPr>
      </p:pic>
      <p:sp>
        <p:nvSpPr>
          <p:cNvPr id="11" name="Text 7"/>
          <p:cNvSpPr/>
          <p:nvPr/>
        </p:nvSpPr>
        <p:spPr>
          <a:xfrm>
            <a:off x="4782312" y="4892040"/>
            <a:ext cx="2743200" cy="457200"/>
          </a:xfrm>
          <a:prstGeom prst="rect">
            <a:avLst/>
          </a:prstGeom>
          <a:noFill/>
          <a:ln/>
        </p:spPr>
        <p:txBody>
          <a:bodyPr wrap="square" lIns="0" tIns="0" rIns="0" bIns="0" rtlCol="0" anchor="ctr"/>
          <a:lstStyle/>
          <a:p>
            <a:pPr indent="0" marL="0">
              <a:buNone/>
            </a:pPr>
            <a:r>
              <a:rPr lang="en-US" sz="1200" b="1" dirty="0">
                <a:solidFill>
                  <a:srgbClr val="E4E7EB"/>
                </a:solidFill>
                <a:latin typeface="Arial" pitchFamily="34" charset="0"/>
                <a:ea typeface="Arial" pitchFamily="34" charset="-122"/>
                <a:cs typeface="Arial" pitchFamily="34" charset="-120"/>
              </a:rPr>
              <a:t>Draft reports</a:t>
            </a:r>
            <a:endParaRPr lang="en-US" sz="1200" dirty="0"/>
          </a:p>
        </p:txBody>
      </p:sp>
      <p:sp>
        <p:nvSpPr>
          <p:cNvPr id="12" name="Shape 8"/>
          <p:cNvSpPr/>
          <p:nvPr/>
        </p:nvSpPr>
        <p:spPr>
          <a:xfrm>
            <a:off x="7918704" y="4892040"/>
            <a:ext cx="3383280" cy="457200"/>
          </a:xfrm>
          <a:prstGeom prst="roundRect">
            <a:avLst>
              <a:gd name="adj" fmla="val 50000"/>
            </a:avLst>
          </a:prstGeom>
          <a:solidFill>
            <a:srgbClr val="262A30"/>
          </a:solidFill>
          <a:ln/>
        </p:spPr>
      </p:sp>
      <p:pic>
        <p:nvPicPr>
          <p:cNvPr id="13" name="Image 2" descr="preencoded.png">    </p:cNvPr>
          <p:cNvPicPr>
            <a:picLocks noChangeAspect="1"/>
          </p:cNvPicPr>
          <p:nvPr/>
        </p:nvPicPr>
        <p:blipFill>
          <a:blip r:embed="rId3"/>
          <a:stretch>
            <a:fillRect/>
          </a:stretch>
        </p:blipFill>
        <p:spPr>
          <a:xfrm>
            <a:off x="8083296" y="5010912"/>
            <a:ext cx="219456" cy="219456"/>
          </a:xfrm>
          <a:prstGeom prst="rect">
            <a:avLst/>
          </a:prstGeom>
        </p:spPr>
      </p:pic>
      <p:sp>
        <p:nvSpPr>
          <p:cNvPr id="14" name="Text 9"/>
          <p:cNvSpPr/>
          <p:nvPr/>
        </p:nvSpPr>
        <p:spPr>
          <a:xfrm>
            <a:off x="8421624" y="4892040"/>
            <a:ext cx="2743200" cy="457200"/>
          </a:xfrm>
          <a:prstGeom prst="rect">
            <a:avLst/>
          </a:prstGeom>
          <a:noFill/>
          <a:ln/>
        </p:spPr>
        <p:txBody>
          <a:bodyPr wrap="square" lIns="0" tIns="0" rIns="0" bIns="0" rtlCol="0" anchor="ctr"/>
          <a:lstStyle/>
          <a:p>
            <a:pPr indent="0" marL="0">
              <a:buNone/>
            </a:pPr>
            <a:r>
              <a:rPr lang="en-US" sz="1200" b="1" dirty="0">
                <a:solidFill>
                  <a:srgbClr val="E4E7EB"/>
                </a:solidFill>
                <a:latin typeface="Arial" pitchFamily="34" charset="0"/>
                <a:ea typeface="Arial" pitchFamily="34" charset="-122"/>
                <a:cs typeface="Arial" pitchFamily="34" charset="-120"/>
              </a:rPr>
              <a:t>Smart search</a:t>
            </a:r>
            <a:endParaRPr lang="en-US" sz="1200" dirty="0"/>
          </a:p>
        </p:txBody>
      </p:sp>
      <p:sp>
        <p:nvSpPr>
          <p:cNvPr id="15" name="Shape 10"/>
          <p:cNvSpPr/>
          <p:nvPr/>
        </p:nvSpPr>
        <p:spPr>
          <a:xfrm>
            <a:off x="640080" y="5550408"/>
            <a:ext cx="3383280" cy="457200"/>
          </a:xfrm>
          <a:prstGeom prst="roundRect">
            <a:avLst>
              <a:gd name="adj" fmla="val 50000"/>
            </a:avLst>
          </a:prstGeom>
          <a:solidFill>
            <a:srgbClr val="262A30"/>
          </a:solidFill>
          <a:ln/>
        </p:spPr>
      </p:sp>
      <p:pic>
        <p:nvPicPr>
          <p:cNvPr id="16" name="Image 3" descr="preencoded.png">    </p:cNvPr>
          <p:cNvPicPr>
            <a:picLocks noChangeAspect="1"/>
          </p:cNvPicPr>
          <p:nvPr/>
        </p:nvPicPr>
        <p:blipFill>
          <a:blip r:embed="rId4"/>
          <a:stretch>
            <a:fillRect/>
          </a:stretch>
        </p:blipFill>
        <p:spPr>
          <a:xfrm>
            <a:off x="804672" y="5669280"/>
            <a:ext cx="219456" cy="219456"/>
          </a:xfrm>
          <a:prstGeom prst="rect">
            <a:avLst/>
          </a:prstGeom>
        </p:spPr>
      </p:pic>
      <p:sp>
        <p:nvSpPr>
          <p:cNvPr id="17" name="Text 11"/>
          <p:cNvSpPr/>
          <p:nvPr/>
        </p:nvSpPr>
        <p:spPr>
          <a:xfrm>
            <a:off x="1143000" y="5550408"/>
            <a:ext cx="2743200" cy="457200"/>
          </a:xfrm>
          <a:prstGeom prst="rect">
            <a:avLst/>
          </a:prstGeom>
          <a:noFill/>
          <a:ln/>
        </p:spPr>
        <p:txBody>
          <a:bodyPr wrap="square" lIns="0" tIns="0" rIns="0" bIns="0" rtlCol="0" anchor="ctr"/>
          <a:lstStyle/>
          <a:p>
            <a:pPr indent="0" marL="0">
              <a:buNone/>
            </a:pPr>
            <a:r>
              <a:rPr lang="en-US" sz="1200" b="1" dirty="0">
                <a:solidFill>
                  <a:srgbClr val="E4E7EB"/>
                </a:solidFill>
                <a:latin typeface="Arial" pitchFamily="34" charset="0"/>
                <a:ea typeface="Arial" pitchFamily="34" charset="-122"/>
                <a:cs typeface="Arial" pitchFamily="34" charset="-120"/>
              </a:rPr>
              <a:t>Risk reminders</a:t>
            </a:r>
            <a:endParaRPr lang="en-US" sz="1200" dirty="0"/>
          </a:p>
        </p:txBody>
      </p:sp>
      <p:sp>
        <p:nvSpPr>
          <p:cNvPr id="18" name="Shape 12"/>
          <p:cNvSpPr/>
          <p:nvPr/>
        </p:nvSpPr>
        <p:spPr>
          <a:xfrm>
            <a:off x="4279392" y="5550408"/>
            <a:ext cx="3383280" cy="457200"/>
          </a:xfrm>
          <a:prstGeom prst="roundRect">
            <a:avLst>
              <a:gd name="adj" fmla="val 50000"/>
            </a:avLst>
          </a:prstGeom>
          <a:solidFill>
            <a:srgbClr val="262A30"/>
          </a:solidFill>
          <a:ln/>
        </p:spPr>
      </p:sp>
      <p:pic>
        <p:nvPicPr>
          <p:cNvPr id="19" name="Image 4" descr="preencoded.png">    </p:cNvPr>
          <p:cNvPicPr>
            <a:picLocks noChangeAspect="1"/>
          </p:cNvPicPr>
          <p:nvPr/>
        </p:nvPicPr>
        <p:blipFill>
          <a:blip r:embed="rId5"/>
          <a:stretch>
            <a:fillRect/>
          </a:stretch>
        </p:blipFill>
        <p:spPr>
          <a:xfrm>
            <a:off x="4443984" y="5669280"/>
            <a:ext cx="219456" cy="219456"/>
          </a:xfrm>
          <a:prstGeom prst="rect">
            <a:avLst/>
          </a:prstGeom>
        </p:spPr>
      </p:pic>
      <p:sp>
        <p:nvSpPr>
          <p:cNvPr id="20" name="Text 13"/>
          <p:cNvSpPr/>
          <p:nvPr/>
        </p:nvSpPr>
        <p:spPr>
          <a:xfrm>
            <a:off x="4782312" y="5550408"/>
            <a:ext cx="2743200" cy="457200"/>
          </a:xfrm>
          <a:prstGeom prst="rect">
            <a:avLst/>
          </a:prstGeom>
          <a:noFill/>
          <a:ln/>
        </p:spPr>
        <p:txBody>
          <a:bodyPr wrap="square" lIns="0" tIns="0" rIns="0" bIns="0" rtlCol="0" anchor="ctr"/>
          <a:lstStyle/>
          <a:p>
            <a:pPr indent="0" marL="0">
              <a:buNone/>
            </a:pPr>
            <a:r>
              <a:rPr lang="en-US" sz="1200" b="1" dirty="0">
                <a:solidFill>
                  <a:srgbClr val="E4E7EB"/>
                </a:solidFill>
                <a:latin typeface="Arial" pitchFamily="34" charset="0"/>
                <a:ea typeface="Arial" pitchFamily="34" charset="-122"/>
                <a:cs typeface="Arial" pitchFamily="34" charset="-120"/>
              </a:rPr>
              <a:t>Compliance nudges</a:t>
            </a:r>
            <a:endParaRPr lang="en-US" sz="1200" dirty="0"/>
          </a:p>
        </p:txBody>
      </p:sp>
      <p:sp>
        <p:nvSpPr>
          <p:cNvPr id="21" name="Shape 14"/>
          <p:cNvSpPr/>
          <p:nvPr/>
        </p:nvSpPr>
        <p:spPr>
          <a:xfrm>
            <a:off x="7918704" y="5550408"/>
            <a:ext cx="3383280" cy="457200"/>
          </a:xfrm>
          <a:prstGeom prst="roundRect">
            <a:avLst>
              <a:gd name="adj" fmla="val 50000"/>
            </a:avLst>
          </a:prstGeom>
          <a:solidFill>
            <a:srgbClr val="262A30"/>
          </a:solidFill>
          <a:ln/>
        </p:spPr>
      </p:sp>
      <p:pic>
        <p:nvPicPr>
          <p:cNvPr id="22" name="Image 5" descr="preencoded.png">    </p:cNvPr>
          <p:cNvPicPr>
            <a:picLocks noChangeAspect="1"/>
          </p:cNvPicPr>
          <p:nvPr/>
        </p:nvPicPr>
        <p:blipFill>
          <a:blip r:embed="rId6"/>
          <a:stretch>
            <a:fillRect/>
          </a:stretch>
        </p:blipFill>
        <p:spPr>
          <a:xfrm>
            <a:off x="8083296" y="5669280"/>
            <a:ext cx="219456" cy="219456"/>
          </a:xfrm>
          <a:prstGeom prst="rect">
            <a:avLst/>
          </a:prstGeom>
        </p:spPr>
      </p:pic>
      <p:sp>
        <p:nvSpPr>
          <p:cNvPr id="23" name="Text 15"/>
          <p:cNvSpPr/>
          <p:nvPr/>
        </p:nvSpPr>
        <p:spPr>
          <a:xfrm>
            <a:off x="8421624" y="5550408"/>
            <a:ext cx="2743200" cy="457200"/>
          </a:xfrm>
          <a:prstGeom prst="rect">
            <a:avLst/>
          </a:prstGeom>
          <a:noFill/>
          <a:ln/>
        </p:spPr>
        <p:txBody>
          <a:bodyPr wrap="square" lIns="0" tIns="0" rIns="0" bIns="0" rtlCol="0" anchor="ctr"/>
          <a:lstStyle/>
          <a:p>
            <a:pPr indent="0" marL="0">
              <a:buNone/>
            </a:pPr>
            <a:r>
              <a:rPr lang="en-US" sz="1200" b="1" dirty="0">
                <a:solidFill>
                  <a:srgbClr val="E4E7EB"/>
                </a:solidFill>
                <a:latin typeface="Arial" pitchFamily="34" charset="0"/>
                <a:ea typeface="Arial" pitchFamily="34" charset="-122"/>
                <a:cs typeface="Arial" pitchFamily="34" charset="-120"/>
              </a:rPr>
              <a:t>Auto follow-ups</a:t>
            </a:r>
            <a:endParaRPr lang="en-US" sz="1200" dirty="0"/>
          </a:p>
        </p:txBody>
      </p:sp>
      <p:sp>
        <p:nvSpPr>
          <p:cNvPr id="24" name="Text 16"/>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C7CCD2"/>
                </a:solidFill>
                <a:latin typeface="Arial" pitchFamily="34" charset="0"/>
                <a:ea typeface="Arial" pitchFamily="34" charset="-122"/>
                <a:cs typeface="Arial" pitchFamily="34" charset="-120"/>
              </a:rPr>
              <a:t>CareOS</a:t>
            </a:r>
            <a:pPr algn="l" indent="0" marL="0">
              <a:buNone/>
            </a:pPr>
            <a:r>
              <a:rPr lang="en-US" sz="900" dirty="0">
                <a:solidFill>
                  <a:srgbClr val="6B7178"/>
                </a:solidFill>
                <a:latin typeface="Arial" pitchFamily="34" charset="0"/>
                <a:ea typeface="Arial" pitchFamily="34" charset="-122"/>
                <a:cs typeface="Arial" pitchFamily="34" charset="-120"/>
              </a:rPr>
              <a:t>   ·   Prepared for Tender Loving Care Group</a:t>
            </a:r>
            <a:endParaRPr lang="en-US" sz="900" dirty="0"/>
          </a:p>
        </p:txBody>
      </p:sp>
      <p:sp>
        <p:nvSpPr>
          <p:cNvPr id="25" name="Text 17"/>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6B7178"/>
                </a:solidFill>
                <a:latin typeface="Arial" pitchFamily="34" charset="0"/>
                <a:ea typeface="Arial" pitchFamily="34" charset="-122"/>
                <a:cs typeface="Arial" pitchFamily="34" charset="-120"/>
              </a:rPr>
              <a:t>18 /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19   </a:t>
            </a:r>
            <a:pPr algn="l" indent="0" marL="0">
              <a:buNone/>
            </a:pPr>
            <a:r>
              <a:rPr lang="en-US" sz="1150" b="1" spc="200" kern="0" dirty="0">
                <a:solidFill>
                  <a:srgbClr val="596069"/>
                </a:solidFill>
                <a:latin typeface="Arial" pitchFamily="34" charset="0"/>
                <a:ea typeface="Arial" pitchFamily="34" charset="-122"/>
                <a:cs typeface="Arial" pitchFamily="34" charset="-120"/>
              </a:rPr>
              <a:t>SEEING THE WHOLE</a:t>
            </a:r>
            <a:endParaRPr lang="en-US" sz="1150" dirty="0"/>
          </a:p>
        </p:txBody>
      </p:sp>
      <p:sp>
        <p:nvSpPr>
          <p:cNvPr id="4" name="Text 2"/>
          <p:cNvSpPr/>
          <p:nvPr/>
        </p:nvSpPr>
        <p:spPr>
          <a:xfrm>
            <a:off x="640080" y="932688"/>
            <a:ext cx="5852160" cy="822960"/>
          </a:xfrm>
          <a:prstGeom prst="rect">
            <a:avLst/>
          </a:prstGeom>
          <a:noFill/>
          <a:ln/>
        </p:spPr>
        <p:txBody>
          <a:bodyPr wrap="square" lIns="0" tIns="0" rIns="0" bIns="0" rtlCol="0" anchor="ctr"/>
          <a:lstStyle/>
          <a:p>
            <a:pPr indent="0" marL="0">
              <a:buNone/>
            </a:pPr>
            <a:r>
              <a:rPr lang="en-US" sz="3200" b="1" dirty="0">
                <a:solidFill>
                  <a:srgbClr val="23272E"/>
                </a:solidFill>
                <a:latin typeface="Arial" pitchFamily="34" charset="0"/>
                <a:ea typeface="Arial" pitchFamily="34" charset="-122"/>
                <a:cs typeface="Arial" pitchFamily="34" charset="-120"/>
              </a:rPr>
              <a:t>Patterns no single person could see.</a:t>
            </a:r>
            <a:endParaRPr lang="en-US" sz="3200" dirty="0"/>
          </a:p>
        </p:txBody>
      </p:sp>
      <p:sp>
        <p:nvSpPr>
          <p:cNvPr id="5" name="Text 3"/>
          <p:cNvSpPr/>
          <p:nvPr/>
        </p:nvSpPr>
        <p:spPr>
          <a:xfrm>
            <a:off x="640080" y="1874520"/>
            <a:ext cx="5486400" cy="1097280"/>
          </a:xfrm>
          <a:prstGeom prst="rect">
            <a:avLst/>
          </a:prstGeom>
          <a:noFill/>
          <a:ln/>
        </p:spPr>
        <p:txBody>
          <a:bodyPr wrap="square" lIns="0" tIns="0" rIns="0" bIns="0" rtlCol="0" anchor="ctr"/>
          <a:lstStyle/>
          <a:p>
            <a:pPr indent="0" marL="0">
              <a:lnSpc>
                <a:spcPct val="118000"/>
              </a:lnSpc>
              <a:buNone/>
            </a:pPr>
            <a:r>
              <a:rPr lang="en-US" sz="1500" dirty="0">
                <a:solidFill>
                  <a:srgbClr val="596069"/>
                </a:solidFill>
                <a:latin typeface="Arial" pitchFamily="34" charset="0"/>
                <a:ea typeface="Arial" pitchFamily="34" charset="-122"/>
                <a:cs typeface="Arial" pitchFamily="34" charset="-120"/>
              </a:rPr>
              <a:t>Across hundreds of participants and thousands of shifts, CareOS surfaces trends that inform better decisions — about care, workforce and where to grow.</a:t>
            </a:r>
            <a:endParaRPr lang="en-US" sz="1500" dirty="0"/>
          </a:p>
        </p:txBody>
      </p:sp>
      <p:sp>
        <p:nvSpPr>
          <p:cNvPr id="6" name="Shape 4"/>
          <p:cNvSpPr/>
          <p:nvPr/>
        </p:nvSpPr>
        <p:spPr>
          <a:xfrm>
            <a:off x="640080" y="3200400"/>
            <a:ext cx="548640" cy="548640"/>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82726" y="3343046"/>
            <a:ext cx="263347" cy="263347"/>
          </a:xfrm>
          <a:prstGeom prst="rect">
            <a:avLst/>
          </a:prstGeom>
        </p:spPr>
      </p:pic>
      <p:sp>
        <p:nvSpPr>
          <p:cNvPr id="8" name="Text 5"/>
          <p:cNvSpPr/>
          <p:nvPr/>
        </p:nvSpPr>
        <p:spPr>
          <a:xfrm>
            <a:off x="1389888" y="3163824"/>
            <a:ext cx="475488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Outcome trends</a:t>
            </a:r>
            <a:endParaRPr lang="en-US" sz="1550" dirty="0"/>
          </a:p>
        </p:txBody>
      </p:sp>
      <p:sp>
        <p:nvSpPr>
          <p:cNvPr id="9" name="Text 6"/>
          <p:cNvSpPr/>
          <p:nvPr/>
        </p:nvSpPr>
        <p:spPr>
          <a:xfrm>
            <a:off x="1389888" y="3529584"/>
            <a:ext cx="4846320" cy="457200"/>
          </a:xfrm>
          <a:prstGeom prst="rect">
            <a:avLst/>
          </a:prstGeom>
          <a:noFill/>
          <a:ln/>
        </p:spPr>
        <p:txBody>
          <a:bodyPr wrap="square" lIns="0" tIns="0" rIns="0" bIns="0" rtlCol="0" anchor="ctr"/>
          <a:lstStyle/>
          <a:p>
            <a:pPr indent="0" marL="0">
              <a:buNone/>
            </a:pPr>
            <a:r>
              <a:rPr lang="en-US" sz="1250" dirty="0">
                <a:solidFill>
                  <a:srgbClr val="596069"/>
                </a:solidFill>
                <a:latin typeface="Arial" pitchFamily="34" charset="0"/>
                <a:ea typeface="Arial" pitchFamily="34" charset="-122"/>
                <a:cs typeface="Arial" pitchFamily="34" charset="-120"/>
              </a:rPr>
              <a:t>See which supports are genuinely moving goals.</a:t>
            </a:r>
            <a:endParaRPr lang="en-US" sz="1250" dirty="0"/>
          </a:p>
        </p:txBody>
      </p:sp>
      <p:sp>
        <p:nvSpPr>
          <p:cNvPr id="10" name="Shape 7"/>
          <p:cNvSpPr/>
          <p:nvPr/>
        </p:nvSpPr>
        <p:spPr>
          <a:xfrm>
            <a:off x="640080" y="4114800"/>
            <a:ext cx="548640" cy="548640"/>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82726" y="4257446"/>
            <a:ext cx="263347" cy="263347"/>
          </a:xfrm>
          <a:prstGeom prst="rect">
            <a:avLst/>
          </a:prstGeom>
        </p:spPr>
      </p:pic>
      <p:sp>
        <p:nvSpPr>
          <p:cNvPr id="12" name="Text 8"/>
          <p:cNvSpPr/>
          <p:nvPr/>
        </p:nvSpPr>
        <p:spPr>
          <a:xfrm>
            <a:off x="1389888" y="4078224"/>
            <a:ext cx="475488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Workforce signals</a:t>
            </a:r>
            <a:endParaRPr lang="en-US" sz="1550" dirty="0"/>
          </a:p>
        </p:txBody>
      </p:sp>
      <p:sp>
        <p:nvSpPr>
          <p:cNvPr id="13" name="Text 9"/>
          <p:cNvSpPr/>
          <p:nvPr/>
        </p:nvSpPr>
        <p:spPr>
          <a:xfrm>
            <a:off x="1389888" y="4443984"/>
            <a:ext cx="4846320" cy="457200"/>
          </a:xfrm>
          <a:prstGeom prst="rect">
            <a:avLst/>
          </a:prstGeom>
          <a:noFill/>
          <a:ln/>
        </p:spPr>
        <p:txBody>
          <a:bodyPr wrap="square" lIns="0" tIns="0" rIns="0" bIns="0" rtlCol="0" anchor="ctr"/>
          <a:lstStyle/>
          <a:p>
            <a:pPr indent="0" marL="0">
              <a:buNone/>
            </a:pPr>
            <a:r>
              <a:rPr lang="en-US" sz="1250" dirty="0">
                <a:solidFill>
                  <a:srgbClr val="596069"/>
                </a:solidFill>
                <a:latin typeface="Arial" pitchFamily="34" charset="0"/>
                <a:ea typeface="Arial" pitchFamily="34" charset="-122"/>
                <a:cs typeface="Arial" pitchFamily="34" charset="-120"/>
              </a:rPr>
              <a:t>Spot burnout and turnover risk early enough to act.</a:t>
            </a:r>
            <a:endParaRPr lang="en-US" sz="1250" dirty="0"/>
          </a:p>
        </p:txBody>
      </p:sp>
      <p:sp>
        <p:nvSpPr>
          <p:cNvPr id="14" name="Shape 10"/>
          <p:cNvSpPr/>
          <p:nvPr/>
        </p:nvSpPr>
        <p:spPr>
          <a:xfrm>
            <a:off x="640080" y="5029200"/>
            <a:ext cx="548640" cy="548640"/>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82726" y="5171846"/>
            <a:ext cx="263347" cy="263347"/>
          </a:xfrm>
          <a:prstGeom prst="rect">
            <a:avLst/>
          </a:prstGeom>
        </p:spPr>
      </p:pic>
      <p:sp>
        <p:nvSpPr>
          <p:cNvPr id="16" name="Text 11"/>
          <p:cNvSpPr/>
          <p:nvPr/>
        </p:nvSpPr>
        <p:spPr>
          <a:xfrm>
            <a:off x="1389888" y="4992624"/>
            <a:ext cx="4754880" cy="365760"/>
          </a:xfrm>
          <a:prstGeom prst="rect">
            <a:avLst/>
          </a:prstGeom>
          <a:noFill/>
          <a:ln/>
        </p:spPr>
        <p:txBody>
          <a:bodyPr wrap="square" lIns="0" tIns="0" rIns="0" bIns="0" rtlCol="0" anchor="ctr"/>
          <a:lstStyle/>
          <a:p>
            <a:pPr indent="0" marL="0">
              <a:buNone/>
            </a:pPr>
            <a:r>
              <a:rPr lang="en-US" sz="1550" b="1" dirty="0">
                <a:solidFill>
                  <a:srgbClr val="23272E"/>
                </a:solidFill>
                <a:latin typeface="Arial" pitchFamily="34" charset="0"/>
                <a:ea typeface="Arial" pitchFamily="34" charset="-122"/>
                <a:cs typeface="Arial" pitchFamily="34" charset="-120"/>
              </a:rPr>
              <a:t>Where to grow</a:t>
            </a:r>
            <a:endParaRPr lang="en-US" sz="1550" dirty="0"/>
          </a:p>
        </p:txBody>
      </p:sp>
      <p:sp>
        <p:nvSpPr>
          <p:cNvPr id="17" name="Text 12"/>
          <p:cNvSpPr/>
          <p:nvPr/>
        </p:nvSpPr>
        <p:spPr>
          <a:xfrm>
            <a:off x="1389888" y="5358384"/>
            <a:ext cx="4846320" cy="457200"/>
          </a:xfrm>
          <a:prstGeom prst="rect">
            <a:avLst/>
          </a:prstGeom>
          <a:noFill/>
          <a:ln/>
        </p:spPr>
        <p:txBody>
          <a:bodyPr wrap="square" lIns="0" tIns="0" rIns="0" bIns="0" rtlCol="0" anchor="ctr"/>
          <a:lstStyle/>
          <a:p>
            <a:pPr indent="0" marL="0">
              <a:buNone/>
            </a:pPr>
            <a:r>
              <a:rPr lang="en-US" sz="1250" dirty="0">
                <a:solidFill>
                  <a:srgbClr val="596069"/>
                </a:solidFill>
                <a:latin typeface="Arial" pitchFamily="34" charset="0"/>
                <a:ea typeface="Arial" pitchFamily="34" charset="-122"/>
                <a:cs typeface="Arial" pitchFamily="34" charset="-120"/>
              </a:rPr>
              <a:t>Let real demand and outcomes guide diversification.</a:t>
            </a:r>
            <a:endParaRPr lang="en-US" sz="1250" dirty="0"/>
          </a:p>
        </p:txBody>
      </p:sp>
      <p:sp>
        <p:nvSpPr>
          <p:cNvPr id="18" name="Shape 13"/>
          <p:cNvSpPr/>
          <p:nvPr/>
        </p:nvSpPr>
        <p:spPr>
          <a:xfrm>
            <a:off x="7040880" y="1417320"/>
            <a:ext cx="4526280" cy="4480560"/>
          </a:xfrm>
          <a:prstGeom prst="roundRect">
            <a:avLst>
              <a:gd name="adj" fmla="val 2449"/>
            </a:avLst>
          </a:prstGeom>
          <a:solidFill>
            <a:srgbClr val="FFFFFF"/>
          </a:solidFill>
          <a:ln w="12700">
            <a:solidFill>
              <a:srgbClr val="E6E9ED"/>
            </a:solidFill>
            <a:prstDash val="solid"/>
          </a:ln>
          <a:effectLst>
            <a:outerShdw sx="100000" sy="100000" kx="0" ky="0" algn="bl" rotWithShape="0" blurRad="177800" dist="63500" dir="5400000">
              <a:srgbClr val="9AA0A8">
                <a:alpha val="22000"/>
              </a:srgbClr>
            </a:outerShdw>
          </a:effectLst>
        </p:spPr>
      </p:sp>
      <p:sp>
        <p:nvSpPr>
          <p:cNvPr id="19" name="Shape 14"/>
          <p:cNvSpPr/>
          <p:nvPr/>
        </p:nvSpPr>
        <p:spPr>
          <a:xfrm>
            <a:off x="7040880" y="1417320"/>
            <a:ext cx="4526280" cy="457200"/>
          </a:xfrm>
          <a:prstGeom prst="roundRect">
            <a:avLst>
              <a:gd name="adj" fmla="val 24000"/>
            </a:avLst>
          </a:prstGeom>
          <a:solidFill>
            <a:srgbClr val="F5F6F8"/>
          </a:solidFill>
          <a:ln/>
        </p:spPr>
      </p:sp>
      <p:sp>
        <p:nvSpPr>
          <p:cNvPr id="20" name="Shape 15"/>
          <p:cNvSpPr/>
          <p:nvPr/>
        </p:nvSpPr>
        <p:spPr>
          <a:xfrm>
            <a:off x="7040880" y="1737360"/>
            <a:ext cx="4526280" cy="146304"/>
          </a:xfrm>
          <a:prstGeom prst="rect">
            <a:avLst/>
          </a:prstGeom>
          <a:solidFill>
            <a:srgbClr val="F5F6F8"/>
          </a:solidFill>
          <a:ln/>
        </p:spPr>
      </p:sp>
      <p:sp>
        <p:nvSpPr>
          <p:cNvPr id="21" name="Shape 16"/>
          <p:cNvSpPr/>
          <p:nvPr/>
        </p:nvSpPr>
        <p:spPr>
          <a:xfrm>
            <a:off x="7242048" y="1581912"/>
            <a:ext cx="118872" cy="118872"/>
          </a:xfrm>
          <a:prstGeom prst="ellipse">
            <a:avLst/>
          </a:prstGeom>
          <a:solidFill>
            <a:srgbClr val="E06B5A"/>
          </a:solidFill>
          <a:ln/>
        </p:spPr>
      </p:sp>
      <p:sp>
        <p:nvSpPr>
          <p:cNvPr id="22" name="Shape 17"/>
          <p:cNvSpPr/>
          <p:nvPr/>
        </p:nvSpPr>
        <p:spPr>
          <a:xfrm>
            <a:off x="7443216" y="1581912"/>
            <a:ext cx="118872" cy="118872"/>
          </a:xfrm>
          <a:prstGeom prst="ellipse">
            <a:avLst/>
          </a:prstGeom>
          <a:solidFill>
            <a:srgbClr val="E7B54D"/>
          </a:solidFill>
          <a:ln/>
        </p:spPr>
      </p:sp>
      <p:sp>
        <p:nvSpPr>
          <p:cNvPr id="23" name="Shape 18"/>
          <p:cNvSpPr/>
          <p:nvPr/>
        </p:nvSpPr>
        <p:spPr>
          <a:xfrm>
            <a:off x="7644384" y="1581912"/>
            <a:ext cx="118872" cy="118872"/>
          </a:xfrm>
          <a:prstGeom prst="ellipse">
            <a:avLst/>
          </a:prstGeom>
          <a:solidFill>
            <a:srgbClr val="5FB97A"/>
          </a:solidFill>
          <a:ln/>
        </p:spPr>
      </p:sp>
      <p:sp>
        <p:nvSpPr>
          <p:cNvPr id="24" name="Text 19"/>
          <p:cNvSpPr/>
          <p:nvPr/>
        </p:nvSpPr>
        <p:spPr>
          <a:xfrm>
            <a:off x="8046720" y="1490472"/>
            <a:ext cx="3337560" cy="310896"/>
          </a:xfrm>
          <a:prstGeom prst="rect">
            <a:avLst/>
          </a:prstGeom>
          <a:noFill/>
          <a:ln/>
        </p:spPr>
        <p:txBody>
          <a:bodyPr wrap="square" lIns="0" tIns="0" rIns="0" bIns="0" rtlCol="0" anchor="ctr"/>
          <a:lstStyle/>
          <a:p>
            <a:pPr algn="r" indent="0" marL="0">
              <a:buNone/>
            </a:pPr>
            <a:r>
              <a:rPr lang="en-US" sz="1050" b="1" dirty="0">
                <a:solidFill>
                  <a:srgbClr val="596069"/>
                </a:solidFill>
                <a:latin typeface="Arial" pitchFamily="34" charset="0"/>
                <a:ea typeface="Arial" pitchFamily="34" charset="-122"/>
                <a:cs typeface="Arial" pitchFamily="34" charset="-120"/>
              </a:rPr>
              <a:t>Organisation intelligence</a:t>
            </a:r>
            <a:endParaRPr lang="en-US" sz="1050" dirty="0"/>
          </a:p>
        </p:txBody>
      </p:sp>
      <p:graphicFrame>
        <p:nvGraphicFramePr>
          <p:cNvPr id="25" name="Chart 0" descr=""/>
          <p:cNvGraphicFramePr/>
          <p:nvPr/>
        </p:nvGraphicFramePr>
        <p:xfrm>
          <a:off x="7360920" y="2103120"/>
          <a:ext cx="3886200" cy="1600200"/>
        </p:xfrm>
        <a:graphic xmlns:a="http://schemas.openxmlformats.org/drawingml/2006/main">
          <a:graphicData uri="http://schemas.openxmlformats.org/drawingml/2006/chart">
            <c:chart xmlns:c="http://schemas.openxmlformats.org/drawingml/2006/chart" r:id="rId4"/>
          </a:graphicData>
        </a:graphic>
      </p:graphicFrame>
      <p:sp>
        <p:nvSpPr>
          <p:cNvPr id="26" name="Shape 20"/>
          <p:cNvSpPr/>
          <p:nvPr/>
        </p:nvSpPr>
        <p:spPr>
          <a:xfrm>
            <a:off x="7360920" y="3931920"/>
            <a:ext cx="3886200" cy="1554480"/>
          </a:xfrm>
          <a:prstGeom prst="roundRect">
            <a:avLst>
              <a:gd name="adj" fmla="val 5882"/>
            </a:avLst>
          </a:prstGeom>
          <a:solidFill>
            <a:srgbClr val="F5F6F8"/>
          </a:solidFill>
          <a:ln/>
        </p:spPr>
      </p:sp>
      <p:pic>
        <p:nvPicPr>
          <p:cNvPr id="27" name="Image 3" descr="preencoded.png">    </p:cNvPr>
          <p:cNvPicPr>
            <a:picLocks noChangeAspect="1"/>
          </p:cNvPicPr>
          <p:nvPr/>
        </p:nvPicPr>
        <p:blipFill>
          <a:blip r:embed="rId5"/>
          <a:stretch>
            <a:fillRect/>
          </a:stretch>
        </p:blipFill>
        <p:spPr>
          <a:xfrm>
            <a:off x="7543800" y="4114800"/>
            <a:ext cx="274320" cy="274320"/>
          </a:xfrm>
          <a:prstGeom prst="rect">
            <a:avLst/>
          </a:prstGeom>
        </p:spPr>
      </p:pic>
      <p:sp>
        <p:nvSpPr>
          <p:cNvPr id="28" name="Text 21"/>
          <p:cNvSpPr/>
          <p:nvPr/>
        </p:nvSpPr>
        <p:spPr>
          <a:xfrm>
            <a:off x="7909560" y="4096512"/>
            <a:ext cx="2743200" cy="274320"/>
          </a:xfrm>
          <a:prstGeom prst="rect">
            <a:avLst/>
          </a:prstGeom>
          <a:noFill/>
          <a:ln/>
        </p:spPr>
        <p:txBody>
          <a:bodyPr wrap="square" lIns="0" tIns="0" rIns="0" bIns="0" rtlCol="0" anchor="ctr"/>
          <a:lstStyle/>
          <a:p>
            <a:pPr indent="0" marL="0">
              <a:buNone/>
            </a:pPr>
            <a:r>
              <a:rPr lang="en-US" sz="1100" b="1" dirty="0">
                <a:solidFill>
                  <a:srgbClr val="B14E14"/>
                </a:solidFill>
                <a:latin typeface="Arial" pitchFamily="34" charset="0"/>
                <a:ea typeface="Arial" pitchFamily="34" charset="-122"/>
                <a:cs typeface="Arial" pitchFamily="34" charset="-120"/>
              </a:rPr>
              <a:t>Insight</a:t>
            </a:r>
            <a:endParaRPr lang="en-US" sz="1100" dirty="0"/>
          </a:p>
        </p:txBody>
      </p:sp>
      <p:sp>
        <p:nvSpPr>
          <p:cNvPr id="29" name="Text 22"/>
          <p:cNvSpPr/>
          <p:nvPr/>
        </p:nvSpPr>
        <p:spPr>
          <a:xfrm>
            <a:off x="7543800" y="4434840"/>
            <a:ext cx="3520440" cy="914400"/>
          </a:xfrm>
          <a:prstGeom prst="rect">
            <a:avLst/>
          </a:prstGeom>
          <a:noFill/>
          <a:ln/>
        </p:spPr>
        <p:txBody>
          <a:bodyPr wrap="square" lIns="0" tIns="0" rIns="0" bIns="0" rtlCol="0" anchor="ctr"/>
          <a:lstStyle/>
          <a:p>
            <a:pPr indent="0" marL="0">
              <a:lnSpc>
                <a:spcPct val="118000"/>
              </a:lnSpc>
              <a:buNone/>
            </a:pPr>
            <a:r>
              <a:rPr lang="en-US" sz="1200" dirty="0">
                <a:solidFill>
                  <a:srgbClr val="23272E"/>
                </a:solidFill>
                <a:latin typeface="Arial" pitchFamily="34" charset="0"/>
                <a:ea typeface="Arial" pitchFamily="34" charset="-122"/>
                <a:cs typeface="Arial" pitchFamily="34" charset="-120"/>
              </a:rPr>
              <a:t>Participants with consistent worker matches progressed goals 22% faster this year. Continuity is worth protecting in the roster.</a:t>
            </a:r>
            <a:endParaRPr lang="en-US" sz="1200" dirty="0"/>
          </a:p>
        </p:txBody>
      </p:sp>
      <p:sp>
        <p:nvSpPr>
          <p:cNvPr id="30" name="Text 23"/>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31" name="Text 24"/>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19 /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20   </a:t>
            </a:r>
            <a:pPr algn="l" indent="0" marL="0">
              <a:buNone/>
            </a:pPr>
            <a:r>
              <a:rPr lang="en-US" sz="1150" b="1" spc="200" kern="0" dirty="0">
                <a:solidFill>
                  <a:srgbClr val="596069"/>
                </a:solidFill>
                <a:latin typeface="Arial" pitchFamily="34" charset="0"/>
                <a:ea typeface="Arial" pitchFamily="34" charset="-122"/>
                <a:cs typeface="Arial" pitchFamily="34" charset="-120"/>
              </a:rPr>
              <a:t>BUILT TO GROW</a:t>
            </a:r>
            <a:endParaRPr lang="en-US" sz="1150" dirty="0"/>
          </a:p>
        </p:txBody>
      </p:sp>
      <p:sp>
        <p:nvSpPr>
          <p:cNvPr id="4" name="Text 2"/>
          <p:cNvSpPr/>
          <p:nvPr/>
        </p:nvSpPr>
        <p:spPr>
          <a:xfrm>
            <a:off x="640080" y="932688"/>
            <a:ext cx="10972800" cy="91440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One platform, ready for the next thousand people.</a:t>
            </a:r>
            <a:endParaRPr lang="en-US" sz="3600" dirty="0"/>
          </a:p>
        </p:txBody>
      </p:sp>
      <p:sp>
        <p:nvSpPr>
          <p:cNvPr id="5" name="Text 3"/>
          <p:cNvSpPr/>
          <p:nvPr/>
        </p:nvSpPr>
        <p:spPr>
          <a:xfrm>
            <a:off x="640080" y="1810512"/>
            <a:ext cx="10424160" cy="502920"/>
          </a:xfrm>
          <a:prstGeom prst="rect">
            <a:avLst/>
          </a:prstGeom>
          <a:noFill/>
          <a:ln/>
        </p:spPr>
        <p:txBody>
          <a:bodyPr wrap="square" lIns="0" tIns="0" rIns="0" bIns="0" rtlCol="0" anchor="ctr"/>
          <a:lstStyle/>
          <a:p>
            <a:pPr algn="l" indent="0" marL="0">
              <a:lnSpc>
                <a:spcPct val="105000"/>
              </a:lnSpc>
              <a:buNone/>
            </a:pPr>
            <a:r>
              <a:rPr lang="en-US" sz="1550" dirty="0">
                <a:solidFill>
                  <a:srgbClr val="596069"/>
                </a:solidFill>
                <a:latin typeface="Arial" pitchFamily="34" charset="0"/>
                <a:ea typeface="Arial" pitchFamily="34" charset="-122"/>
                <a:cs typeface="Arial" pitchFamily="34" charset="-120"/>
              </a:rPr>
              <a:t>TLC already supports people through 1,100 staff across eight countries. CareOS is designed to carry that — and what comes next.</a:t>
            </a:r>
            <a:endParaRPr lang="en-US" sz="1550" dirty="0"/>
          </a:p>
        </p:txBody>
      </p:sp>
      <p:sp>
        <p:nvSpPr>
          <p:cNvPr id="6" name="Shape 4"/>
          <p:cNvSpPr/>
          <p:nvPr/>
        </p:nvSpPr>
        <p:spPr>
          <a:xfrm>
            <a:off x="640080" y="2743200"/>
            <a:ext cx="3383280" cy="1920240"/>
          </a:xfrm>
          <a:prstGeom prst="roundRect">
            <a:avLst>
              <a:gd name="adj" fmla="val 4762"/>
            </a:avLst>
          </a:prstGeom>
          <a:solidFill>
            <a:srgbClr val="F5F6F8"/>
          </a:solidFill>
          <a:ln/>
        </p:spPr>
      </p:sp>
      <p:sp>
        <p:nvSpPr>
          <p:cNvPr id="7" name="Shape 5"/>
          <p:cNvSpPr/>
          <p:nvPr/>
        </p:nvSpPr>
        <p:spPr>
          <a:xfrm>
            <a:off x="960120" y="3035808"/>
            <a:ext cx="512064" cy="51206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093257" y="3168945"/>
            <a:ext cx="245791" cy="245791"/>
          </a:xfrm>
          <a:prstGeom prst="rect">
            <a:avLst/>
          </a:prstGeom>
        </p:spPr>
      </p:pic>
      <p:sp>
        <p:nvSpPr>
          <p:cNvPr id="9" name="Text 6"/>
          <p:cNvSpPr/>
          <p:nvPr/>
        </p:nvSpPr>
        <p:spPr>
          <a:xfrm>
            <a:off x="960120" y="3611880"/>
            <a:ext cx="2743200" cy="640080"/>
          </a:xfrm>
          <a:prstGeom prst="rect">
            <a:avLst/>
          </a:prstGeom>
          <a:noFill/>
          <a:ln/>
        </p:spPr>
        <p:txBody>
          <a:bodyPr wrap="square" lIns="0" tIns="0" rIns="0" bIns="0" rtlCol="0" anchor="ctr"/>
          <a:lstStyle/>
          <a:p>
            <a:pPr indent="0" marL="0">
              <a:buNone/>
            </a:pPr>
            <a:r>
              <a:rPr lang="en-US" sz="4000" b="1" dirty="0">
                <a:solidFill>
                  <a:srgbClr val="DC661F"/>
                </a:solidFill>
                <a:latin typeface="Arial" pitchFamily="34" charset="0"/>
                <a:ea typeface="Arial" pitchFamily="34" charset="-122"/>
                <a:cs typeface="Arial" pitchFamily="34" charset="-120"/>
              </a:rPr>
              <a:t>1,100</a:t>
            </a:r>
            <a:endParaRPr lang="en-US" sz="4000" dirty="0"/>
          </a:p>
        </p:txBody>
      </p:sp>
      <p:sp>
        <p:nvSpPr>
          <p:cNvPr id="10" name="Text 7"/>
          <p:cNvSpPr/>
          <p:nvPr/>
        </p:nvSpPr>
        <p:spPr>
          <a:xfrm>
            <a:off x="978408" y="4224528"/>
            <a:ext cx="2743200" cy="320040"/>
          </a:xfrm>
          <a:prstGeom prst="rect">
            <a:avLst/>
          </a:prstGeom>
          <a:noFill/>
          <a:ln/>
        </p:spPr>
        <p:txBody>
          <a:bodyPr wrap="square" lIns="0" tIns="0" rIns="0" bIns="0" rtlCol="0" anchor="ctr"/>
          <a:lstStyle/>
          <a:p>
            <a:pPr indent="0" marL="0">
              <a:buNone/>
            </a:pPr>
            <a:r>
              <a:rPr lang="en-US" sz="1300" dirty="0">
                <a:solidFill>
                  <a:srgbClr val="596069"/>
                </a:solidFill>
                <a:latin typeface="Arial" pitchFamily="34" charset="0"/>
                <a:ea typeface="Arial" pitchFamily="34" charset="-122"/>
                <a:cs typeface="Arial" pitchFamily="34" charset="-120"/>
              </a:rPr>
              <a:t>staff supported today</a:t>
            </a:r>
            <a:endParaRPr lang="en-US" sz="1300" dirty="0"/>
          </a:p>
        </p:txBody>
      </p:sp>
      <p:sp>
        <p:nvSpPr>
          <p:cNvPr id="11" name="Shape 8"/>
          <p:cNvSpPr/>
          <p:nvPr/>
        </p:nvSpPr>
        <p:spPr>
          <a:xfrm>
            <a:off x="4343400" y="2743200"/>
            <a:ext cx="3383280" cy="1920240"/>
          </a:xfrm>
          <a:prstGeom prst="roundRect">
            <a:avLst>
              <a:gd name="adj" fmla="val 4762"/>
            </a:avLst>
          </a:prstGeom>
          <a:solidFill>
            <a:srgbClr val="F5F6F8"/>
          </a:solidFill>
          <a:ln/>
        </p:spPr>
      </p:sp>
      <p:sp>
        <p:nvSpPr>
          <p:cNvPr id="12" name="Shape 9"/>
          <p:cNvSpPr/>
          <p:nvPr/>
        </p:nvSpPr>
        <p:spPr>
          <a:xfrm>
            <a:off x="4663440" y="3035808"/>
            <a:ext cx="512064" cy="512064"/>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796577" y="3168945"/>
            <a:ext cx="245791" cy="245791"/>
          </a:xfrm>
          <a:prstGeom prst="rect">
            <a:avLst/>
          </a:prstGeom>
        </p:spPr>
      </p:pic>
      <p:sp>
        <p:nvSpPr>
          <p:cNvPr id="14" name="Text 10"/>
          <p:cNvSpPr/>
          <p:nvPr/>
        </p:nvSpPr>
        <p:spPr>
          <a:xfrm>
            <a:off x="4663440" y="3611880"/>
            <a:ext cx="2743200" cy="640080"/>
          </a:xfrm>
          <a:prstGeom prst="rect">
            <a:avLst/>
          </a:prstGeom>
          <a:noFill/>
          <a:ln/>
        </p:spPr>
        <p:txBody>
          <a:bodyPr wrap="square" lIns="0" tIns="0" rIns="0" bIns="0" rtlCol="0" anchor="ctr"/>
          <a:lstStyle/>
          <a:p>
            <a:pPr indent="0" marL="0">
              <a:buNone/>
            </a:pPr>
            <a:r>
              <a:rPr lang="en-US" sz="4000" b="1" dirty="0">
                <a:solidFill>
                  <a:srgbClr val="DC661F"/>
                </a:solidFill>
                <a:latin typeface="Arial" pitchFamily="34" charset="0"/>
                <a:ea typeface="Arial" pitchFamily="34" charset="-122"/>
                <a:cs typeface="Arial" pitchFamily="34" charset="-120"/>
              </a:rPr>
              <a:t>8</a:t>
            </a:r>
            <a:endParaRPr lang="en-US" sz="4000" dirty="0"/>
          </a:p>
        </p:txBody>
      </p:sp>
      <p:sp>
        <p:nvSpPr>
          <p:cNvPr id="15" name="Text 11"/>
          <p:cNvSpPr/>
          <p:nvPr/>
        </p:nvSpPr>
        <p:spPr>
          <a:xfrm>
            <a:off x="4681728" y="4224528"/>
            <a:ext cx="2743200" cy="320040"/>
          </a:xfrm>
          <a:prstGeom prst="rect">
            <a:avLst/>
          </a:prstGeom>
          <a:noFill/>
          <a:ln/>
        </p:spPr>
        <p:txBody>
          <a:bodyPr wrap="square" lIns="0" tIns="0" rIns="0" bIns="0" rtlCol="0" anchor="ctr"/>
          <a:lstStyle/>
          <a:p>
            <a:pPr indent="0" marL="0">
              <a:buNone/>
            </a:pPr>
            <a:r>
              <a:rPr lang="en-US" sz="1300" dirty="0">
                <a:solidFill>
                  <a:srgbClr val="596069"/>
                </a:solidFill>
                <a:latin typeface="Arial" pitchFamily="34" charset="0"/>
                <a:ea typeface="Arial" pitchFamily="34" charset="-122"/>
                <a:cs typeface="Arial" pitchFamily="34" charset="-120"/>
              </a:rPr>
              <a:t>countries of operation</a:t>
            </a:r>
            <a:endParaRPr lang="en-US" sz="1300" dirty="0"/>
          </a:p>
        </p:txBody>
      </p:sp>
      <p:sp>
        <p:nvSpPr>
          <p:cNvPr id="16" name="Shape 12"/>
          <p:cNvSpPr/>
          <p:nvPr/>
        </p:nvSpPr>
        <p:spPr>
          <a:xfrm>
            <a:off x="8046720" y="2743200"/>
            <a:ext cx="3383280" cy="1920240"/>
          </a:xfrm>
          <a:prstGeom prst="roundRect">
            <a:avLst>
              <a:gd name="adj" fmla="val 4762"/>
            </a:avLst>
          </a:prstGeom>
          <a:solidFill>
            <a:srgbClr val="F5F6F8"/>
          </a:solidFill>
          <a:ln/>
        </p:spPr>
      </p:sp>
      <p:sp>
        <p:nvSpPr>
          <p:cNvPr id="17" name="Shape 13"/>
          <p:cNvSpPr/>
          <p:nvPr/>
        </p:nvSpPr>
        <p:spPr>
          <a:xfrm>
            <a:off x="8366760" y="3035808"/>
            <a:ext cx="512064" cy="512064"/>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499897" y="3168945"/>
            <a:ext cx="245791" cy="245791"/>
          </a:xfrm>
          <a:prstGeom prst="rect">
            <a:avLst/>
          </a:prstGeom>
        </p:spPr>
      </p:pic>
      <p:sp>
        <p:nvSpPr>
          <p:cNvPr id="19" name="Text 14"/>
          <p:cNvSpPr/>
          <p:nvPr/>
        </p:nvSpPr>
        <p:spPr>
          <a:xfrm>
            <a:off x="8366760" y="3611880"/>
            <a:ext cx="2743200" cy="640080"/>
          </a:xfrm>
          <a:prstGeom prst="rect">
            <a:avLst/>
          </a:prstGeom>
          <a:noFill/>
          <a:ln/>
        </p:spPr>
        <p:txBody>
          <a:bodyPr wrap="square" lIns="0" tIns="0" rIns="0" bIns="0" rtlCol="0" anchor="ctr"/>
          <a:lstStyle/>
          <a:p>
            <a:pPr indent="0" marL="0">
              <a:buNone/>
            </a:pPr>
            <a:r>
              <a:rPr lang="en-US" sz="4000" b="1" dirty="0">
                <a:solidFill>
                  <a:srgbClr val="DC661F"/>
                </a:solidFill>
                <a:latin typeface="Arial" pitchFamily="34" charset="0"/>
                <a:ea typeface="Arial" pitchFamily="34" charset="-122"/>
                <a:cs typeface="Arial" pitchFamily="34" charset="-120"/>
              </a:rPr>
              <a:t>1</a:t>
            </a:r>
            <a:endParaRPr lang="en-US" sz="4000" dirty="0"/>
          </a:p>
        </p:txBody>
      </p:sp>
      <p:sp>
        <p:nvSpPr>
          <p:cNvPr id="20" name="Text 15"/>
          <p:cNvSpPr/>
          <p:nvPr/>
        </p:nvSpPr>
        <p:spPr>
          <a:xfrm>
            <a:off x="8385048" y="4224528"/>
            <a:ext cx="2743200" cy="320040"/>
          </a:xfrm>
          <a:prstGeom prst="rect">
            <a:avLst/>
          </a:prstGeom>
          <a:noFill/>
          <a:ln/>
        </p:spPr>
        <p:txBody>
          <a:bodyPr wrap="square" lIns="0" tIns="0" rIns="0" bIns="0" rtlCol="0" anchor="ctr"/>
          <a:lstStyle/>
          <a:p>
            <a:pPr indent="0" marL="0">
              <a:buNone/>
            </a:pPr>
            <a:r>
              <a:rPr lang="en-US" sz="1300" dirty="0">
                <a:solidFill>
                  <a:srgbClr val="596069"/>
                </a:solidFill>
                <a:latin typeface="Arial" pitchFamily="34" charset="0"/>
                <a:ea typeface="Arial" pitchFamily="34" charset="-122"/>
                <a:cs typeface="Arial" pitchFamily="34" charset="-120"/>
              </a:rPr>
              <a:t>connected platform</a:t>
            </a:r>
            <a:endParaRPr lang="en-US" sz="1300" dirty="0"/>
          </a:p>
        </p:txBody>
      </p:sp>
      <p:sp>
        <p:nvSpPr>
          <p:cNvPr id="21" name="Text 16"/>
          <p:cNvSpPr/>
          <p:nvPr/>
        </p:nvSpPr>
        <p:spPr>
          <a:xfrm>
            <a:off x="640080" y="5029200"/>
            <a:ext cx="10058400" cy="640080"/>
          </a:xfrm>
          <a:prstGeom prst="rect">
            <a:avLst/>
          </a:prstGeom>
          <a:noFill/>
          <a:ln/>
        </p:spPr>
        <p:txBody>
          <a:bodyPr wrap="square" lIns="0" tIns="0" rIns="0" bIns="0" rtlCol="0" anchor="ctr"/>
          <a:lstStyle/>
          <a:p>
            <a:pPr indent="0" marL="0">
              <a:lnSpc>
                <a:spcPct val="115000"/>
              </a:lnSpc>
              <a:buNone/>
            </a:pPr>
            <a:r>
              <a:rPr lang="en-US" sz="1450" dirty="0">
                <a:solidFill>
                  <a:srgbClr val="596069"/>
                </a:solidFill>
                <a:latin typeface="Arial" pitchFamily="34" charset="0"/>
                <a:ea typeface="Arial" pitchFamily="34" charset="-122"/>
                <a:cs typeface="Arial" pitchFamily="34" charset="-120"/>
              </a:rPr>
              <a:t>Multi-site, multi-region and multi-language by design — new services and new geographies join the same source of truth, without starting over.</a:t>
            </a:r>
            <a:endParaRPr lang="en-US" sz="1450" dirty="0"/>
          </a:p>
        </p:txBody>
      </p:sp>
      <p:sp>
        <p:nvSpPr>
          <p:cNvPr id="22" name="Text 17"/>
          <p:cNvSpPr/>
          <p:nvPr/>
        </p:nvSpPr>
        <p:spPr>
          <a:xfrm>
            <a:off x="640080" y="5806440"/>
            <a:ext cx="10058400" cy="256032"/>
          </a:xfrm>
          <a:prstGeom prst="rect">
            <a:avLst/>
          </a:prstGeom>
          <a:noFill/>
          <a:ln/>
        </p:spPr>
        <p:txBody>
          <a:bodyPr wrap="square" lIns="0" tIns="0" rIns="0" bIns="0" rtlCol="0" anchor="ctr"/>
          <a:lstStyle/>
          <a:p>
            <a:pPr indent="0" marL="0">
              <a:buNone/>
            </a:pPr>
            <a:r>
              <a:rPr lang="en-US" sz="950" dirty="0">
                <a:solidFill>
                  <a:srgbClr val="9AA1A9"/>
                </a:solidFill>
                <a:latin typeface="Arial" pitchFamily="34" charset="0"/>
                <a:ea typeface="Arial" pitchFamily="34" charset="-122"/>
                <a:cs typeface="Arial" pitchFamily="34" charset="-120"/>
              </a:rPr>
              <a:t>Source: The CEO Magazine (2024), staff and country figures.</a:t>
            </a:r>
            <a:endParaRPr lang="en-US" sz="950" dirty="0"/>
          </a:p>
        </p:txBody>
      </p:sp>
      <p:sp>
        <p:nvSpPr>
          <p:cNvPr id="23" name="Text 18"/>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24" name="Text 19"/>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20 / 25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21   </a:t>
            </a:r>
            <a:pPr algn="l" indent="0" marL="0">
              <a:buNone/>
            </a:pPr>
            <a:r>
              <a:rPr lang="en-US" sz="1150" b="1" spc="200" kern="0" dirty="0">
                <a:solidFill>
                  <a:srgbClr val="596069"/>
                </a:solidFill>
                <a:latin typeface="Arial" pitchFamily="34" charset="0"/>
                <a:ea typeface="Arial" pitchFamily="34" charset="-122"/>
                <a:cs typeface="Arial" pitchFamily="34" charset="-120"/>
              </a:rPr>
              <a:t>HOW IT’S BUILT</a:t>
            </a:r>
            <a:endParaRPr lang="en-US" sz="1150" dirty="0"/>
          </a:p>
        </p:txBody>
      </p:sp>
      <p:sp>
        <p:nvSpPr>
          <p:cNvPr id="4" name="Text 2"/>
          <p:cNvSpPr/>
          <p:nvPr/>
        </p:nvSpPr>
        <p:spPr>
          <a:xfrm>
            <a:off x="640080" y="932688"/>
            <a:ext cx="10972800" cy="91440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Sophisticated underneath. Simple on the surface.</a:t>
            </a:r>
            <a:endParaRPr lang="en-US" sz="3600" dirty="0"/>
          </a:p>
        </p:txBody>
      </p:sp>
      <p:sp>
        <p:nvSpPr>
          <p:cNvPr id="5" name="Text 3"/>
          <p:cNvSpPr/>
          <p:nvPr/>
        </p:nvSpPr>
        <p:spPr>
          <a:xfrm>
            <a:off x="640080" y="1810512"/>
            <a:ext cx="10424160" cy="502920"/>
          </a:xfrm>
          <a:prstGeom prst="rect">
            <a:avLst/>
          </a:prstGeom>
          <a:noFill/>
          <a:ln/>
        </p:spPr>
        <p:txBody>
          <a:bodyPr wrap="square" lIns="0" tIns="0" rIns="0" bIns="0" rtlCol="0" anchor="ctr"/>
          <a:lstStyle/>
          <a:p>
            <a:pPr algn="l" indent="0" marL="0">
              <a:lnSpc>
                <a:spcPct val="105000"/>
              </a:lnSpc>
              <a:buNone/>
            </a:pPr>
            <a:r>
              <a:rPr lang="en-US" sz="1550" dirty="0">
                <a:solidFill>
                  <a:srgbClr val="596069"/>
                </a:solidFill>
                <a:latin typeface="Arial" pitchFamily="34" charset="0"/>
                <a:ea typeface="Arial" pitchFamily="34" charset="-122"/>
                <a:cs typeface="Arial" pitchFamily="34" charset="-120"/>
              </a:rPr>
              <a:t>Three layers, one principle: the person using it should never have to think about the technology.</a:t>
            </a:r>
            <a:endParaRPr lang="en-US" sz="1550" dirty="0"/>
          </a:p>
        </p:txBody>
      </p:sp>
      <p:sp>
        <p:nvSpPr>
          <p:cNvPr id="6" name="Shape 4"/>
          <p:cNvSpPr/>
          <p:nvPr/>
        </p:nvSpPr>
        <p:spPr>
          <a:xfrm>
            <a:off x="640080" y="2788920"/>
            <a:ext cx="10881360" cy="960120"/>
          </a:xfrm>
          <a:prstGeom prst="roundRect">
            <a:avLst>
              <a:gd name="adj" fmla="val 9524"/>
            </a:avLst>
          </a:prstGeom>
          <a:solidFill>
            <a:srgbClr val="F5F6F8"/>
          </a:solidFill>
          <a:ln/>
        </p:spPr>
      </p:sp>
      <p:sp>
        <p:nvSpPr>
          <p:cNvPr id="7" name="Shape 5"/>
          <p:cNvSpPr/>
          <p:nvPr/>
        </p:nvSpPr>
        <p:spPr>
          <a:xfrm>
            <a:off x="960120" y="3008376"/>
            <a:ext cx="530352" cy="530352"/>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098012" y="3146268"/>
            <a:ext cx="254569" cy="254569"/>
          </a:xfrm>
          <a:prstGeom prst="rect">
            <a:avLst/>
          </a:prstGeom>
        </p:spPr>
      </p:pic>
      <p:sp>
        <p:nvSpPr>
          <p:cNvPr id="9" name="Text 6"/>
          <p:cNvSpPr/>
          <p:nvPr/>
        </p:nvSpPr>
        <p:spPr>
          <a:xfrm>
            <a:off x="1737360" y="2935224"/>
            <a:ext cx="3108960" cy="658368"/>
          </a:xfrm>
          <a:prstGeom prst="rect">
            <a:avLst/>
          </a:prstGeom>
          <a:noFill/>
          <a:ln/>
        </p:spPr>
        <p:txBody>
          <a:bodyPr wrap="square" lIns="0" tIns="0" rIns="0" bIns="0" rtlCol="0" anchor="ctr"/>
          <a:lstStyle/>
          <a:p>
            <a:pPr indent="0" marL="0">
              <a:buNone/>
            </a:pPr>
            <a:r>
              <a:rPr lang="en-US" sz="1700" b="1" dirty="0">
                <a:solidFill>
                  <a:srgbClr val="23272E"/>
                </a:solidFill>
                <a:latin typeface="Arial" pitchFamily="34" charset="0"/>
                <a:ea typeface="Arial" pitchFamily="34" charset="-122"/>
                <a:cs typeface="Arial" pitchFamily="34" charset="-120"/>
              </a:rPr>
              <a:t>Experience layer</a:t>
            </a:r>
            <a:endParaRPr lang="en-US" sz="1700" dirty="0"/>
          </a:p>
        </p:txBody>
      </p:sp>
      <p:sp>
        <p:nvSpPr>
          <p:cNvPr id="10" name="Text 7"/>
          <p:cNvSpPr/>
          <p:nvPr/>
        </p:nvSpPr>
        <p:spPr>
          <a:xfrm>
            <a:off x="4937760" y="2935224"/>
            <a:ext cx="6309360" cy="658368"/>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Calm, fast interfaces for every role — mobile, offline-capable, and effortless to use.</a:t>
            </a:r>
            <a:endParaRPr lang="en-US" sz="1250" dirty="0"/>
          </a:p>
        </p:txBody>
      </p:sp>
      <p:sp>
        <p:nvSpPr>
          <p:cNvPr id="11" name="Shape 8"/>
          <p:cNvSpPr/>
          <p:nvPr/>
        </p:nvSpPr>
        <p:spPr>
          <a:xfrm>
            <a:off x="640080" y="3913632"/>
            <a:ext cx="10881360" cy="960120"/>
          </a:xfrm>
          <a:prstGeom prst="roundRect">
            <a:avLst>
              <a:gd name="adj" fmla="val 9524"/>
            </a:avLst>
          </a:prstGeom>
          <a:solidFill>
            <a:srgbClr val="FBEDE1"/>
          </a:solidFill>
          <a:ln/>
        </p:spPr>
      </p:sp>
      <p:sp>
        <p:nvSpPr>
          <p:cNvPr id="12" name="Shape 9"/>
          <p:cNvSpPr/>
          <p:nvPr/>
        </p:nvSpPr>
        <p:spPr>
          <a:xfrm>
            <a:off x="960120" y="4133088"/>
            <a:ext cx="530352" cy="530352"/>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1098012" y="4270980"/>
            <a:ext cx="254569" cy="254569"/>
          </a:xfrm>
          <a:prstGeom prst="rect">
            <a:avLst/>
          </a:prstGeom>
        </p:spPr>
      </p:pic>
      <p:sp>
        <p:nvSpPr>
          <p:cNvPr id="14" name="Text 10"/>
          <p:cNvSpPr/>
          <p:nvPr/>
        </p:nvSpPr>
        <p:spPr>
          <a:xfrm>
            <a:off x="1737360" y="4059936"/>
            <a:ext cx="3108960" cy="658368"/>
          </a:xfrm>
          <a:prstGeom prst="rect">
            <a:avLst/>
          </a:prstGeom>
          <a:noFill/>
          <a:ln/>
        </p:spPr>
        <p:txBody>
          <a:bodyPr wrap="square" lIns="0" tIns="0" rIns="0" bIns="0" rtlCol="0" anchor="ctr"/>
          <a:lstStyle/>
          <a:p>
            <a:pPr indent="0" marL="0">
              <a:buNone/>
            </a:pPr>
            <a:r>
              <a:rPr lang="en-US" sz="1700" b="1" dirty="0">
                <a:solidFill>
                  <a:srgbClr val="23272E"/>
                </a:solidFill>
                <a:latin typeface="Arial" pitchFamily="34" charset="0"/>
                <a:ea typeface="Arial" pitchFamily="34" charset="-122"/>
                <a:cs typeface="Arial" pitchFamily="34" charset="-120"/>
              </a:rPr>
              <a:t>Intelligence layer</a:t>
            </a:r>
            <a:endParaRPr lang="en-US" sz="1700" dirty="0"/>
          </a:p>
        </p:txBody>
      </p:sp>
      <p:sp>
        <p:nvSpPr>
          <p:cNvPr id="15" name="Text 11"/>
          <p:cNvSpPr/>
          <p:nvPr/>
        </p:nvSpPr>
        <p:spPr>
          <a:xfrm>
            <a:off x="4937760" y="4059936"/>
            <a:ext cx="6309360" cy="658368"/>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Voice-to-notes, drafting and reminders that assist people — always with a human in control.</a:t>
            </a:r>
            <a:endParaRPr lang="en-US" sz="1250" dirty="0"/>
          </a:p>
        </p:txBody>
      </p:sp>
      <p:sp>
        <p:nvSpPr>
          <p:cNvPr id="16" name="Shape 12"/>
          <p:cNvSpPr/>
          <p:nvPr/>
        </p:nvSpPr>
        <p:spPr>
          <a:xfrm>
            <a:off x="640080" y="5038344"/>
            <a:ext cx="10881360" cy="960120"/>
          </a:xfrm>
          <a:prstGeom prst="roundRect">
            <a:avLst>
              <a:gd name="adj" fmla="val 9524"/>
            </a:avLst>
          </a:prstGeom>
          <a:solidFill>
            <a:srgbClr val="F5F6F8"/>
          </a:solidFill>
          <a:ln/>
        </p:spPr>
      </p:sp>
      <p:sp>
        <p:nvSpPr>
          <p:cNvPr id="17" name="Shape 13"/>
          <p:cNvSpPr/>
          <p:nvPr/>
        </p:nvSpPr>
        <p:spPr>
          <a:xfrm>
            <a:off x="960120" y="5257800"/>
            <a:ext cx="530352" cy="530352"/>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1098012" y="5395692"/>
            <a:ext cx="254569" cy="254569"/>
          </a:xfrm>
          <a:prstGeom prst="rect">
            <a:avLst/>
          </a:prstGeom>
        </p:spPr>
      </p:pic>
      <p:sp>
        <p:nvSpPr>
          <p:cNvPr id="19" name="Text 14"/>
          <p:cNvSpPr/>
          <p:nvPr/>
        </p:nvSpPr>
        <p:spPr>
          <a:xfrm>
            <a:off x="1737360" y="5184648"/>
            <a:ext cx="3108960" cy="658368"/>
          </a:xfrm>
          <a:prstGeom prst="rect">
            <a:avLst/>
          </a:prstGeom>
          <a:noFill/>
          <a:ln/>
        </p:spPr>
        <p:txBody>
          <a:bodyPr wrap="square" lIns="0" tIns="0" rIns="0" bIns="0" rtlCol="0" anchor="ctr"/>
          <a:lstStyle/>
          <a:p>
            <a:pPr indent="0" marL="0">
              <a:buNone/>
            </a:pPr>
            <a:r>
              <a:rPr lang="en-US" sz="1700" b="1" dirty="0">
                <a:solidFill>
                  <a:srgbClr val="23272E"/>
                </a:solidFill>
                <a:latin typeface="Arial" pitchFamily="34" charset="0"/>
                <a:ea typeface="Arial" pitchFamily="34" charset="-122"/>
                <a:cs typeface="Arial" pitchFamily="34" charset="-120"/>
              </a:rPr>
              <a:t>Data &amp; security layer</a:t>
            </a:r>
            <a:endParaRPr lang="en-US" sz="1700" dirty="0"/>
          </a:p>
        </p:txBody>
      </p:sp>
      <p:sp>
        <p:nvSpPr>
          <p:cNvPr id="20" name="Text 15"/>
          <p:cNvSpPr/>
          <p:nvPr/>
        </p:nvSpPr>
        <p:spPr>
          <a:xfrm>
            <a:off x="4937760" y="5184648"/>
            <a:ext cx="6309360" cy="658368"/>
          </a:xfrm>
          <a:prstGeom prst="rect">
            <a:avLst/>
          </a:prstGeom>
          <a:noFill/>
          <a:ln/>
        </p:spPr>
        <p:txBody>
          <a:bodyPr wrap="square" lIns="0" tIns="0" rIns="0" bIns="0" rtlCol="0" anchor="ctr"/>
          <a:lstStyle/>
          <a:p>
            <a:pPr indent="0" marL="0">
              <a:lnSpc>
                <a:spcPct val="110000"/>
              </a:lnSpc>
              <a:buNone/>
            </a:pPr>
            <a:r>
              <a:rPr lang="en-US" sz="1250" dirty="0">
                <a:solidFill>
                  <a:srgbClr val="596069"/>
                </a:solidFill>
                <a:latin typeface="Arial" pitchFamily="34" charset="0"/>
                <a:ea typeface="Arial" pitchFamily="34" charset="-122"/>
                <a:cs typeface="Arial" pitchFamily="34" charset="-120"/>
              </a:rPr>
              <a:t>One source of truth. Role-based access, encryption, audit logs and cloud sync by default.</a:t>
            </a:r>
            <a:endParaRPr lang="en-US" sz="1250" dirty="0"/>
          </a:p>
        </p:txBody>
      </p:sp>
      <p:sp>
        <p:nvSpPr>
          <p:cNvPr id="21" name="Text 16"/>
          <p:cNvSpPr/>
          <p:nvPr/>
        </p:nvSpPr>
        <p:spPr>
          <a:xfrm>
            <a:off x="640080" y="5943600"/>
            <a:ext cx="10881360" cy="274320"/>
          </a:xfrm>
          <a:prstGeom prst="rect">
            <a:avLst/>
          </a:prstGeom>
          <a:noFill/>
          <a:ln/>
        </p:spPr>
        <p:txBody>
          <a:bodyPr wrap="square" lIns="0" tIns="0" rIns="0" bIns="0" rtlCol="0" anchor="ctr"/>
          <a:lstStyle/>
          <a:p>
            <a:pPr indent="0" marL="0">
              <a:buNone/>
            </a:pPr>
            <a:r>
              <a:rPr lang="en-US" sz="1200" i="1" dirty="0">
                <a:solidFill>
                  <a:srgbClr val="596069"/>
                </a:solidFill>
                <a:latin typeface="Arial" pitchFamily="34" charset="0"/>
                <a:ea typeface="Arial" pitchFamily="34" charset="-122"/>
                <a:cs typeface="Arial" pitchFamily="34" charset="-120"/>
              </a:rPr>
              <a:t>Australian-hosted, NDIS-aligned, and built to the security expectations of a registered provider.</a:t>
            </a:r>
            <a:endParaRPr lang="en-US" sz="1200" dirty="0"/>
          </a:p>
        </p:txBody>
      </p:sp>
      <p:sp>
        <p:nvSpPr>
          <p:cNvPr id="22" name="Text 17"/>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23" name="Text 18"/>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22   </a:t>
            </a:r>
            <a:pPr algn="l" indent="0" marL="0">
              <a:buNone/>
            </a:pPr>
            <a:r>
              <a:rPr lang="en-US" sz="1150" b="1" spc="200" kern="0" dirty="0">
                <a:solidFill>
                  <a:srgbClr val="596069"/>
                </a:solidFill>
                <a:latin typeface="Arial" pitchFamily="34" charset="0"/>
                <a:ea typeface="Arial" pitchFamily="34" charset="-122"/>
                <a:cs typeface="Arial" pitchFamily="34" charset="-120"/>
              </a:rPr>
              <a:t>HOW WE’D BEGIN</a:t>
            </a:r>
            <a:endParaRPr lang="en-US" sz="1150" dirty="0"/>
          </a:p>
        </p:txBody>
      </p:sp>
      <p:sp>
        <p:nvSpPr>
          <p:cNvPr id="4" name="Text 2"/>
          <p:cNvSpPr/>
          <p:nvPr/>
        </p:nvSpPr>
        <p:spPr>
          <a:xfrm>
            <a:off x="640080" y="932688"/>
            <a:ext cx="10972800" cy="91440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A measured rollout — proven before it’s scaled.</a:t>
            </a:r>
            <a:endParaRPr lang="en-US" sz="3600" dirty="0"/>
          </a:p>
        </p:txBody>
      </p:sp>
      <p:sp>
        <p:nvSpPr>
          <p:cNvPr id="5" name="Text 3"/>
          <p:cNvSpPr/>
          <p:nvPr/>
        </p:nvSpPr>
        <p:spPr>
          <a:xfrm>
            <a:off x="640080" y="1810512"/>
            <a:ext cx="10424160" cy="502920"/>
          </a:xfrm>
          <a:prstGeom prst="rect">
            <a:avLst/>
          </a:prstGeom>
          <a:noFill/>
          <a:ln/>
        </p:spPr>
        <p:txBody>
          <a:bodyPr wrap="square" lIns="0" tIns="0" rIns="0" bIns="0" rtlCol="0" anchor="ctr"/>
          <a:lstStyle/>
          <a:p>
            <a:pPr algn="l" indent="0" marL="0">
              <a:lnSpc>
                <a:spcPct val="105000"/>
              </a:lnSpc>
              <a:buNone/>
            </a:pPr>
            <a:r>
              <a:rPr lang="en-US" sz="1550" dirty="0">
                <a:solidFill>
                  <a:srgbClr val="596069"/>
                </a:solidFill>
                <a:latin typeface="Arial" pitchFamily="34" charset="0"/>
                <a:ea typeface="Arial" pitchFamily="34" charset="-122"/>
                <a:cs typeface="Arial" pitchFamily="34" charset="-120"/>
              </a:rPr>
              <a:t>No big-bang switch. We start small, prove the value with real teams, then expand with confidence.</a:t>
            </a:r>
            <a:endParaRPr lang="en-US" sz="1550" dirty="0"/>
          </a:p>
        </p:txBody>
      </p:sp>
      <p:sp>
        <p:nvSpPr>
          <p:cNvPr id="6" name="Shape 4"/>
          <p:cNvSpPr/>
          <p:nvPr/>
        </p:nvSpPr>
        <p:spPr>
          <a:xfrm>
            <a:off x="960120" y="2807208"/>
            <a:ext cx="8119872" cy="0"/>
          </a:xfrm>
          <a:prstGeom prst="line">
            <a:avLst/>
          </a:prstGeom>
          <a:noFill/>
          <a:ln w="19050">
            <a:solidFill>
              <a:srgbClr val="E6E9ED"/>
            </a:solidFill>
            <a:prstDash val="solid"/>
          </a:ln>
        </p:spPr>
      </p:sp>
      <p:sp>
        <p:nvSpPr>
          <p:cNvPr id="7" name="Shape 5"/>
          <p:cNvSpPr/>
          <p:nvPr/>
        </p:nvSpPr>
        <p:spPr>
          <a:xfrm>
            <a:off x="731520" y="2587752"/>
            <a:ext cx="438912" cy="438912"/>
          </a:xfrm>
          <a:prstGeom prst="ellipse">
            <a:avLst/>
          </a:prstGeom>
          <a:solidFill>
            <a:srgbClr val="DC661F"/>
          </a:solidFill>
          <a:ln/>
        </p:spPr>
      </p:sp>
      <p:sp>
        <p:nvSpPr>
          <p:cNvPr id="8" name="Text 6"/>
          <p:cNvSpPr/>
          <p:nvPr/>
        </p:nvSpPr>
        <p:spPr>
          <a:xfrm>
            <a:off x="731520" y="25877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9" name="Shape 7"/>
          <p:cNvSpPr/>
          <p:nvPr/>
        </p:nvSpPr>
        <p:spPr>
          <a:xfrm>
            <a:off x="640080" y="3063240"/>
            <a:ext cx="2487168" cy="2286000"/>
          </a:xfrm>
          <a:prstGeom prst="roundRect">
            <a:avLst>
              <a:gd name="adj" fmla="val 3600"/>
            </a:avLst>
          </a:prstGeom>
          <a:solidFill>
            <a:srgbClr val="FFFFFF"/>
          </a:solidFill>
          <a:ln w="12700">
            <a:solidFill>
              <a:srgbClr val="E6E9ED"/>
            </a:solidFill>
            <a:prstDash val="solid"/>
          </a:ln>
        </p:spPr>
      </p:sp>
      <p:sp>
        <p:nvSpPr>
          <p:cNvPr id="10" name="Text 8"/>
          <p:cNvSpPr/>
          <p:nvPr/>
        </p:nvSpPr>
        <p:spPr>
          <a:xfrm>
            <a:off x="914400" y="3291840"/>
            <a:ext cx="1938528" cy="274320"/>
          </a:xfrm>
          <a:prstGeom prst="rect">
            <a:avLst/>
          </a:prstGeom>
          <a:noFill/>
          <a:ln/>
        </p:spPr>
        <p:txBody>
          <a:bodyPr wrap="square" lIns="0" tIns="0" rIns="0" bIns="0" rtlCol="0" anchor="ctr"/>
          <a:lstStyle/>
          <a:p>
            <a:pPr indent="0" marL="0">
              <a:buNone/>
            </a:pPr>
            <a:r>
              <a:rPr lang="en-US" sz="1000" b="1" spc="100" kern="0" dirty="0">
                <a:solidFill>
                  <a:srgbClr val="DC661F"/>
                </a:solidFill>
                <a:latin typeface="Arial" pitchFamily="34" charset="0"/>
                <a:ea typeface="Arial" pitchFamily="34" charset="-122"/>
                <a:cs typeface="Arial" pitchFamily="34" charset="-120"/>
              </a:rPr>
              <a:t>WEEKS 1–4</a:t>
            </a:r>
            <a:endParaRPr lang="en-US" sz="1000" dirty="0"/>
          </a:p>
        </p:txBody>
      </p:sp>
      <p:sp>
        <p:nvSpPr>
          <p:cNvPr id="11" name="Text 9"/>
          <p:cNvSpPr/>
          <p:nvPr/>
        </p:nvSpPr>
        <p:spPr>
          <a:xfrm>
            <a:off x="914400" y="3566160"/>
            <a:ext cx="1938528" cy="457200"/>
          </a:xfrm>
          <a:prstGeom prst="rect">
            <a:avLst/>
          </a:prstGeom>
          <a:noFill/>
          <a:ln/>
        </p:spPr>
        <p:txBody>
          <a:bodyPr wrap="square" lIns="0" tIns="0" rIns="0" bIns="0" rtlCol="0" anchor="ctr"/>
          <a:lstStyle/>
          <a:p>
            <a:pPr indent="0" marL="0">
              <a:buNone/>
            </a:pPr>
            <a:r>
              <a:rPr lang="en-US" sz="1800" b="1" dirty="0">
                <a:solidFill>
                  <a:srgbClr val="23272E"/>
                </a:solidFill>
                <a:latin typeface="Arial" pitchFamily="34" charset="0"/>
                <a:ea typeface="Arial" pitchFamily="34" charset="-122"/>
                <a:cs typeface="Arial" pitchFamily="34" charset="-120"/>
              </a:rPr>
              <a:t>Foundations</a:t>
            </a:r>
            <a:endParaRPr lang="en-US" sz="1800" dirty="0"/>
          </a:p>
        </p:txBody>
      </p:sp>
      <p:sp>
        <p:nvSpPr>
          <p:cNvPr id="12" name="Text 10"/>
          <p:cNvSpPr/>
          <p:nvPr/>
        </p:nvSpPr>
        <p:spPr>
          <a:xfrm>
            <a:off x="914400" y="4087368"/>
            <a:ext cx="1938528" cy="1143000"/>
          </a:xfrm>
          <a:prstGeom prst="rect">
            <a:avLst/>
          </a:prstGeom>
          <a:noFill/>
          <a:ln/>
        </p:spPr>
        <p:txBody>
          <a:bodyPr wrap="square" lIns="0" tIns="0" rIns="0" bIns="0" rtlCol="0" anchor="ctr"/>
          <a:lstStyle/>
          <a:p>
            <a:pPr indent="0" marL="0">
              <a:lnSpc>
                <a:spcPct val="115000"/>
              </a:lnSpc>
              <a:buNone/>
            </a:pPr>
            <a:r>
              <a:rPr lang="en-US" sz="1200" dirty="0">
                <a:solidFill>
                  <a:srgbClr val="596069"/>
                </a:solidFill>
                <a:latin typeface="Arial" pitchFamily="34" charset="0"/>
                <a:ea typeface="Arial" pitchFamily="34" charset="-122"/>
                <a:cs typeface="Arial" pitchFamily="34" charset="-120"/>
              </a:rPr>
              <a:t>Configure to TLC’s workflows. Import participants and plans. Train a pilot team.</a:t>
            </a:r>
            <a:endParaRPr lang="en-US" sz="1200" dirty="0"/>
          </a:p>
        </p:txBody>
      </p:sp>
      <p:sp>
        <p:nvSpPr>
          <p:cNvPr id="13" name="Shape 11"/>
          <p:cNvSpPr/>
          <p:nvPr/>
        </p:nvSpPr>
        <p:spPr>
          <a:xfrm>
            <a:off x="3438144" y="2587752"/>
            <a:ext cx="438912" cy="438912"/>
          </a:xfrm>
          <a:prstGeom prst="ellipse">
            <a:avLst/>
          </a:prstGeom>
          <a:solidFill>
            <a:srgbClr val="DC661F"/>
          </a:solidFill>
          <a:ln/>
        </p:spPr>
      </p:sp>
      <p:sp>
        <p:nvSpPr>
          <p:cNvPr id="14" name="Text 12"/>
          <p:cNvSpPr/>
          <p:nvPr/>
        </p:nvSpPr>
        <p:spPr>
          <a:xfrm>
            <a:off x="3438144" y="25877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15" name="Shape 13"/>
          <p:cNvSpPr/>
          <p:nvPr/>
        </p:nvSpPr>
        <p:spPr>
          <a:xfrm>
            <a:off x="3346704" y="3063240"/>
            <a:ext cx="2487168" cy="2286000"/>
          </a:xfrm>
          <a:prstGeom prst="roundRect">
            <a:avLst>
              <a:gd name="adj" fmla="val 3600"/>
            </a:avLst>
          </a:prstGeom>
          <a:solidFill>
            <a:srgbClr val="FFFFFF"/>
          </a:solidFill>
          <a:ln w="12700">
            <a:solidFill>
              <a:srgbClr val="E6E9ED"/>
            </a:solidFill>
            <a:prstDash val="solid"/>
          </a:ln>
        </p:spPr>
      </p:sp>
      <p:sp>
        <p:nvSpPr>
          <p:cNvPr id="16" name="Text 14"/>
          <p:cNvSpPr/>
          <p:nvPr/>
        </p:nvSpPr>
        <p:spPr>
          <a:xfrm>
            <a:off x="3621024" y="3291840"/>
            <a:ext cx="1938528" cy="274320"/>
          </a:xfrm>
          <a:prstGeom prst="rect">
            <a:avLst/>
          </a:prstGeom>
          <a:noFill/>
          <a:ln/>
        </p:spPr>
        <p:txBody>
          <a:bodyPr wrap="square" lIns="0" tIns="0" rIns="0" bIns="0" rtlCol="0" anchor="ctr"/>
          <a:lstStyle/>
          <a:p>
            <a:pPr indent="0" marL="0">
              <a:buNone/>
            </a:pPr>
            <a:r>
              <a:rPr lang="en-US" sz="1000" b="1" spc="100" kern="0" dirty="0">
                <a:solidFill>
                  <a:srgbClr val="DC661F"/>
                </a:solidFill>
                <a:latin typeface="Arial" pitchFamily="34" charset="0"/>
                <a:ea typeface="Arial" pitchFamily="34" charset="-122"/>
                <a:cs typeface="Arial" pitchFamily="34" charset="-120"/>
              </a:rPr>
              <a:t>WEEKS 5–12</a:t>
            </a:r>
            <a:endParaRPr lang="en-US" sz="1000" dirty="0"/>
          </a:p>
        </p:txBody>
      </p:sp>
      <p:sp>
        <p:nvSpPr>
          <p:cNvPr id="17" name="Text 15"/>
          <p:cNvSpPr/>
          <p:nvPr/>
        </p:nvSpPr>
        <p:spPr>
          <a:xfrm>
            <a:off x="3621024" y="3566160"/>
            <a:ext cx="1938528" cy="457200"/>
          </a:xfrm>
          <a:prstGeom prst="rect">
            <a:avLst/>
          </a:prstGeom>
          <a:noFill/>
          <a:ln/>
        </p:spPr>
        <p:txBody>
          <a:bodyPr wrap="square" lIns="0" tIns="0" rIns="0" bIns="0" rtlCol="0" anchor="ctr"/>
          <a:lstStyle/>
          <a:p>
            <a:pPr indent="0" marL="0">
              <a:buNone/>
            </a:pPr>
            <a:r>
              <a:rPr lang="en-US" sz="1800" b="1" dirty="0">
                <a:solidFill>
                  <a:srgbClr val="23272E"/>
                </a:solidFill>
                <a:latin typeface="Arial" pitchFamily="34" charset="0"/>
                <a:ea typeface="Arial" pitchFamily="34" charset="-122"/>
                <a:cs typeface="Arial" pitchFamily="34" charset="-120"/>
              </a:rPr>
              <a:t>Pilot</a:t>
            </a:r>
            <a:endParaRPr lang="en-US" sz="1800" dirty="0"/>
          </a:p>
        </p:txBody>
      </p:sp>
      <p:sp>
        <p:nvSpPr>
          <p:cNvPr id="18" name="Text 16"/>
          <p:cNvSpPr/>
          <p:nvPr/>
        </p:nvSpPr>
        <p:spPr>
          <a:xfrm>
            <a:off x="3621024" y="4087368"/>
            <a:ext cx="1938528" cy="1143000"/>
          </a:xfrm>
          <a:prstGeom prst="rect">
            <a:avLst/>
          </a:prstGeom>
          <a:noFill/>
          <a:ln/>
        </p:spPr>
        <p:txBody>
          <a:bodyPr wrap="square" lIns="0" tIns="0" rIns="0" bIns="0" rtlCol="0" anchor="ctr"/>
          <a:lstStyle/>
          <a:p>
            <a:pPr indent="0" marL="0">
              <a:lnSpc>
                <a:spcPct val="115000"/>
              </a:lnSpc>
              <a:buNone/>
            </a:pPr>
            <a:r>
              <a:rPr lang="en-US" sz="1200" dirty="0">
                <a:solidFill>
                  <a:srgbClr val="596069"/>
                </a:solidFill>
                <a:latin typeface="Arial" pitchFamily="34" charset="0"/>
                <a:ea typeface="Arial" pitchFamily="34" charset="-122"/>
                <a:cs typeface="Arial" pitchFamily="34" charset="-120"/>
              </a:rPr>
              <a:t>Run one site end-to-end. Measure time saved and worker experience honestly.</a:t>
            </a:r>
            <a:endParaRPr lang="en-US" sz="1200" dirty="0"/>
          </a:p>
        </p:txBody>
      </p:sp>
      <p:sp>
        <p:nvSpPr>
          <p:cNvPr id="19" name="Shape 17"/>
          <p:cNvSpPr/>
          <p:nvPr/>
        </p:nvSpPr>
        <p:spPr>
          <a:xfrm>
            <a:off x="6144768" y="2587752"/>
            <a:ext cx="438912" cy="438912"/>
          </a:xfrm>
          <a:prstGeom prst="ellipse">
            <a:avLst/>
          </a:prstGeom>
          <a:solidFill>
            <a:srgbClr val="DC661F"/>
          </a:solidFill>
          <a:ln/>
        </p:spPr>
      </p:sp>
      <p:sp>
        <p:nvSpPr>
          <p:cNvPr id="20" name="Text 18"/>
          <p:cNvSpPr/>
          <p:nvPr/>
        </p:nvSpPr>
        <p:spPr>
          <a:xfrm>
            <a:off x="6144768" y="25877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21" name="Shape 19"/>
          <p:cNvSpPr/>
          <p:nvPr/>
        </p:nvSpPr>
        <p:spPr>
          <a:xfrm>
            <a:off x="6053328" y="3063240"/>
            <a:ext cx="2487168" cy="2286000"/>
          </a:xfrm>
          <a:prstGeom prst="roundRect">
            <a:avLst>
              <a:gd name="adj" fmla="val 3600"/>
            </a:avLst>
          </a:prstGeom>
          <a:solidFill>
            <a:srgbClr val="FFFFFF"/>
          </a:solidFill>
          <a:ln w="12700">
            <a:solidFill>
              <a:srgbClr val="E6E9ED"/>
            </a:solidFill>
            <a:prstDash val="solid"/>
          </a:ln>
        </p:spPr>
      </p:sp>
      <p:sp>
        <p:nvSpPr>
          <p:cNvPr id="22" name="Text 20"/>
          <p:cNvSpPr/>
          <p:nvPr/>
        </p:nvSpPr>
        <p:spPr>
          <a:xfrm>
            <a:off x="6327648" y="3291840"/>
            <a:ext cx="1938528" cy="274320"/>
          </a:xfrm>
          <a:prstGeom prst="rect">
            <a:avLst/>
          </a:prstGeom>
          <a:noFill/>
          <a:ln/>
        </p:spPr>
        <p:txBody>
          <a:bodyPr wrap="square" lIns="0" tIns="0" rIns="0" bIns="0" rtlCol="0" anchor="ctr"/>
          <a:lstStyle/>
          <a:p>
            <a:pPr indent="0" marL="0">
              <a:buNone/>
            </a:pPr>
            <a:r>
              <a:rPr lang="en-US" sz="1000" b="1" spc="100" kern="0" dirty="0">
                <a:solidFill>
                  <a:srgbClr val="DC661F"/>
                </a:solidFill>
                <a:latin typeface="Arial" pitchFamily="34" charset="0"/>
                <a:ea typeface="Arial" pitchFamily="34" charset="-122"/>
                <a:cs typeface="Arial" pitchFamily="34" charset="-120"/>
              </a:rPr>
              <a:t>QUARTER 2</a:t>
            </a:r>
            <a:endParaRPr lang="en-US" sz="1000" dirty="0"/>
          </a:p>
        </p:txBody>
      </p:sp>
      <p:sp>
        <p:nvSpPr>
          <p:cNvPr id="23" name="Text 21"/>
          <p:cNvSpPr/>
          <p:nvPr/>
        </p:nvSpPr>
        <p:spPr>
          <a:xfrm>
            <a:off x="6327648" y="3566160"/>
            <a:ext cx="1938528" cy="457200"/>
          </a:xfrm>
          <a:prstGeom prst="rect">
            <a:avLst/>
          </a:prstGeom>
          <a:noFill/>
          <a:ln/>
        </p:spPr>
        <p:txBody>
          <a:bodyPr wrap="square" lIns="0" tIns="0" rIns="0" bIns="0" rtlCol="0" anchor="ctr"/>
          <a:lstStyle/>
          <a:p>
            <a:pPr indent="0" marL="0">
              <a:buNone/>
            </a:pPr>
            <a:r>
              <a:rPr lang="en-US" sz="1800" b="1" dirty="0">
                <a:solidFill>
                  <a:srgbClr val="23272E"/>
                </a:solidFill>
                <a:latin typeface="Arial" pitchFamily="34" charset="0"/>
                <a:ea typeface="Arial" pitchFamily="34" charset="-122"/>
                <a:cs typeface="Arial" pitchFamily="34" charset="-120"/>
              </a:rPr>
              <a:t>Expand</a:t>
            </a:r>
            <a:endParaRPr lang="en-US" sz="1800" dirty="0"/>
          </a:p>
        </p:txBody>
      </p:sp>
      <p:sp>
        <p:nvSpPr>
          <p:cNvPr id="24" name="Text 22"/>
          <p:cNvSpPr/>
          <p:nvPr/>
        </p:nvSpPr>
        <p:spPr>
          <a:xfrm>
            <a:off x="6327648" y="4087368"/>
            <a:ext cx="1938528" cy="1143000"/>
          </a:xfrm>
          <a:prstGeom prst="rect">
            <a:avLst/>
          </a:prstGeom>
          <a:noFill/>
          <a:ln/>
        </p:spPr>
        <p:txBody>
          <a:bodyPr wrap="square" lIns="0" tIns="0" rIns="0" bIns="0" rtlCol="0" anchor="ctr"/>
          <a:lstStyle/>
          <a:p>
            <a:pPr indent="0" marL="0">
              <a:lnSpc>
                <a:spcPct val="115000"/>
              </a:lnSpc>
              <a:buNone/>
            </a:pPr>
            <a:r>
              <a:rPr lang="en-US" sz="1200" dirty="0">
                <a:solidFill>
                  <a:srgbClr val="596069"/>
                </a:solidFill>
                <a:latin typeface="Arial" pitchFamily="34" charset="0"/>
                <a:ea typeface="Arial" pitchFamily="34" charset="-122"/>
                <a:cs typeface="Arial" pitchFamily="34" charset="-120"/>
              </a:rPr>
              <a:t>Roll site by site, carrying lessons forward. Families and coordinators onboard.</a:t>
            </a:r>
            <a:endParaRPr lang="en-US" sz="1200" dirty="0"/>
          </a:p>
        </p:txBody>
      </p:sp>
      <p:sp>
        <p:nvSpPr>
          <p:cNvPr id="25" name="Shape 23"/>
          <p:cNvSpPr/>
          <p:nvPr/>
        </p:nvSpPr>
        <p:spPr>
          <a:xfrm>
            <a:off x="8851392" y="2587752"/>
            <a:ext cx="438912" cy="438912"/>
          </a:xfrm>
          <a:prstGeom prst="ellipse">
            <a:avLst/>
          </a:prstGeom>
          <a:solidFill>
            <a:srgbClr val="DC661F"/>
          </a:solidFill>
          <a:ln/>
        </p:spPr>
      </p:sp>
      <p:sp>
        <p:nvSpPr>
          <p:cNvPr id="26" name="Text 24"/>
          <p:cNvSpPr/>
          <p:nvPr/>
        </p:nvSpPr>
        <p:spPr>
          <a:xfrm>
            <a:off x="8851392" y="258775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27" name="Shape 25"/>
          <p:cNvSpPr/>
          <p:nvPr/>
        </p:nvSpPr>
        <p:spPr>
          <a:xfrm>
            <a:off x="8759952" y="3063240"/>
            <a:ext cx="2487168" cy="2286000"/>
          </a:xfrm>
          <a:prstGeom prst="roundRect">
            <a:avLst>
              <a:gd name="adj" fmla="val 3600"/>
            </a:avLst>
          </a:prstGeom>
          <a:solidFill>
            <a:srgbClr val="FFFFFF"/>
          </a:solidFill>
          <a:ln w="12700">
            <a:solidFill>
              <a:srgbClr val="E6E9ED"/>
            </a:solidFill>
            <a:prstDash val="solid"/>
          </a:ln>
        </p:spPr>
      </p:sp>
      <p:sp>
        <p:nvSpPr>
          <p:cNvPr id="28" name="Text 26"/>
          <p:cNvSpPr/>
          <p:nvPr/>
        </p:nvSpPr>
        <p:spPr>
          <a:xfrm>
            <a:off x="9034272" y="3291840"/>
            <a:ext cx="1938528" cy="274320"/>
          </a:xfrm>
          <a:prstGeom prst="rect">
            <a:avLst/>
          </a:prstGeom>
          <a:noFill/>
          <a:ln/>
        </p:spPr>
        <p:txBody>
          <a:bodyPr wrap="square" lIns="0" tIns="0" rIns="0" bIns="0" rtlCol="0" anchor="ctr"/>
          <a:lstStyle/>
          <a:p>
            <a:pPr indent="0" marL="0">
              <a:buNone/>
            </a:pPr>
            <a:r>
              <a:rPr lang="en-US" sz="1000" b="1" spc="100" kern="0" dirty="0">
                <a:solidFill>
                  <a:srgbClr val="DC661F"/>
                </a:solidFill>
                <a:latin typeface="Arial" pitchFamily="34" charset="0"/>
                <a:ea typeface="Arial" pitchFamily="34" charset="-122"/>
                <a:cs typeface="Arial" pitchFamily="34" charset="-120"/>
              </a:rPr>
              <a:t>ONGOING</a:t>
            </a:r>
            <a:endParaRPr lang="en-US" sz="1000" dirty="0"/>
          </a:p>
        </p:txBody>
      </p:sp>
      <p:sp>
        <p:nvSpPr>
          <p:cNvPr id="29" name="Text 27"/>
          <p:cNvSpPr/>
          <p:nvPr/>
        </p:nvSpPr>
        <p:spPr>
          <a:xfrm>
            <a:off x="9034272" y="3566160"/>
            <a:ext cx="1938528" cy="457200"/>
          </a:xfrm>
          <a:prstGeom prst="rect">
            <a:avLst/>
          </a:prstGeom>
          <a:noFill/>
          <a:ln/>
        </p:spPr>
        <p:txBody>
          <a:bodyPr wrap="square" lIns="0" tIns="0" rIns="0" bIns="0" rtlCol="0" anchor="ctr"/>
          <a:lstStyle/>
          <a:p>
            <a:pPr indent="0" marL="0">
              <a:buNone/>
            </a:pPr>
            <a:r>
              <a:rPr lang="en-US" sz="1800" b="1" dirty="0">
                <a:solidFill>
                  <a:srgbClr val="23272E"/>
                </a:solidFill>
                <a:latin typeface="Arial" pitchFamily="34" charset="0"/>
                <a:ea typeface="Arial" pitchFamily="34" charset="-122"/>
                <a:cs typeface="Arial" pitchFamily="34" charset="-120"/>
              </a:rPr>
              <a:t>Optimise</a:t>
            </a:r>
            <a:endParaRPr lang="en-US" sz="1800" dirty="0"/>
          </a:p>
        </p:txBody>
      </p:sp>
      <p:sp>
        <p:nvSpPr>
          <p:cNvPr id="30" name="Text 28"/>
          <p:cNvSpPr/>
          <p:nvPr/>
        </p:nvSpPr>
        <p:spPr>
          <a:xfrm>
            <a:off x="9034272" y="4087368"/>
            <a:ext cx="1938528" cy="1143000"/>
          </a:xfrm>
          <a:prstGeom prst="rect">
            <a:avLst/>
          </a:prstGeom>
          <a:noFill/>
          <a:ln/>
        </p:spPr>
        <p:txBody>
          <a:bodyPr wrap="square" lIns="0" tIns="0" rIns="0" bIns="0" rtlCol="0" anchor="ctr"/>
          <a:lstStyle/>
          <a:p>
            <a:pPr indent="0" marL="0">
              <a:lnSpc>
                <a:spcPct val="115000"/>
              </a:lnSpc>
              <a:buNone/>
            </a:pPr>
            <a:r>
              <a:rPr lang="en-US" sz="1200" dirty="0">
                <a:solidFill>
                  <a:srgbClr val="596069"/>
                </a:solidFill>
                <a:latin typeface="Arial" pitchFamily="34" charset="0"/>
                <a:ea typeface="Arial" pitchFamily="34" charset="-122"/>
                <a:cs typeface="Arial" pitchFamily="34" charset="-120"/>
              </a:rPr>
              <a:t>Deepen intelligence and reporting as adoption matures across regions.</a:t>
            </a:r>
            <a:endParaRPr lang="en-US" sz="1200" dirty="0"/>
          </a:p>
        </p:txBody>
      </p:sp>
      <p:sp>
        <p:nvSpPr>
          <p:cNvPr id="31" name="Text 29"/>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32" name="Text 30"/>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22 / 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40080" y="658368"/>
            <a:ext cx="109728" cy="109728"/>
          </a:xfrm>
          <a:prstGeom prst="ellipse">
            <a:avLst/>
          </a:prstGeom>
          <a:solidFill>
            <a:srgbClr val="DC661F"/>
          </a:solidFill>
          <a:ln/>
        </p:spPr>
      </p:sp>
      <p:sp>
        <p:nvSpPr>
          <p:cNvPr id="3" name="Text 1"/>
          <p:cNvSpPr/>
          <p:nvPr/>
        </p:nvSpPr>
        <p:spPr>
          <a:xfrm>
            <a:off x="859536" y="566928"/>
            <a:ext cx="10058400" cy="292608"/>
          </a:xfrm>
          <a:prstGeom prst="rect">
            <a:avLst/>
          </a:prstGeom>
          <a:noFill/>
          <a:ln/>
        </p:spPr>
        <p:txBody>
          <a:bodyPr wrap="square" lIns="0" tIns="0" rIns="0" bIns="0" rtlCol="0" anchor="ctr"/>
          <a:lstStyle/>
          <a:p>
            <a:pPr algn="l" indent="0" marL="0">
              <a:buNone/>
            </a:pPr>
            <a:r>
              <a:rPr lang="en-US" sz="1150" b="1" spc="200" kern="0" dirty="0">
                <a:solidFill>
                  <a:srgbClr val="DC661F"/>
                </a:solidFill>
                <a:latin typeface="Arial" pitchFamily="34" charset="0"/>
                <a:ea typeface="Arial" pitchFamily="34" charset="-122"/>
                <a:cs typeface="Arial" pitchFamily="34" charset="-120"/>
              </a:rPr>
              <a:t>23   </a:t>
            </a:r>
            <a:pPr algn="l" indent="0" marL="0">
              <a:buNone/>
            </a:pPr>
            <a:r>
              <a:rPr lang="en-US" sz="1150" b="1" spc="200" kern="0" dirty="0">
                <a:solidFill>
                  <a:srgbClr val="596069"/>
                </a:solidFill>
                <a:latin typeface="Arial" pitchFamily="34" charset="0"/>
                <a:ea typeface="Arial" pitchFamily="34" charset="-122"/>
                <a:cs typeface="Arial" pitchFamily="34" charset="-120"/>
              </a:rPr>
              <a:t>THE LONGER HORIZON</a:t>
            </a:r>
            <a:endParaRPr lang="en-US" sz="1150" dirty="0"/>
          </a:p>
        </p:txBody>
      </p:sp>
      <p:sp>
        <p:nvSpPr>
          <p:cNvPr id="4" name="Text 2"/>
          <p:cNvSpPr/>
          <p:nvPr/>
        </p:nvSpPr>
        <p:spPr>
          <a:xfrm>
            <a:off x="640080" y="932688"/>
            <a:ext cx="10972800" cy="914400"/>
          </a:xfrm>
          <a:prstGeom prst="rect">
            <a:avLst/>
          </a:prstGeom>
          <a:noFill/>
          <a:ln/>
        </p:spPr>
        <p:txBody>
          <a:bodyPr wrap="square" lIns="0" tIns="0" rIns="0" bIns="0" rtlCol="0" anchor="ctr"/>
          <a:lstStyle/>
          <a:p>
            <a:pPr algn="l" indent="0" marL="0">
              <a:buNone/>
            </a:pPr>
            <a:r>
              <a:rPr lang="en-US" sz="3600" b="1" dirty="0">
                <a:solidFill>
                  <a:srgbClr val="23272E"/>
                </a:solidFill>
                <a:latin typeface="Arial" pitchFamily="34" charset="0"/>
                <a:ea typeface="Arial" pitchFamily="34" charset="-122"/>
                <a:cs typeface="Arial" pitchFamily="34" charset="-120"/>
              </a:rPr>
              <a:t>The record that compounds — into better care, for years.</a:t>
            </a:r>
            <a:endParaRPr lang="en-US" sz="3600" dirty="0"/>
          </a:p>
        </p:txBody>
      </p:sp>
      <p:sp>
        <p:nvSpPr>
          <p:cNvPr id="5" name="Text 3"/>
          <p:cNvSpPr/>
          <p:nvPr/>
        </p:nvSpPr>
        <p:spPr>
          <a:xfrm>
            <a:off x="640080" y="1810512"/>
            <a:ext cx="10424160" cy="502920"/>
          </a:xfrm>
          <a:prstGeom prst="rect">
            <a:avLst/>
          </a:prstGeom>
          <a:noFill/>
          <a:ln/>
        </p:spPr>
        <p:txBody>
          <a:bodyPr wrap="square" lIns="0" tIns="0" rIns="0" bIns="0" rtlCol="0" anchor="ctr"/>
          <a:lstStyle/>
          <a:p>
            <a:pPr algn="l" indent="0" marL="0">
              <a:lnSpc>
                <a:spcPct val="105000"/>
              </a:lnSpc>
              <a:buNone/>
            </a:pPr>
            <a:r>
              <a:rPr lang="en-US" sz="1550" dirty="0">
                <a:solidFill>
                  <a:srgbClr val="596069"/>
                </a:solidFill>
                <a:latin typeface="Arial" pitchFamily="34" charset="0"/>
                <a:ea typeface="Arial" pitchFamily="34" charset="-122"/>
                <a:cs typeface="Arial" pitchFamily="34" charset="-120"/>
              </a:rPr>
              <a:t>As every day of good care is captured, the picture of each person deepens. CareOS is worth more the longer TLC uses it.</a:t>
            </a:r>
            <a:endParaRPr lang="en-US" sz="1550" dirty="0"/>
          </a:p>
        </p:txBody>
      </p:sp>
      <p:sp>
        <p:nvSpPr>
          <p:cNvPr id="6" name="Shape 4"/>
          <p:cNvSpPr/>
          <p:nvPr/>
        </p:nvSpPr>
        <p:spPr>
          <a:xfrm>
            <a:off x="640080" y="2834640"/>
            <a:ext cx="603504" cy="603504"/>
          </a:xfrm>
          <a:prstGeom prst="ellipse">
            <a:avLst/>
          </a:prstGeom>
          <a:solidFill>
            <a:srgbClr val="FBEDE1"/>
          </a:solidFill>
          <a:ln/>
        </p:spPr>
      </p:sp>
      <p:pic>
        <p:nvPicPr>
          <p:cNvPr id="7" name="Image 0" descr="preencoded.png">    </p:cNvPr>
          <p:cNvPicPr>
            <a:picLocks noChangeAspect="1"/>
          </p:cNvPicPr>
          <p:nvPr/>
        </p:nvPicPr>
        <p:blipFill>
          <a:blip r:embed="rId1"/>
          <a:stretch>
            <a:fillRect/>
          </a:stretch>
        </p:blipFill>
        <p:spPr>
          <a:xfrm>
            <a:off x="796991" y="2991551"/>
            <a:ext cx="289682" cy="289682"/>
          </a:xfrm>
          <a:prstGeom prst="rect">
            <a:avLst/>
          </a:prstGeom>
        </p:spPr>
      </p:pic>
      <p:sp>
        <p:nvSpPr>
          <p:cNvPr id="8" name="Text 5"/>
          <p:cNvSpPr/>
          <p:nvPr/>
        </p:nvSpPr>
        <p:spPr>
          <a:xfrm>
            <a:off x="1463040" y="2816352"/>
            <a:ext cx="9601200" cy="384048"/>
          </a:xfrm>
          <a:prstGeom prst="rect">
            <a:avLst/>
          </a:prstGeom>
          <a:noFill/>
          <a:ln/>
        </p:spPr>
        <p:txBody>
          <a:bodyPr wrap="square" lIns="0" tIns="0" rIns="0" bIns="0" rtlCol="0" anchor="ctr"/>
          <a:lstStyle/>
          <a:p>
            <a:pPr indent="0" marL="0">
              <a:buNone/>
            </a:pPr>
            <a:r>
              <a:rPr lang="en-US" sz="1800" b="1" dirty="0">
                <a:solidFill>
                  <a:srgbClr val="23272E"/>
                </a:solidFill>
                <a:latin typeface="Arial" pitchFamily="34" charset="0"/>
                <a:ea typeface="Arial" pitchFamily="34" charset="-122"/>
                <a:cs typeface="Arial" pitchFamily="34" charset="-120"/>
              </a:rPr>
              <a:t>For the participant</a:t>
            </a:r>
            <a:endParaRPr lang="en-US" sz="1800" dirty="0"/>
          </a:p>
        </p:txBody>
      </p:sp>
      <p:sp>
        <p:nvSpPr>
          <p:cNvPr id="9" name="Text 6"/>
          <p:cNvSpPr/>
          <p:nvPr/>
        </p:nvSpPr>
        <p:spPr>
          <a:xfrm>
            <a:off x="1463040" y="3218688"/>
            <a:ext cx="9418320" cy="548640"/>
          </a:xfrm>
          <a:prstGeom prst="rect">
            <a:avLst/>
          </a:prstGeom>
          <a:noFill/>
          <a:ln/>
        </p:spPr>
        <p:txBody>
          <a:bodyPr wrap="square" lIns="0" tIns="0" rIns="0" bIns="0" rtlCol="0" anchor="ctr"/>
          <a:lstStyle/>
          <a:p>
            <a:pPr indent="0" marL="0">
              <a:lnSpc>
                <a:spcPct val="112000"/>
              </a:lnSpc>
              <a:buNone/>
            </a:pPr>
            <a:r>
              <a:rPr lang="en-US" sz="1350" dirty="0">
                <a:solidFill>
                  <a:srgbClr val="596069"/>
                </a:solidFill>
                <a:latin typeface="Arial" pitchFamily="34" charset="0"/>
                <a:ea typeface="Arial" pitchFamily="34" charset="-122"/>
                <a:cs typeface="Arial" pitchFamily="34" charset="-120"/>
              </a:rPr>
              <a:t>A life story that no staff change can erase — support that keeps getting more attuned.</a:t>
            </a:r>
            <a:endParaRPr lang="en-US" sz="1350" dirty="0"/>
          </a:p>
        </p:txBody>
      </p:sp>
      <p:sp>
        <p:nvSpPr>
          <p:cNvPr id="10" name="Shape 7"/>
          <p:cNvSpPr/>
          <p:nvPr/>
        </p:nvSpPr>
        <p:spPr>
          <a:xfrm>
            <a:off x="640080" y="3858768"/>
            <a:ext cx="603504" cy="603504"/>
          </a:xfrm>
          <a:prstGeom prst="ellipse">
            <a:avLst/>
          </a:prstGeom>
          <a:solidFill>
            <a:srgbClr val="FBEDE1"/>
          </a:solidFill>
          <a:ln/>
        </p:spPr>
      </p:sp>
      <p:pic>
        <p:nvPicPr>
          <p:cNvPr id="11" name="Image 1" descr="preencoded.png">    </p:cNvPr>
          <p:cNvPicPr>
            <a:picLocks noChangeAspect="1"/>
          </p:cNvPicPr>
          <p:nvPr/>
        </p:nvPicPr>
        <p:blipFill>
          <a:blip r:embed="rId2"/>
          <a:stretch>
            <a:fillRect/>
          </a:stretch>
        </p:blipFill>
        <p:spPr>
          <a:xfrm>
            <a:off x="796991" y="4015679"/>
            <a:ext cx="289682" cy="289682"/>
          </a:xfrm>
          <a:prstGeom prst="rect">
            <a:avLst/>
          </a:prstGeom>
        </p:spPr>
      </p:pic>
      <p:sp>
        <p:nvSpPr>
          <p:cNvPr id="12" name="Text 8"/>
          <p:cNvSpPr/>
          <p:nvPr/>
        </p:nvSpPr>
        <p:spPr>
          <a:xfrm>
            <a:off x="1463040" y="3840480"/>
            <a:ext cx="9601200" cy="384048"/>
          </a:xfrm>
          <a:prstGeom prst="rect">
            <a:avLst/>
          </a:prstGeom>
          <a:noFill/>
          <a:ln/>
        </p:spPr>
        <p:txBody>
          <a:bodyPr wrap="square" lIns="0" tIns="0" rIns="0" bIns="0" rtlCol="0" anchor="ctr"/>
          <a:lstStyle/>
          <a:p>
            <a:pPr indent="0" marL="0">
              <a:buNone/>
            </a:pPr>
            <a:r>
              <a:rPr lang="en-US" sz="1800" b="1" dirty="0">
                <a:solidFill>
                  <a:srgbClr val="23272E"/>
                </a:solidFill>
                <a:latin typeface="Arial" pitchFamily="34" charset="0"/>
                <a:ea typeface="Arial" pitchFamily="34" charset="-122"/>
                <a:cs typeface="Arial" pitchFamily="34" charset="-120"/>
              </a:rPr>
              <a:t>For the workforce</a:t>
            </a:r>
            <a:endParaRPr lang="en-US" sz="1800" dirty="0"/>
          </a:p>
        </p:txBody>
      </p:sp>
      <p:sp>
        <p:nvSpPr>
          <p:cNvPr id="13" name="Text 9"/>
          <p:cNvSpPr/>
          <p:nvPr/>
        </p:nvSpPr>
        <p:spPr>
          <a:xfrm>
            <a:off x="1463040" y="4242816"/>
            <a:ext cx="9418320" cy="548640"/>
          </a:xfrm>
          <a:prstGeom prst="rect">
            <a:avLst/>
          </a:prstGeom>
          <a:noFill/>
          <a:ln/>
        </p:spPr>
        <p:txBody>
          <a:bodyPr wrap="square" lIns="0" tIns="0" rIns="0" bIns="0" rtlCol="0" anchor="ctr"/>
          <a:lstStyle/>
          <a:p>
            <a:pPr indent="0" marL="0">
              <a:lnSpc>
                <a:spcPct val="112000"/>
              </a:lnSpc>
              <a:buNone/>
            </a:pPr>
            <a:r>
              <a:rPr lang="en-US" sz="1350" dirty="0">
                <a:solidFill>
                  <a:srgbClr val="596069"/>
                </a:solidFill>
                <a:latin typeface="Arial" pitchFamily="34" charset="0"/>
                <a:ea typeface="Arial" pitchFamily="34" charset="-122"/>
                <a:cs typeface="Arial" pitchFamily="34" charset="-120"/>
              </a:rPr>
              <a:t>Knowledge that stays in the organisation, so every new worker starts further ahead.</a:t>
            </a:r>
            <a:endParaRPr lang="en-US" sz="1350" dirty="0"/>
          </a:p>
        </p:txBody>
      </p:sp>
      <p:sp>
        <p:nvSpPr>
          <p:cNvPr id="14" name="Shape 10"/>
          <p:cNvSpPr/>
          <p:nvPr/>
        </p:nvSpPr>
        <p:spPr>
          <a:xfrm>
            <a:off x="640080" y="4882896"/>
            <a:ext cx="603504" cy="603504"/>
          </a:xfrm>
          <a:prstGeom prst="ellipse">
            <a:avLst/>
          </a:prstGeom>
          <a:solidFill>
            <a:srgbClr val="FBEDE1"/>
          </a:solidFill>
          <a:ln/>
        </p:spPr>
      </p:sp>
      <p:pic>
        <p:nvPicPr>
          <p:cNvPr id="15" name="Image 2" descr="preencoded.png">    </p:cNvPr>
          <p:cNvPicPr>
            <a:picLocks noChangeAspect="1"/>
          </p:cNvPicPr>
          <p:nvPr/>
        </p:nvPicPr>
        <p:blipFill>
          <a:blip r:embed="rId3"/>
          <a:stretch>
            <a:fillRect/>
          </a:stretch>
        </p:blipFill>
        <p:spPr>
          <a:xfrm>
            <a:off x="796991" y="5039807"/>
            <a:ext cx="289682" cy="289682"/>
          </a:xfrm>
          <a:prstGeom prst="rect">
            <a:avLst/>
          </a:prstGeom>
        </p:spPr>
      </p:pic>
      <p:sp>
        <p:nvSpPr>
          <p:cNvPr id="16" name="Text 11"/>
          <p:cNvSpPr/>
          <p:nvPr/>
        </p:nvSpPr>
        <p:spPr>
          <a:xfrm>
            <a:off x="1463040" y="4864608"/>
            <a:ext cx="9601200" cy="384048"/>
          </a:xfrm>
          <a:prstGeom prst="rect">
            <a:avLst/>
          </a:prstGeom>
          <a:noFill/>
          <a:ln/>
        </p:spPr>
        <p:txBody>
          <a:bodyPr wrap="square" lIns="0" tIns="0" rIns="0" bIns="0" rtlCol="0" anchor="ctr"/>
          <a:lstStyle/>
          <a:p>
            <a:pPr indent="0" marL="0">
              <a:buNone/>
            </a:pPr>
            <a:r>
              <a:rPr lang="en-US" sz="1800" b="1" dirty="0">
                <a:solidFill>
                  <a:srgbClr val="23272E"/>
                </a:solidFill>
                <a:latin typeface="Arial" pitchFamily="34" charset="0"/>
                <a:ea typeface="Arial" pitchFamily="34" charset="-122"/>
                <a:cs typeface="Arial" pitchFamily="34" charset="-120"/>
              </a:rPr>
              <a:t>For TLC</a:t>
            </a:r>
            <a:endParaRPr lang="en-US" sz="1800" dirty="0"/>
          </a:p>
        </p:txBody>
      </p:sp>
      <p:sp>
        <p:nvSpPr>
          <p:cNvPr id="17" name="Text 12"/>
          <p:cNvSpPr/>
          <p:nvPr/>
        </p:nvSpPr>
        <p:spPr>
          <a:xfrm>
            <a:off x="1463040" y="5266944"/>
            <a:ext cx="9418320" cy="548640"/>
          </a:xfrm>
          <a:prstGeom prst="rect">
            <a:avLst/>
          </a:prstGeom>
          <a:noFill/>
          <a:ln/>
        </p:spPr>
        <p:txBody>
          <a:bodyPr wrap="square" lIns="0" tIns="0" rIns="0" bIns="0" rtlCol="0" anchor="ctr"/>
          <a:lstStyle/>
          <a:p>
            <a:pPr indent="0" marL="0">
              <a:lnSpc>
                <a:spcPct val="112000"/>
              </a:lnSpc>
              <a:buNone/>
            </a:pPr>
            <a:r>
              <a:rPr lang="en-US" sz="1350" dirty="0">
                <a:solidFill>
                  <a:srgbClr val="596069"/>
                </a:solidFill>
                <a:latin typeface="Arial" pitchFamily="34" charset="0"/>
                <a:ea typeface="Arial" pitchFamily="34" charset="-122"/>
                <a:cs typeface="Arial" pitchFamily="34" charset="-120"/>
              </a:rPr>
              <a:t>A durable advantage in quality and evidence — and a foundation for confident growth.</a:t>
            </a:r>
            <a:endParaRPr lang="en-US" sz="1350" dirty="0"/>
          </a:p>
        </p:txBody>
      </p:sp>
      <p:sp>
        <p:nvSpPr>
          <p:cNvPr id="18" name="Text 13"/>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596069"/>
                </a:solidFill>
                <a:latin typeface="Arial" pitchFamily="34" charset="0"/>
                <a:ea typeface="Arial" pitchFamily="34" charset="-122"/>
                <a:cs typeface="Arial" pitchFamily="34" charset="-120"/>
              </a:rPr>
              <a:t>CareOS</a:t>
            </a:r>
            <a:pPr algn="l" indent="0" marL="0">
              <a:buNone/>
            </a:pPr>
            <a:r>
              <a:rPr lang="en-US" sz="900" dirty="0">
                <a:solidFill>
                  <a:srgbClr val="9AA1A9"/>
                </a:solidFill>
                <a:latin typeface="Arial" pitchFamily="34" charset="0"/>
                <a:ea typeface="Arial" pitchFamily="34" charset="-122"/>
                <a:cs typeface="Arial" pitchFamily="34" charset="-120"/>
              </a:rPr>
              <a:t>   ·   Prepared for Tender Loving Care Group</a:t>
            </a:r>
            <a:endParaRPr lang="en-US" sz="900" dirty="0"/>
          </a:p>
        </p:txBody>
      </p:sp>
      <p:sp>
        <p:nvSpPr>
          <p:cNvPr id="19" name="Text 14"/>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9AA1A9"/>
                </a:solidFill>
                <a:latin typeface="Arial" pitchFamily="34" charset="0"/>
                <a:ea typeface="Arial" pitchFamily="34" charset="-122"/>
                <a:cs typeface="Arial" pitchFamily="34" charset="-120"/>
              </a:rPr>
              <a:t>23 /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D22"/>
        </a:solidFill>
      </p:bgPr>
    </p:bg>
    <p:spTree>
      <p:nvGrpSpPr>
        <p:cNvPr id="1" name=""/>
        <p:cNvGrpSpPr/>
        <p:nvPr/>
      </p:nvGrpSpPr>
      <p:grpSpPr>
        <a:xfrm>
          <a:off x="0" y="0"/>
          <a:ext cx="0" cy="0"/>
          <a:chOff x="0" y="0"/>
          <a:chExt cx="0" cy="0"/>
        </a:xfrm>
      </p:grpSpPr>
      <p:sp>
        <p:nvSpPr>
          <p:cNvPr id="2" name="Shape 0"/>
          <p:cNvSpPr/>
          <p:nvPr/>
        </p:nvSpPr>
        <p:spPr>
          <a:xfrm>
            <a:off x="640080" y="2331720"/>
            <a:ext cx="146304" cy="146304"/>
          </a:xfrm>
          <a:prstGeom prst="ellipse">
            <a:avLst/>
          </a:prstGeom>
          <a:solidFill>
            <a:srgbClr val="DC661F"/>
          </a:solidFill>
          <a:ln/>
        </p:spPr>
      </p:sp>
      <p:sp>
        <p:nvSpPr>
          <p:cNvPr id="3" name="Text 1"/>
          <p:cNvSpPr/>
          <p:nvPr/>
        </p:nvSpPr>
        <p:spPr>
          <a:xfrm>
            <a:off x="914400" y="2240280"/>
            <a:ext cx="7315200" cy="320040"/>
          </a:xfrm>
          <a:prstGeom prst="rect">
            <a:avLst/>
          </a:prstGeom>
          <a:noFill/>
          <a:ln/>
        </p:spPr>
        <p:txBody>
          <a:bodyPr wrap="square" lIns="0" tIns="0" rIns="0" bIns="0" rtlCol="0" anchor="ctr"/>
          <a:lstStyle/>
          <a:p>
            <a:pPr indent="0" marL="0">
              <a:buNone/>
            </a:pPr>
            <a:r>
              <a:rPr lang="en-US" sz="1250" b="1" spc="300" kern="0" dirty="0">
                <a:solidFill>
                  <a:srgbClr val="AAB0B7"/>
                </a:solidFill>
                <a:latin typeface="Arial" pitchFamily="34" charset="0"/>
                <a:ea typeface="Arial" pitchFamily="34" charset="-122"/>
                <a:cs typeface="Arial" pitchFamily="34" charset="-120"/>
              </a:rPr>
              <a:t>IN CLOSING</a:t>
            </a:r>
            <a:endParaRPr lang="en-US" sz="1250" dirty="0"/>
          </a:p>
        </p:txBody>
      </p:sp>
      <p:sp>
        <p:nvSpPr>
          <p:cNvPr id="4" name="Text 2"/>
          <p:cNvSpPr/>
          <p:nvPr/>
        </p:nvSpPr>
        <p:spPr>
          <a:xfrm>
            <a:off x="640080" y="2743200"/>
            <a:ext cx="10607040" cy="201168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Arial" pitchFamily="34" charset="0"/>
                <a:ea typeface="Arial" pitchFamily="34" charset="-122"/>
                <a:cs typeface="Arial" pitchFamily="34" charset="-120"/>
              </a:rPr>
              <a:t>We don’t build technology to replace care.
</a:t>
            </a:r>
            <a:pPr indent="0" marL="0">
              <a:lnSpc>
                <a:spcPct val="115000"/>
              </a:lnSpc>
              <a:buNone/>
            </a:pPr>
            <a:r>
              <a:rPr lang="en-US" sz="3400" b="1" dirty="0">
                <a:solidFill>
                  <a:srgbClr val="DC661F"/>
                </a:solidFill>
                <a:latin typeface="Arial" pitchFamily="34" charset="0"/>
                <a:ea typeface="Arial" pitchFamily="34" charset="-122"/>
                <a:cs typeface="Arial" pitchFamily="34" charset="-120"/>
              </a:rPr>
              <a:t>We build technology that gives people more time to care.</a:t>
            </a:r>
            <a:endParaRPr lang="en-US" sz="3400" dirty="0"/>
          </a:p>
        </p:txBody>
      </p:sp>
      <p:sp>
        <p:nvSpPr>
          <p:cNvPr id="5" name="Text 3"/>
          <p:cNvSpPr/>
          <p:nvPr/>
        </p:nvSpPr>
        <p:spPr>
          <a:xfrm>
            <a:off x="640080" y="4937760"/>
            <a:ext cx="9326880" cy="822960"/>
          </a:xfrm>
          <a:prstGeom prst="rect">
            <a:avLst/>
          </a:prstGeom>
          <a:noFill/>
          <a:ln/>
        </p:spPr>
        <p:txBody>
          <a:bodyPr wrap="square" lIns="0" tIns="0" rIns="0" bIns="0" rtlCol="0" anchor="ctr"/>
          <a:lstStyle/>
          <a:p>
            <a:pPr indent="0" marL="0">
              <a:lnSpc>
                <a:spcPct val="122000"/>
              </a:lnSpc>
              <a:buNone/>
            </a:pPr>
            <a:r>
              <a:rPr lang="en-US" sz="1500" dirty="0">
                <a:solidFill>
                  <a:srgbClr val="C2C7CD"/>
                </a:solidFill>
                <a:latin typeface="Arial" pitchFamily="34" charset="0"/>
                <a:ea typeface="Arial" pitchFamily="34" charset="-122"/>
                <a:cs typeface="Arial" pitchFamily="34" charset="-120"/>
              </a:rPr>
              <a:t>That is the only test that matters. If CareOS gives your workers more time with the people they support, it has earned its place at Tender Loving Care.</a:t>
            </a:r>
            <a:endParaRPr lang="en-US" sz="1500" dirty="0"/>
          </a:p>
        </p:txBody>
      </p:sp>
      <p:sp>
        <p:nvSpPr>
          <p:cNvPr id="6" name="Text 4"/>
          <p:cNvSpPr/>
          <p:nvPr/>
        </p:nvSpPr>
        <p:spPr>
          <a:xfrm>
            <a:off x="640080" y="6419088"/>
            <a:ext cx="7315200" cy="274320"/>
          </a:xfrm>
          <a:prstGeom prst="rect">
            <a:avLst/>
          </a:prstGeom>
          <a:noFill/>
          <a:ln/>
        </p:spPr>
        <p:txBody>
          <a:bodyPr wrap="square" lIns="0" tIns="0" rIns="0" bIns="0" rtlCol="0" anchor="ctr"/>
          <a:lstStyle/>
          <a:p>
            <a:pPr algn="l" indent="0" marL="0">
              <a:buNone/>
            </a:pPr>
            <a:r>
              <a:rPr lang="en-US" sz="900" b="1" dirty="0">
                <a:solidFill>
                  <a:srgbClr val="C7CCD2"/>
                </a:solidFill>
                <a:latin typeface="Arial" pitchFamily="34" charset="0"/>
                <a:ea typeface="Arial" pitchFamily="34" charset="-122"/>
                <a:cs typeface="Arial" pitchFamily="34" charset="-120"/>
              </a:rPr>
              <a:t>CareOS</a:t>
            </a:r>
            <a:pPr algn="l" indent="0" marL="0">
              <a:buNone/>
            </a:pPr>
            <a:r>
              <a:rPr lang="en-US" sz="900" dirty="0">
                <a:solidFill>
                  <a:srgbClr val="6B7178"/>
                </a:solidFill>
                <a:latin typeface="Arial" pitchFamily="34" charset="0"/>
                <a:ea typeface="Arial" pitchFamily="34" charset="-122"/>
                <a:cs typeface="Arial" pitchFamily="34" charset="-120"/>
              </a:rPr>
              <a:t>   ·   Prepared for Tender Loving Care Group</a:t>
            </a:r>
            <a:endParaRPr lang="en-US" sz="900" dirty="0"/>
          </a:p>
        </p:txBody>
      </p:sp>
      <p:sp>
        <p:nvSpPr>
          <p:cNvPr id="7" name="Text 5"/>
          <p:cNvSpPr/>
          <p:nvPr/>
        </p:nvSpPr>
        <p:spPr>
          <a:xfrm>
            <a:off x="10180015" y="6419088"/>
            <a:ext cx="1371600" cy="274320"/>
          </a:xfrm>
          <a:prstGeom prst="rect">
            <a:avLst/>
          </a:prstGeom>
          <a:noFill/>
          <a:ln/>
        </p:spPr>
        <p:txBody>
          <a:bodyPr wrap="square" lIns="0" tIns="0" rIns="0" bIns="0" rtlCol="0" anchor="ctr"/>
          <a:lstStyle/>
          <a:p>
            <a:pPr algn="r" indent="0" marL="0">
              <a:buNone/>
            </a:pPr>
            <a:r>
              <a:rPr lang="en-US" sz="900" dirty="0">
                <a:solidFill>
                  <a:srgbClr val="6B7178"/>
                </a:solidFill>
                <a:latin typeface="Arial" pitchFamily="34" charset="0"/>
                <a:ea typeface="Arial" pitchFamily="34" charset="-122"/>
                <a:cs typeface="Arial" pitchFamily="34" charset="-120"/>
              </a:rPr>
              <a:t>24 / 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D22"/>
        </a:solidFill>
      </p:bgPr>
    </p:bg>
    <p:spTree>
      <p:nvGrpSpPr>
        <p:cNvPr id="1" name=""/>
        <p:cNvGrpSpPr/>
        <p:nvPr/>
      </p:nvGrpSpPr>
      <p:grpSpPr>
        <a:xfrm>
          <a:off x="0" y="0"/>
          <a:ext cx="0" cy="0"/>
          <a:chOff x="0" y="0"/>
          <a:chExt cx="0" cy="0"/>
        </a:xfrm>
      </p:grpSpPr>
      <p:sp>
        <p:nvSpPr>
          <p:cNvPr id="2" name="Text 0"/>
          <p:cNvSpPr/>
          <p:nvPr/>
        </p:nvSpPr>
        <p:spPr>
          <a:xfrm>
            <a:off x="0" y="2331720"/>
            <a:ext cx="12191695" cy="1280160"/>
          </a:xfrm>
          <a:prstGeom prst="rect">
            <a:avLst/>
          </a:prstGeom>
          <a:noFill/>
          <a:ln/>
        </p:spPr>
        <p:txBody>
          <a:bodyPr wrap="square" lIns="0" tIns="0" rIns="0" bIns="0" rtlCol="0" anchor="ctr"/>
          <a:lstStyle/>
          <a:p>
            <a:pPr algn="ctr" indent="0" marL="0">
              <a:buNone/>
            </a:pPr>
            <a:r>
              <a:rPr lang="en-US" sz="8400" b="1" dirty="0">
                <a:solidFill>
                  <a:srgbClr val="FFFFFF"/>
                </a:solidFill>
                <a:latin typeface="Arial" pitchFamily="34" charset="0"/>
                <a:ea typeface="Arial" pitchFamily="34" charset="-122"/>
                <a:cs typeface="Arial" pitchFamily="34" charset="-120"/>
              </a:rPr>
              <a:t>CareOS</a:t>
            </a:r>
            <a:endParaRPr lang="en-US" sz="8400" dirty="0"/>
          </a:p>
        </p:txBody>
      </p:sp>
      <p:sp>
        <p:nvSpPr>
          <p:cNvPr id="3" name="Text 1"/>
          <p:cNvSpPr/>
          <p:nvPr/>
        </p:nvSpPr>
        <p:spPr>
          <a:xfrm>
            <a:off x="0" y="3703320"/>
            <a:ext cx="12191695" cy="457200"/>
          </a:xfrm>
          <a:prstGeom prst="rect">
            <a:avLst/>
          </a:prstGeom>
          <a:noFill/>
          <a:ln/>
        </p:spPr>
        <p:txBody>
          <a:bodyPr wrap="square" lIns="0" tIns="0" rIns="0" bIns="0" rtlCol="0" anchor="ctr"/>
          <a:lstStyle/>
          <a:p>
            <a:pPr algn="ctr" indent="0" marL="0">
              <a:buNone/>
            </a:pPr>
            <a:r>
              <a:rPr lang="en-US" sz="2000" dirty="0">
                <a:solidFill>
                  <a:srgbClr val="C2C7CD"/>
                </a:solidFill>
                <a:latin typeface="Arial" pitchFamily="34" charset="0"/>
                <a:ea typeface="Arial" pitchFamily="34" charset="-122"/>
                <a:cs typeface="Arial" pitchFamily="34" charset="-120"/>
              </a:rPr>
              <a:t>Empowering care through intelligent operations.</a:t>
            </a:r>
            <a:endParaRPr lang="en-US" sz="2000" dirty="0"/>
          </a:p>
        </p:txBody>
      </p:sp>
      <p:sp>
        <p:nvSpPr>
          <p:cNvPr id="4" name="Shape 2"/>
          <p:cNvSpPr/>
          <p:nvPr/>
        </p:nvSpPr>
        <p:spPr>
          <a:xfrm>
            <a:off x="6040984" y="4434840"/>
            <a:ext cx="109728" cy="109728"/>
          </a:xfrm>
          <a:prstGeom prst="ellipse">
            <a:avLst/>
          </a:prstGeom>
          <a:solidFill>
            <a:srgbClr val="DC661F"/>
          </a:solidFill>
          <a:ln/>
        </p:spPr>
      </p:sp>
      <p:sp>
        <p:nvSpPr>
          <p:cNvPr id="5" name="Text 3"/>
          <p:cNvSpPr/>
          <p:nvPr/>
        </p:nvSpPr>
        <p:spPr>
          <a:xfrm>
            <a:off x="0" y="4709160"/>
            <a:ext cx="12191695"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Thank you.</a:t>
            </a:r>
            <a:endParaRPr lang="en-US" sz="2200" dirty="0"/>
          </a:p>
        </p:txBody>
      </p:sp>
      <p:sp>
        <p:nvSpPr>
          <p:cNvPr id="6" name="Text 4"/>
          <p:cNvSpPr/>
          <p:nvPr/>
        </p:nvSpPr>
        <p:spPr>
          <a:xfrm>
            <a:off x="0" y="5852160"/>
            <a:ext cx="12191695" cy="274320"/>
          </a:xfrm>
          <a:prstGeom prst="rect">
            <a:avLst/>
          </a:prstGeom>
          <a:noFill/>
          <a:ln/>
        </p:spPr>
        <p:txBody>
          <a:bodyPr wrap="square" lIns="0" tIns="0" rIns="0" bIns="0" rtlCol="0" anchor="ctr"/>
          <a:lstStyle/>
          <a:p>
            <a:pPr algn="ctr" indent="0" marL="0">
              <a:buNone/>
            </a:pPr>
            <a:r>
              <a:rPr lang="en-US" sz="1150" dirty="0">
                <a:solidFill>
                  <a:srgbClr val="9AA1A9"/>
                </a:solidFill>
                <a:latin typeface="Arial" pitchFamily="34" charset="0"/>
                <a:ea typeface="Arial" pitchFamily="34" charset="-122"/>
                <a:cs typeface="Arial" pitchFamily="34" charset="-120"/>
              </a:rPr>
              <a:t>Prepared for Dr Yasser Zaki  ·  Tender Loving Care Group</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2026-07-25T00:09:02Z</dcterms:created>
  <dcterms:modified xsi:type="dcterms:W3CDTF">2026-07-25T00:09:02Z</dcterms:modified>
</cp:coreProperties>
</file>